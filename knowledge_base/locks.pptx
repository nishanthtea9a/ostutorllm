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7" d="100"/>
          <a:sy n="67" d="100"/>
        </p:scale>
        <p:origin x="-1284" y="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66414" y="2938081"/>
            <a:ext cx="392557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6966" y="918781"/>
            <a:ext cx="72783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600606"/>
            <a:ext cx="7580630" cy="1906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6414" y="2938081"/>
            <a:ext cx="3918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60" dirty="0" smtClean="0">
                <a:solidFill>
                  <a:srgbClr val="BF0000"/>
                </a:solidFill>
                <a:latin typeface="Arial"/>
                <a:cs typeface="Arial"/>
              </a:rPr>
              <a:t>Locks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5020" y="918781"/>
            <a:ext cx="378332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Locks: </a:t>
            </a:r>
            <a:r>
              <a:rPr spc="-335" dirty="0"/>
              <a:t>Basic</a:t>
            </a:r>
            <a:r>
              <a:rPr spc="-250" dirty="0"/>
              <a:t> </a:t>
            </a:r>
            <a:r>
              <a:rPr spc="-180" dirty="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994408"/>
            <a:ext cx="676910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150" dirty="0">
                <a:latin typeface="Arial"/>
                <a:cs typeface="Arial"/>
              </a:rPr>
              <a:t>Consider </a:t>
            </a:r>
            <a:r>
              <a:rPr sz="2700" spc="-90" dirty="0">
                <a:latin typeface="Arial"/>
                <a:cs typeface="Arial"/>
              </a:rPr>
              <a:t>update </a:t>
            </a:r>
            <a:r>
              <a:rPr sz="2700" spc="-5" dirty="0">
                <a:latin typeface="Arial"/>
                <a:cs typeface="Arial"/>
              </a:rPr>
              <a:t>of </a:t>
            </a:r>
            <a:r>
              <a:rPr sz="2700" spc="-145" dirty="0">
                <a:latin typeface="Arial"/>
                <a:cs typeface="Arial"/>
              </a:rPr>
              <a:t>shared</a:t>
            </a:r>
            <a:r>
              <a:rPr sz="2700" spc="-420" dirty="0">
                <a:latin typeface="Arial"/>
                <a:cs typeface="Arial"/>
              </a:rPr>
              <a:t> </a:t>
            </a:r>
            <a:r>
              <a:rPr sz="2700" spc="-95" dirty="0">
                <a:latin typeface="Arial"/>
                <a:cs typeface="Arial"/>
              </a:rPr>
              <a:t>variable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204" dirty="0">
                <a:latin typeface="Arial"/>
                <a:cs typeface="Arial"/>
              </a:rPr>
              <a:t>We </a:t>
            </a:r>
            <a:r>
              <a:rPr sz="2700" spc="-180" dirty="0">
                <a:latin typeface="Arial"/>
                <a:cs typeface="Arial"/>
              </a:rPr>
              <a:t>can </a:t>
            </a:r>
            <a:r>
              <a:rPr sz="2700" spc="-185" dirty="0">
                <a:latin typeface="Arial"/>
                <a:cs typeface="Arial"/>
              </a:rPr>
              <a:t>use </a:t>
            </a:r>
            <a:r>
              <a:rPr sz="2700" spc="-210" dirty="0">
                <a:latin typeface="Arial"/>
                <a:cs typeface="Arial"/>
              </a:rPr>
              <a:t>a </a:t>
            </a:r>
            <a:r>
              <a:rPr sz="2700" spc="-135" dirty="0">
                <a:latin typeface="Arial"/>
                <a:cs typeface="Arial"/>
              </a:rPr>
              <a:t>special </a:t>
            </a:r>
            <a:r>
              <a:rPr sz="2700" spc="-100" dirty="0">
                <a:latin typeface="Arial"/>
                <a:cs typeface="Arial"/>
              </a:rPr>
              <a:t>lock </a:t>
            </a:r>
            <a:r>
              <a:rPr sz="2700" spc="-95" dirty="0">
                <a:latin typeface="Arial"/>
                <a:cs typeface="Arial"/>
              </a:rPr>
              <a:t>variable </a:t>
            </a:r>
            <a:r>
              <a:rPr sz="2700" spc="20" dirty="0">
                <a:latin typeface="Arial"/>
                <a:cs typeface="Arial"/>
              </a:rPr>
              <a:t>to </a:t>
            </a:r>
            <a:r>
              <a:rPr sz="2700" spc="-40" dirty="0">
                <a:latin typeface="Arial"/>
                <a:cs typeface="Arial"/>
              </a:rPr>
              <a:t>protect</a:t>
            </a:r>
            <a:r>
              <a:rPr sz="2700" spc="-335" dirty="0">
                <a:latin typeface="Arial"/>
                <a:cs typeface="Arial"/>
              </a:rPr>
              <a:t> </a:t>
            </a:r>
            <a:r>
              <a:rPr sz="2700" spc="85" dirty="0">
                <a:latin typeface="Arial"/>
                <a:cs typeface="Arial"/>
              </a:rPr>
              <a:t>it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4200" y="2438400"/>
            <a:ext cx="2704343" cy="313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0867" y="3429217"/>
            <a:ext cx="6836663" cy="4585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3139" y="4874767"/>
            <a:ext cx="7744459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70" dirty="0">
                <a:latin typeface="Arial"/>
                <a:cs typeface="Arial"/>
              </a:rPr>
              <a:t>All </a:t>
            </a:r>
            <a:r>
              <a:rPr sz="2700" spc="-105" dirty="0">
                <a:latin typeface="Arial"/>
                <a:cs typeface="Arial"/>
              </a:rPr>
              <a:t>threads </a:t>
            </a:r>
            <a:r>
              <a:rPr sz="2700" spc="-190" dirty="0">
                <a:latin typeface="Arial"/>
                <a:cs typeface="Arial"/>
              </a:rPr>
              <a:t>accessing </a:t>
            </a:r>
            <a:r>
              <a:rPr sz="2700" spc="-210" dirty="0">
                <a:latin typeface="Arial"/>
                <a:cs typeface="Arial"/>
              </a:rPr>
              <a:t>a </a:t>
            </a:r>
            <a:r>
              <a:rPr sz="2700" spc="-55" dirty="0">
                <a:latin typeface="Arial"/>
                <a:cs typeface="Arial"/>
              </a:rPr>
              <a:t>critical </a:t>
            </a:r>
            <a:r>
              <a:rPr sz="2700" spc="-100" dirty="0">
                <a:latin typeface="Arial"/>
                <a:cs typeface="Arial"/>
              </a:rPr>
              <a:t>section </a:t>
            </a:r>
            <a:r>
              <a:rPr sz="2700" spc="-155" dirty="0">
                <a:latin typeface="Arial"/>
                <a:cs typeface="Arial"/>
              </a:rPr>
              <a:t>share </a:t>
            </a:r>
            <a:r>
              <a:rPr sz="2700" spc="-210" dirty="0">
                <a:latin typeface="Arial"/>
                <a:cs typeface="Arial"/>
              </a:rPr>
              <a:t>a</a:t>
            </a:r>
            <a:r>
              <a:rPr sz="2700" spc="-340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lock</a:t>
            </a:r>
            <a:endParaRPr sz="27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190" dirty="0">
                <a:latin typeface="Arial"/>
                <a:cs typeface="Arial"/>
              </a:rPr>
              <a:t>One </a:t>
            </a:r>
            <a:r>
              <a:rPr sz="2700" spc="-105" dirty="0">
                <a:latin typeface="Arial"/>
                <a:cs typeface="Arial"/>
              </a:rPr>
              <a:t>threads </a:t>
            </a:r>
            <a:r>
              <a:rPr sz="2700" spc="-195" dirty="0">
                <a:latin typeface="Arial"/>
                <a:cs typeface="Arial"/>
              </a:rPr>
              <a:t>succeeds </a:t>
            </a:r>
            <a:r>
              <a:rPr sz="2700" spc="-35" dirty="0">
                <a:latin typeface="Arial"/>
                <a:cs typeface="Arial"/>
              </a:rPr>
              <a:t>in </a:t>
            </a:r>
            <a:r>
              <a:rPr sz="2700" spc="-100" dirty="0">
                <a:latin typeface="Arial"/>
                <a:cs typeface="Arial"/>
              </a:rPr>
              <a:t>locking </a:t>
            </a:r>
            <a:r>
              <a:rPr sz="2700" spc="-160" dirty="0">
                <a:latin typeface="Arial"/>
                <a:cs typeface="Arial"/>
              </a:rPr>
              <a:t>– </a:t>
            </a:r>
            <a:r>
              <a:rPr sz="2700" spc="-65" dirty="0">
                <a:latin typeface="Arial"/>
                <a:cs typeface="Arial"/>
              </a:rPr>
              <a:t>owner </a:t>
            </a:r>
            <a:r>
              <a:rPr sz="2700" spc="-5" dirty="0">
                <a:latin typeface="Arial"/>
                <a:cs typeface="Arial"/>
              </a:rPr>
              <a:t>of</a:t>
            </a:r>
            <a:r>
              <a:rPr sz="2700" spc="-370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lock</a:t>
            </a:r>
            <a:endParaRPr sz="2700" dirty="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64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80" dirty="0">
                <a:latin typeface="Arial"/>
                <a:cs typeface="Arial"/>
              </a:rPr>
              <a:t>Other</a:t>
            </a:r>
            <a:r>
              <a:rPr sz="2700" spc="-170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threads</a:t>
            </a:r>
            <a:r>
              <a:rPr sz="2700" spc="-16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that</a:t>
            </a:r>
            <a:r>
              <a:rPr sz="2700" spc="-155" dirty="0">
                <a:latin typeface="Arial"/>
                <a:cs typeface="Arial"/>
              </a:rPr>
              <a:t> </a:t>
            </a:r>
            <a:r>
              <a:rPr sz="2700" spc="15" dirty="0">
                <a:latin typeface="Arial"/>
                <a:cs typeface="Arial"/>
              </a:rPr>
              <a:t>try</a:t>
            </a:r>
            <a:r>
              <a:rPr sz="2700" spc="-140" dirty="0">
                <a:latin typeface="Arial"/>
                <a:cs typeface="Arial"/>
              </a:rPr>
              <a:t> </a:t>
            </a:r>
            <a:r>
              <a:rPr sz="2700" spc="20" dirty="0">
                <a:latin typeface="Arial"/>
                <a:cs typeface="Arial"/>
              </a:rPr>
              <a:t>to</a:t>
            </a:r>
            <a:r>
              <a:rPr sz="2700" spc="-140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lock</a:t>
            </a:r>
            <a:r>
              <a:rPr sz="2700" spc="-145" dirty="0">
                <a:latin typeface="Arial"/>
                <a:cs typeface="Arial"/>
              </a:rPr>
              <a:t> </a:t>
            </a:r>
            <a:r>
              <a:rPr sz="2700" spc="-90" dirty="0">
                <a:latin typeface="Arial"/>
                <a:cs typeface="Arial"/>
              </a:rPr>
              <a:t>cannot</a:t>
            </a:r>
            <a:r>
              <a:rPr sz="2700" spc="-170" dirty="0">
                <a:latin typeface="Arial"/>
                <a:cs typeface="Arial"/>
              </a:rPr>
              <a:t> </a:t>
            </a:r>
            <a:r>
              <a:rPr sz="2700" spc="-114" dirty="0">
                <a:latin typeface="Arial"/>
                <a:cs typeface="Arial"/>
              </a:rPr>
              <a:t>proceed</a:t>
            </a:r>
            <a:r>
              <a:rPr sz="2700" spc="-15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further  </a:t>
            </a:r>
            <a:r>
              <a:rPr sz="2700" spc="-5" dirty="0">
                <a:latin typeface="Arial"/>
                <a:cs typeface="Arial"/>
              </a:rPr>
              <a:t>until </a:t>
            </a:r>
            <a:r>
              <a:rPr sz="2700" spc="-100" dirty="0">
                <a:latin typeface="Arial"/>
                <a:cs typeface="Arial"/>
              </a:rPr>
              <a:t>lock </a:t>
            </a:r>
            <a:r>
              <a:rPr sz="2700" spc="-140" dirty="0">
                <a:latin typeface="Arial"/>
                <a:cs typeface="Arial"/>
              </a:rPr>
              <a:t>is </a:t>
            </a:r>
            <a:r>
              <a:rPr sz="2700" spc="-135" dirty="0">
                <a:latin typeface="Arial"/>
                <a:cs typeface="Arial"/>
              </a:rPr>
              <a:t>released </a:t>
            </a:r>
            <a:r>
              <a:rPr sz="2700" spc="-114" dirty="0">
                <a:latin typeface="Arial"/>
                <a:cs typeface="Arial"/>
              </a:rPr>
              <a:t>by </a:t>
            </a:r>
            <a:r>
              <a:rPr sz="2700" spc="-35" dirty="0">
                <a:latin typeface="Arial"/>
                <a:cs typeface="Arial"/>
              </a:rPr>
              <a:t>the</a:t>
            </a:r>
            <a:r>
              <a:rPr sz="2700" spc="-445" dirty="0">
                <a:latin typeface="Arial"/>
                <a:cs typeface="Arial"/>
              </a:rPr>
              <a:t> </a:t>
            </a:r>
            <a:r>
              <a:rPr sz="2700" spc="-70" dirty="0">
                <a:latin typeface="Arial"/>
                <a:cs typeface="Arial"/>
              </a:rPr>
              <a:t>owner</a:t>
            </a:r>
            <a:endParaRPr sz="27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140" dirty="0">
                <a:latin typeface="Arial"/>
                <a:cs typeface="Arial"/>
              </a:rPr>
              <a:t>Pthreads </a:t>
            </a:r>
            <a:r>
              <a:rPr sz="2700" spc="-55" dirty="0">
                <a:latin typeface="Arial"/>
                <a:cs typeface="Arial"/>
              </a:rPr>
              <a:t>library </a:t>
            </a:r>
            <a:r>
              <a:rPr sz="2700" spc="-35" dirty="0">
                <a:latin typeface="Arial"/>
                <a:cs typeface="Arial"/>
              </a:rPr>
              <a:t>in </a:t>
            </a:r>
            <a:r>
              <a:rPr sz="2700" spc="-145" dirty="0">
                <a:latin typeface="Arial"/>
                <a:cs typeface="Arial"/>
              </a:rPr>
              <a:t>Linux </a:t>
            </a:r>
            <a:r>
              <a:rPr sz="2700" spc="-110" dirty="0">
                <a:latin typeface="Arial"/>
                <a:cs typeface="Arial"/>
              </a:rPr>
              <a:t>provides </a:t>
            </a:r>
            <a:r>
              <a:rPr sz="2700" spc="-175" dirty="0">
                <a:latin typeface="Arial"/>
                <a:cs typeface="Arial"/>
              </a:rPr>
              <a:t>such</a:t>
            </a:r>
            <a:r>
              <a:rPr sz="2700" spc="-405" dirty="0">
                <a:latin typeface="Arial"/>
                <a:cs typeface="Arial"/>
              </a:rPr>
              <a:t> </a:t>
            </a:r>
            <a:r>
              <a:rPr sz="2700" spc="-145" dirty="0">
                <a:latin typeface="Arial"/>
                <a:cs typeface="Arial"/>
              </a:rPr>
              <a:t>locks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10867" y="3886200"/>
            <a:ext cx="3199330" cy="7223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2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1883" y="918781"/>
            <a:ext cx="3288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Building </a:t>
            </a:r>
            <a:r>
              <a:rPr spc="-340" dirty="0"/>
              <a:t>a</a:t>
            </a:r>
            <a:r>
              <a:rPr spc="-360" dirty="0"/>
              <a:t> </a:t>
            </a:r>
            <a:r>
              <a:rPr spc="-165" dirty="0"/>
              <a:t>lock</a:t>
            </a:r>
          </a:p>
        </p:txBody>
      </p:sp>
      <p:sp>
        <p:nvSpPr>
          <p:cNvPr id="11" name="object 11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3139" y="1752600"/>
            <a:ext cx="7774305" cy="51314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35" dirty="0">
                <a:latin typeface="Arial"/>
                <a:cs typeface="Arial"/>
              </a:rPr>
              <a:t>Goals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245" dirty="0">
                <a:latin typeface="Arial"/>
                <a:cs typeface="Arial"/>
              </a:rPr>
              <a:t>a </a:t>
            </a:r>
            <a:r>
              <a:rPr sz="3200" spc="-120" dirty="0">
                <a:latin typeface="Arial"/>
                <a:cs typeface="Arial"/>
              </a:rPr>
              <a:t>lock</a:t>
            </a:r>
            <a:r>
              <a:rPr sz="3200" spc="-204" dirty="0">
                <a:latin typeface="Arial"/>
                <a:cs typeface="Arial"/>
              </a:rPr>
              <a:t> </a:t>
            </a:r>
            <a:r>
              <a:rPr sz="3200" spc="-70" dirty="0">
                <a:latin typeface="Arial"/>
                <a:cs typeface="Arial"/>
              </a:rPr>
              <a:t>implementation</a:t>
            </a:r>
            <a:endParaRPr sz="3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50"/>
              </a:spcBef>
              <a:buChar char="–"/>
              <a:tabLst>
                <a:tab pos="756920" algn="l"/>
              </a:tabLst>
            </a:pPr>
            <a:r>
              <a:rPr sz="2800" spc="-35" dirty="0">
                <a:latin typeface="Arial"/>
                <a:cs typeface="Arial"/>
              </a:rPr>
              <a:t>Mutual </a:t>
            </a:r>
            <a:r>
              <a:rPr sz="2800" spc="-140" dirty="0">
                <a:latin typeface="Arial"/>
                <a:cs typeface="Arial"/>
              </a:rPr>
              <a:t>exclusion</a:t>
            </a:r>
            <a:r>
              <a:rPr sz="2800" spc="-22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(obviously!)</a:t>
            </a:r>
            <a:endParaRPr sz="2800" dirty="0">
              <a:latin typeface="Arial"/>
              <a:cs typeface="Arial"/>
            </a:endParaRPr>
          </a:p>
          <a:p>
            <a:pPr marL="756285" marR="433705" lvl="1" indent="-286385">
              <a:lnSpc>
                <a:spcPts val="3020"/>
              </a:lnSpc>
              <a:spcBef>
                <a:spcPts val="720"/>
              </a:spcBef>
              <a:buChar char="–"/>
              <a:tabLst>
                <a:tab pos="756920" algn="l"/>
              </a:tabLst>
            </a:pPr>
            <a:r>
              <a:rPr sz="2800" spc="-180" dirty="0">
                <a:latin typeface="Arial"/>
                <a:cs typeface="Arial"/>
              </a:rPr>
              <a:t>Fairness: </a:t>
            </a:r>
            <a:r>
              <a:rPr sz="2800" spc="-65" dirty="0">
                <a:latin typeface="Arial"/>
                <a:cs typeface="Arial"/>
              </a:rPr>
              <a:t>all </a:t>
            </a:r>
            <a:r>
              <a:rPr sz="2800" spc="-105" dirty="0">
                <a:latin typeface="Arial"/>
                <a:cs typeface="Arial"/>
              </a:rPr>
              <a:t>threads </a:t>
            </a:r>
            <a:r>
              <a:rPr sz="2800" spc="-114" dirty="0">
                <a:latin typeface="Arial"/>
                <a:cs typeface="Arial"/>
              </a:rPr>
              <a:t>should </a:t>
            </a:r>
            <a:r>
              <a:rPr sz="2800" spc="-95" dirty="0">
                <a:latin typeface="Arial"/>
                <a:cs typeface="Arial"/>
              </a:rPr>
              <a:t>eventually get</a:t>
            </a:r>
            <a:r>
              <a:rPr sz="2800" spc="-24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the  </a:t>
            </a:r>
            <a:r>
              <a:rPr sz="2800" spc="-105" dirty="0">
                <a:latin typeface="Arial"/>
                <a:cs typeface="Arial"/>
              </a:rPr>
              <a:t>lock,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90" dirty="0">
                <a:latin typeface="Arial"/>
                <a:cs typeface="Arial"/>
              </a:rPr>
              <a:t>no </a:t>
            </a:r>
            <a:r>
              <a:rPr sz="2800" spc="-70" dirty="0">
                <a:latin typeface="Arial"/>
                <a:cs typeface="Arial"/>
              </a:rPr>
              <a:t>thread </a:t>
            </a:r>
            <a:r>
              <a:rPr sz="2800" spc="-114" dirty="0">
                <a:latin typeface="Arial"/>
                <a:cs typeface="Arial"/>
              </a:rPr>
              <a:t>should</a:t>
            </a:r>
            <a:r>
              <a:rPr sz="2800" spc="-27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starve</a:t>
            </a:r>
            <a:endParaRPr sz="2800" dirty="0">
              <a:latin typeface="Arial"/>
              <a:cs typeface="Arial"/>
            </a:endParaRPr>
          </a:p>
          <a:p>
            <a:pPr marL="756285" marR="5080" lvl="1" indent="-286385">
              <a:lnSpc>
                <a:spcPts val="3020"/>
              </a:lnSpc>
              <a:spcBef>
                <a:spcPts val="680"/>
              </a:spcBef>
              <a:buChar char="–"/>
              <a:tabLst>
                <a:tab pos="756920" algn="l"/>
              </a:tabLst>
            </a:pPr>
            <a:r>
              <a:rPr sz="2800" spc="-170" dirty="0">
                <a:latin typeface="Arial"/>
                <a:cs typeface="Arial"/>
              </a:rPr>
              <a:t>Low </a:t>
            </a:r>
            <a:r>
              <a:rPr sz="2800" spc="-114" dirty="0">
                <a:latin typeface="Arial"/>
                <a:cs typeface="Arial"/>
              </a:rPr>
              <a:t>overhead: </a:t>
            </a:r>
            <a:r>
              <a:rPr sz="2800" spc="-95" dirty="0">
                <a:latin typeface="Arial"/>
                <a:cs typeface="Arial"/>
              </a:rPr>
              <a:t>acquiring, </a:t>
            </a:r>
            <a:r>
              <a:rPr sz="2800" spc="-125" dirty="0">
                <a:latin typeface="Arial"/>
                <a:cs typeface="Arial"/>
              </a:rPr>
              <a:t>releasing,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65" dirty="0">
                <a:latin typeface="Arial"/>
                <a:cs typeface="Arial"/>
              </a:rPr>
              <a:t>waiting  </a:t>
            </a:r>
            <a:r>
              <a:rPr sz="2800" spc="-10" dirty="0">
                <a:latin typeface="Arial"/>
                <a:cs typeface="Arial"/>
              </a:rPr>
              <a:t>for </a:t>
            </a:r>
            <a:r>
              <a:rPr sz="2800" spc="-110" dirty="0">
                <a:latin typeface="Arial"/>
                <a:cs typeface="Arial"/>
              </a:rPr>
              <a:t>lock </a:t>
            </a:r>
            <a:r>
              <a:rPr sz="2800" spc="-114" dirty="0">
                <a:latin typeface="Arial"/>
                <a:cs typeface="Arial"/>
              </a:rPr>
              <a:t>should </a:t>
            </a:r>
            <a:r>
              <a:rPr sz="2800" spc="-10" dirty="0">
                <a:latin typeface="Arial"/>
                <a:cs typeface="Arial"/>
              </a:rPr>
              <a:t>not </a:t>
            </a:r>
            <a:r>
              <a:rPr sz="2800" spc="-160" dirty="0">
                <a:latin typeface="Arial"/>
                <a:cs typeface="Arial"/>
              </a:rPr>
              <a:t>consume </a:t>
            </a:r>
            <a:r>
              <a:rPr sz="2800" spc="-15" dirty="0">
                <a:latin typeface="Arial"/>
                <a:cs typeface="Arial"/>
              </a:rPr>
              <a:t>too </a:t>
            </a:r>
            <a:r>
              <a:rPr sz="2800" spc="-150" dirty="0">
                <a:latin typeface="Arial"/>
                <a:cs typeface="Arial"/>
              </a:rPr>
              <a:t>many</a:t>
            </a:r>
            <a:r>
              <a:rPr sz="2800" spc="-5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resources</a:t>
            </a:r>
            <a:endParaRPr sz="2800" dirty="0">
              <a:latin typeface="Arial"/>
              <a:cs typeface="Arial"/>
            </a:endParaRPr>
          </a:p>
          <a:p>
            <a:pPr marL="355600" marR="23495" indent="-342900">
              <a:lnSpc>
                <a:spcPts val="346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Arial"/>
                <a:cs typeface="Arial"/>
              </a:rPr>
              <a:t>Implementation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170" dirty="0">
                <a:latin typeface="Arial"/>
                <a:cs typeface="Arial"/>
              </a:rPr>
              <a:t>locks </a:t>
            </a:r>
            <a:r>
              <a:rPr sz="3200" spc="-140" dirty="0">
                <a:latin typeface="Arial"/>
                <a:cs typeface="Arial"/>
              </a:rPr>
              <a:t>are </a:t>
            </a:r>
            <a:r>
              <a:rPr sz="3200" spc="-150" dirty="0">
                <a:latin typeface="Arial"/>
                <a:cs typeface="Arial"/>
              </a:rPr>
              <a:t>needed </a:t>
            </a:r>
            <a:r>
              <a:rPr sz="3200" spc="-15" dirty="0">
                <a:latin typeface="Arial"/>
                <a:cs typeface="Arial"/>
              </a:rPr>
              <a:t>for</a:t>
            </a:r>
            <a:r>
              <a:rPr sz="3200" spc="-520" dirty="0">
                <a:latin typeface="Arial"/>
                <a:cs typeface="Arial"/>
              </a:rPr>
              <a:t> </a:t>
            </a:r>
            <a:r>
              <a:rPr sz="3200" spc="-30" dirty="0">
                <a:latin typeface="Arial"/>
                <a:cs typeface="Arial"/>
              </a:rPr>
              <a:t>both  </a:t>
            </a:r>
            <a:r>
              <a:rPr sz="3200" spc="-200" dirty="0">
                <a:latin typeface="Arial"/>
                <a:cs typeface="Arial"/>
              </a:rPr>
              <a:t>userspace </a:t>
            </a:r>
            <a:r>
              <a:rPr sz="3200" spc="-150" dirty="0">
                <a:latin typeface="Arial"/>
                <a:cs typeface="Arial"/>
              </a:rPr>
              <a:t>programs </a:t>
            </a:r>
            <a:r>
              <a:rPr sz="3200" spc="-135" dirty="0">
                <a:latin typeface="Arial"/>
                <a:cs typeface="Arial"/>
              </a:rPr>
              <a:t>(e.g., </a:t>
            </a:r>
            <a:r>
              <a:rPr sz="3200" spc="-114" dirty="0">
                <a:latin typeface="Arial"/>
                <a:cs typeface="Arial"/>
              </a:rPr>
              <a:t>pthreads </a:t>
            </a:r>
            <a:r>
              <a:rPr sz="3200" spc="-65" dirty="0">
                <a:latin typeface="Arial"/>
                <a:cs typeface="Arial"/>
              </a:rPr>
              <a:t>library)  </a:t>
            </a:r>
            <a:r>
              <a:rPr sz="3200" spc="-150" dirty="0">
                <a:latin typeface="Arial"/>
                <a:cs typeface="Arial"/>
              </a:rPr>
              <a:t>and </a:t>
            </a:r>
            <a:r>
              <a:rPr sz="3200" spc="-114" dirty="0">
                <a:latin typeface="Arial"/>
                <a:cs typeface="Arial"/>
              </a:rPr>
              <a:t>kernel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spc="-165" dirty="0">
                <a:latin typeface="Arial"/>
                <a:cs typeface="Arial"/>
              </a:rPr>
              <a:t>code</a:t>
            </a:r>
            <a:endParaRPr sz="3200" dirty="0">
              <a:latin typeface="Arial"/>
              <a:cs typeface="Arial"/>
            </a:endParaRPr>
          </a:p>
          <a:p>
            <a:pPr marL="355600" marR="835660" indent="-342900">
              <a:lnSpc>
                <a:spcPts val="346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95" dirty="0">
                <a:latin typeface="Arial"/>
                <a:cs typeface="Arial"/>
              </a:rPr>
              <a:t>Implementing </a:t>
            </a:r>
            <a:r>
              <a:rPr sz="3200" spc="-170" dirty="0">
                <a:latin typeface="Arial"/>
                <a:cs typeface="Arial"/>
              </a:rPr>
              <a:t>locks </a:t>
            </a:r>
            <a:r>
              <a:rPr sz="3200" spc="-190" dirty="0">
                <a:latin typeface="Arial"/>
                <a:cs typeface="Arial"/>
              </a:rPr>
              <a:t>needs </a:t>
            </a:r>
            <a:r>
              <a:rPr sz="3200" spc="-75" dirty="0">
                <a:latin typeface="Arial"/>
                <a:cs typeface="Arial"/>
              </a:rPr>
              <a:t>support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spc="-35" dirty="0">
                <a:latin typeface="Arial"/>
                <a:cs typeface="Arial"/>
              </a:rPr>
              <a:t>from  </a:t>
            </a:r>
            <a:r>
              <a:rPr sz="3200" spc="-120" dirty="0">
                <a:latin typeface="Arial"/>
                <a:cs typeface="Arial"/>
              </a:rPr>
              <a:t>hardware </a:t>
            </a:r>
            <a:r>
              <a:rPr sz="3200" spc="-150" dirty="0">
                <a:latin typeface="Arial"/>
                <a:cs typeface="Arial"/>
              </a:rPr>
              <a:t>and</a:t>
            </a:r>
            <a:r>
              <a:rPr sz="3200" spc="-225" dirty="0">
                <a:latin typeface="Arial"/>
                <a:cs typeface="Arial"/>
              </a:rPr>
              <a:t> </a:t>
            </a:r>
            <a:r>
              <a:rPr sz="3200" spc="-520" dirty="0">
                <a:latin typeface="Arial"/>
                <a:cs typeface="Arial"/>
              </a:rPr>
              <a:t>OS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3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030" y="918781"/>
            <a:ext cx="7012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Is </a:t>
            </a:r>
            <a:r>
              <a:rPr spc="-170" dirty="0"/>
              <a:t>disabling </a:t>
            </a:r>
            <a:r>
              <a:rPr spc="-60" dirty="0"/>
              <a:t>interrupts</a:t>
            </a:r>
            <a:r>
              <a:rPr spc="-245" dirty="0"/>
              <a:t> </a:t>
            </a:r>
            <a:r>
              <a:rPr spc="-229" dirty="0"/>
              <a:t>enough?</a:t>
            </a:r>
          </a:p>
        </p:txBody>
      </p:sp>
      <p:sp>
        <p:nvSpPr>
          <p:cNvPr id="3" name="object 3"/>
          <p:cNvSpPr/>
          <p:nvPr/>
        </p:nvSpPr>
        <p:spPr>
          <a:xfrm>
            <a:off x="5862898" y="2048256"/>
            <a:ext cx="3357302" cy="1380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3139" y="2104390"/>
            <a:ext cx="7395845" cy="48298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10" dirty="0">
                <a:latin typeface="Arial"/>
                <a:cs typeface="Arial"/>
              </a:rPr>
              <a:t>Is </a:t>
            </a:r>
            <a:r>
              <a:rPr sz="3000" spc="-60" dirty="0">
                <a:latin typeface="Arial"/>
                <a:cs typeface="Arial"/>
              </a:rPr>
              <a:t>this</a:t>
            </a:r>
            <a:r>
              <a:rPr sz="3000" spc="-140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enough?</a:t>
            </a:r>
            <a:endParaRPr sz="3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55" dirty="0">
                <a:latin typeface="Arial"/>
                <a:cs typeface="Arial"/>
              </a:rPr>
              <a:t>No, </a:t>
            </a:r>
            <a:r>
              <a:rPr sz="3000" spc="-10" dirty="0">
                <a:latin typeface="Arial"/>
                <a:cs typeface="Arial"/>
              </a:rPr>
              <a:t>not</a:t>
            </a:r>
            <a:r>
              <a:rPr sz="3000" spc="-180" dirty="0">
                <a:latin typeface="Arial"/>
                <a:cs typeface="Arial"/>
              </a:rPr>
              <a:t> </a:t>
            </a:r>
            <a:r>
              <a:rPr sz="3000" spc="-135" dirty="0">
                <a:latin typeface="Arial"/>
                <a:cs typeface="Arial"/>
              </a:rPr>
              <a:t>always!</a:t>
            </a:r>
            <a:endParaRPr sz="3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20" dirty="0">
                <a:latin typeface="Arial"/>
                <a:cs typeface="Arial"/>
              </a:rPr>
              <a:t>Many </a:t>
            </a:r>
            <a:r>
              <a:rPr sz="3000" spc="-210" dirty="0">
                <a:latin typeface="Arial"/>
                <a:cs typeface="Arial"/>
              </a:rPr>
              <a:t>issues</a:t>
            </a:r>
            <a:r>
              <a:rPr sz="3000" spc="-220" dirty="0">
                <a:latin typeface="Arial"/>
                <a:cs typeface="Arial"/>
              </a:rPr>
              <a:t> </a:t>
            </a:r>
            <a:r>
              <a:rPr sz="3000" spc="-100" dirty="0">
                <a:latin typeface="Arial"/>
                <a:cs typeface="Arial"/>
              </a:rPr>
              <a:t>here:</a:t>
            </a:r>
            <a:endParaRPr sz="3000" dirty="0">
              <a:latin typeface="Arial"/>
              <a:cs typeface="Arial"/>
            </a:endParaRPr>
          </a:p>
          <a:p>
            <a:pPr marL="756285" marR="5080" lvl="1" indent="-286385">
              <a:lnSpc>
                <a:spcPts val="281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600" spc="-125" dirty="0">
                <a:latin typeface="Arial"/>
                <a:cs typeface="Arial"/>
              </a:rPr>
              <a:t>Disabling </a:t>
            </a:r>
            <a:r>
              <a:rPr sz="2600" spc="-35" dirty="0">
                <a:latin typeface="Arial"/>
                <a:cs typeface="Arial"/>
              </a:rPr>
              <a:t>interrupts </a:t>
            </a:r>
            <a:r>
              <a:rPr sz="2600" spc="-135" dirty="0">
                <a:latin typeface="Arial"/>
                <a:cs typeface="Arial"/>
              </a:rPr>
              <a:t>is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80" dirty="0">
                <a:latin typeface="Arial"/>
                <a:cs typeface="Arial"/>
              </a:rPr>
              <a:t>privileged </a:t>
            </a:r>
            <a:r>
              <a:rPr sz="2600" spc="-45" dirty="0">
                <a:latin typeface="Arial"/>
                <a:cs typeface="Arial"/>
              </a:rPr>
              <a:t>instruction</a:t>
            </a:r>
            <a:r>
              <a:rPr sz="2600" spc="-37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and  </a:t>
            </a:r>
            <a:r>
              <a:rPr sz="2600" spc="-100" dirty="0">
                <a:latin typeface="Arial"/>
                <a:cs typeface="Arial"/>
              </a:rPr>
              <a:t>program </a:t>
            </a:r>
            <a:r>
              <a:rPr sz="2600" spc="-170" dirty="0">
                <a:latin typeface="Arial"/>
                <a:cs typeface="Arial"/>
              </a:rPr>
              <a:t>can </a:t>
            </a:r>
            <a:r>
              <a:rPr sz="2600" spc="-150" dirty="0">
                <a:latin typeface="Arial"/>
                <a:cs typeface="Arial"/>
              </a:rPr>
              <a:t>misuse </a:t>
            </a:r>
            <a:r>
              <a:rPr sz="2600" spc="80" dirty="0">
                <a:latin typeface="Arial"/>
                <a:cs typeface="Arial"/>
              </a:rPr>
              <a:t>it </a:t>
            </a:r>
            <a:r>
              <a:rPr sz="2600" spc="-110" dirty="0">
                <a:latin typeface="Arial"/>
                <a:cs typeface="Arial"/>
              </a:rPr>
              <a:t>(e.g., </a:t>
            </a:r>
            <a:r>
              <a:rPr sz="2600" spc="-40" dirty="0">
                <a:latin typeface="Arial"/>
                <a:cs typeface="Arial"/>
              </a:rPr>
              <a:t>run</a:t>
            </a:r>
            <a:r>
              <a:rPr sz="2600" spc="-445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forever)</a:t>
            </a:r>
            <a:endParaRPr sz="2600" dirty="0">
              <a:latin typeface="Arial"/>
              <a:cs typeface="Arial"/>
            </a:endParaRPr>
          </a:p>
          <a:p>
            <a:pPr marL="756285" marR="70485" lvl="1" indent="-286385">
              <a:lnSpc>
                <a:spcPts val="2810"/>
              </a:lnSpc>
              <a:spcBef>
                <a:spcPts val="620"/>
              </a:spcBef>
              <a:buChar char="–"/>
              <a:tabLst>
                <a:tab pos="756920" algn="l"/>
              </a:tabLst>
            </a:pPr>
            <a:r>
              <a:rPr sz="2600" spc="-25" dirty="0">
                <a:latin typeface="Arial"/>
                <a:cs typeface="Arial"/>
              </a:rPr>
              <a:t>Will </a:t>
            </a:r>
            <a:r>
              <a:rPr sz="2600" spc="-5" dirty="0">
                <a:latin typeface="Arial"/>
                <a:cs typeface="Arial"/>
              </a:rPr>
              <a:t>not </a:t>
            </a:r>
            <a:r>
              <a:rPr sz="2600" spc="-50" dirty="0">
                <a:latin typeface="Arial"/>
                <a:cs typeface="Arial"/>
              </a:rPr>
              <a:t>work </a:t>
            </a:r>
            <a:r>
              <a:rPr sz="2600" spc="-80" dirty="0">
                <a:latin typeface="Arial"/>
                <a:cs typeface="Arial"/>
              </a:rPr>
              <a:t>on multiprocessor </a:t>
            </a:r>
            <a:r>
              <a:rPr sz="2600" spc="-160" dirty="0">
                <a:latin typeface="Arial"/>
                <a:cs typeface="Arial"/>
              </a:rPr>
              <a:t>systems, </a:t>
            </a:r>
            <a:r>
              <a:rPr sz="2600" spc="-145" dirty="0">
                <a:latin typeface="Arial"/>
                <a:cs typeface="Arial"/>
              </a:rPr>
              <a:t>since  </a:t>
            </a:r>
            <a:r>
              <a:rPr sz="2600" spc="-60" dirty="0">
                <a:latin typeface="Arial"/>
                <a:cs typeface="Arial"/>
              </a:rPr>
              <a:t>another </a:t>
            </a:r>
            <a:r>
              <a:rPr sz="2600" spc="-65" dirty="0">
                <a:latin typeface="Arial"/>
                <a:cs typeface="Arial"/>
              </a:rPr>
              <a:t>thread </a:t>
            </a:r>
            <a:r>
              <a:rPr sz="2600" spc="-80" dirty="0">
                <a:latin typeface="Arial"/>
                <a:cs typeface="Arial"/>
              </a:rPr>
              <a:t>on </a:t>
            </a:r>
            <a:r>
              <a:rPr sz="2600" spc="-60" dirty="0">
                <a:latin typeface="Arial"/>
                <a:cs typeface="Arial"/>
              </a:rPr>
              <a:t>another </a:t>
            </a:r>
            <a:r>
              <a:rPr sz="2600" spc="-114" dirty="0">
                <a:latin typeface="Arial"/>
                <a:cs typeface="Arial"/>
              </a:rPr>
              <a:t>core </a:t>
            </a:r>
            <a:r>
              <a:rPr sz="2600" spc="-170" dirty="0">
                <a:latin typeface="Arial"/>
                <a:cs typeface="Arial"/>
              </a:rPr>
              <a:t>can </a:t>
            </a:r>
            <a:r>
              <a:rPr sz="2600" spc="-50" dirty="0">
                <a:latin typeface="Arial"/>
                <a:cs typeface="Arial"/>
              </a:rPr>
              <a:t>enter</a:t>
            </a:r>
            <a:r>
              <a:rPr sz="2600" spc="-475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critical  </a:t>
            </a:r>
            <a:r>
              <a:rPr sz="2600" spc="-95" dirty="0">
                <a:latin typeface="Arial"/>
                <a:cs typeface="Arial"/>
              </a:rPr>
              <a:t>section</a:t>
            </a:r>
            <a:endParaRPr sz="2600" dirty="0">
              <a:latin typeface="Arial"/>
              <a:cs typeface="Arial"/>
            </a:endParaRPr>
          </a:p>
          <a:p>
            <a:pPr marL="355600" marR="113664" indent="-342900">
              <a:lnSpc>
                <a:spcPts val="324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00" dirty="0">
                <a:latin typeface="Arial"/>
                <a:cs typeface="Arial"/>
              </a:rPr>
              <a:t>This </a:t>
            </a:r>
            <a:r>
              <a:rPr sz="3000" spc="-95" dirty="0">
                <a:latin typeface="Arial"/>
                <a:cs typeface="Arial"/>
              </a:rPr>
              <a:t>technique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180" dirty="0">
                <a:latin typeface="Arial"/>
                <a:cs typeface="Arial"/>
              </a:rPr>
              <a:t>used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65" dirty="0">
                <a:latin typeface="Arial"/>
                <a:cs typeface="Arial"/>
              </a:rPr>
              <a:t>implement </a:t>
            </a:r>
            <a:r>
              <a:rPr sz="3000" spc="-160" dirty="0">
                <a:latin typeface="Arial"/>
                <a:cs typeface="Arial"/>
              </a:rPr>
              <a:t>locks</a:t>
            </a:r>
            <a:r>
              <a:rPr sz="3000" spc="-525" dirty="0">
                <a:latin typeface="Arial"/>
                <a:cs typeface="Arial"/>
              </a:rPr>
              <a:t> </a:t>
            </a:r>
            <a:r>
              <a:rPr sz="3000" spc="-95" dirty="0">
                <a:latin typeface="Arial"/>
                <a:cs typeface="Arial"/>
              </a:rPr>
              <a:t>on  </a:t>
            </a:r>
            <a:r>
              <a:rPr sz="3000" spc="-140" dirty="0">
                <a:latin typeface="Arial"/>
                <a:cs typeface="Arial"/>
              </a:rPr>
              <a:t>single </a:t>
            </a:r>
            <a:r>
              <a:rPr sz="3000" spc="-150" dirty="0">
                <a:latin typeface="Arial"/>
                <a:cs typeface="Arial"/>
              </a:rPr>
              <a:t>processor </a:t>
            </a:r>
            <a:r>
              <a:rPr sz="3000" spc="-200" dirty="0">
                <a:latin typeface="Arial"/>
                <a:cs typeface="Arial"/>
              </a:rPr>
              <a:t>systems </a:t>
            </a:r>
            <a:r>
              <a:rPr sz="3000" spc="-114" dirty="0">
                <a:latin typeface="Arial"/>
                <a:cs typeface="Arial"/>
              </a:rPr>
              <a:t>inside </a:t>
            </a:r>
            <a:r>
              <a:rPr sz="3000" spc="-35" dirty="0">
                <a:latin typeface="Arial"/>
                <a:cs typeface="Arial"/>
              </a:rPr>
              <a:t>the</a:t>
            </a:r>
            <a:r>
              <a:rPr sz="3000" spc="-229" dirty="0">
                <a:latin typeface="Arial"/>
                <a:cs typeface="Arial"/>
              </a:rPr>
              <a:t> </a:t>
            </a:r>
            <a:r>
              <a:rPr sz="3000" spc="-484" dirty="0">
                <a:latin typeface="Arial"/>
                <a:cs typeface="Arial"/>
              </a:rPr>
              <a:t>OS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600" spc="-150" dirty="0">
                <a:latin typeface="Arial"/>
                <a:cs typeface="Arial"/>
              </a:rPr>
              <a:t>Need </a:t>
            </a:r>
            <a:r>
              <a:rPr sz="2600" spc="-25" dirty="0">
                <a:latin typeface="Arial"/>
                <a:cs typeface="Arial"/>
              </a:rPr>
              <a:t>better </a:t>
            </a:r>
            <a:r>
              <a:rPr sz="2600" spc="-55" dirty="0">
                <a:latin typeface="Arial"/>
                <a:cs typeface="Arial"/>
              </a:rPr>
              <a:t>solution </a:t>
            </a:r>
            <a:r>
              <a:rPr sz="2600" spc="-10" dirty="0">
                <a:latin typeface="Arial"/>
                <a:cs typeface="Arial"/>
              </a:rPr>
              <a:t>for </a:t>
            </a:r>
            <a:r>
              <a:rPr sz="2600" spc="-25" dirty="0">
                <a:latin typeface="Arial"/>
                <a:cs typeface="Arial"/>
              </a:rPr>
              <a:t>other</a:t>
            </a:r>
            <a:r>
              <a:rPr sz="2600" spc="-520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situations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4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6966" y="918781"/>
            <a:ext cx="72783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A </a:t>
            </a:r>
            <a:r>
              <a:rPr spc="-105" dirty="0"/>
              <a:t>failed </a:t>
            </a:r>
            <a:r>
              <a:rPr spc="-165" dirty="0"/>
              <a:t>lock </a:t>
            </a:r>
            <a:r>
              <a:rPr spc="-90" dirty="0"/>
              <a:t>implementation</a:t>
            </a:r>
            <a:r>
              <a:rPr spc="-335" dirty="0"/>
              <a:t> </a:t>
            </a:r>
            <a:r>
              <a:rPr spc="-16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83512"/>
            <a:ext cx="7519670" cy="158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95" dirty="0">
                <a:latin typeface="Arial"/>
                <a:cs typeface="Arial"/>
              </a:rPr>
              <a:t>Lock: </a:t>
            </a:r>
            <a:r>
              <a:rPr sz="3200" spc="-135" dirty="0">
                <a:latin typeface="Arial"/>
                <a:cs typeface="Arial"/>
              </a:rPr>
              <a:t>spin </a:t>
            </a:r>
            <a:r>
              <a:rPr sz="3200" spc="-100" dirty="0">
                <a:latin typeface="Arial"/>
                <a:cs typeface="Arial"/>
              </a:rPr>
              <a:t>on </a:t>
            </a:r>
            <a:r>
              <a:rPr sz="3200" spc="-245" dirty="0">
                <a:latin typeface="Arial"/>
                <a:cs typeface="Arial"/>
              </a:rPr>
              <a:t>a </a:t>
            </a:r>
            <a:r>
              <a:rPr sz="3200" spc="-105" dirty="0">
                <a:latin typeface="Arial"/>
                <a:cs typeface="Arial"/>
              </a:rPr>
              <a:t>flag </a:t>
            </a:r>
            <a:r>
              <a:rPr sz="3200" spc="-114" dirty="0">
                <a:latin typeface="Arial"/>
                <a:cs typeface="Arial"/>
              </a:rPr>
              <a:t>variable </a:t>
            </a:r>
            <a:r>
              <a:rPr sz="3200" spc="-5" dirty="0">
                <a:latin typeface="Arial"/>
                <a:cs typeface="Arial"/>
              </a:rPr>
              <a:t>until </a:t>
            </a:r>
            <a:r>
              <a:rPr sz="3200" spc="100" dirty="0">
                <a:latin typeface="Arial"/>
                <a:cs typeface="Arial"/>
              </a:rPr>
              <a:t>it </a:t>
            </a:r>
            <a:r>
              <a:rPr sz="3200" spc="-165" dirty="0">
                <a:latin typeface="Arial"/>
                <a:cs typeface="Arial"/>
              </a:rPr>
              <a:t>is</a:t>
            </a:r>
            <a:r>
              <a:rPr sz="3200" spc="-640" dirty="0">
                <a:latin typeface="Arial"/>
                <a:cs typeface="Arial"/>
              </a:rPr>
              <a:t> </a:t>
            </a:r>
            <a:r>
              <a:rPr sz="3200" spc="-114" dirty="0">
                <a:latin typeface="Arial"/>
                <a:cs typeface="Arial"/>
              </a:rPr>
              <a:t>unset,  </a:t>
            </a:r>
            <a:r>
              <a:rPr sz="3200" spc="-55" dirty="0">
                <a:latin typeface="Arial"/>
                <a:cs typeface="Arial"/>
              </a:rPr>
              <a:t>then </a:t>
            </a:r>
            <a:r>
              <a:rPr sz="3200" spc="-125" dirty="0">
                <a:latin typeface="Arial"/>
                <a:cs typeface="Arial"/>
              </a:rPr>
              <a:t>set </a:t>
            </a:r>
            <a:r>
              <a:rPr sz="3200" spc="100" dirty="0">
                <a:latin typeface="Arial"/>
                <a:cs typeface="Arial"/>
              </a:rPr>
              <a:t>it </a:t>
            </a:r>
            <a:r>
              <a:rPr sz="3200" spc="20" dirty="0">
                <a:latin typeface="Arial"/>
                <a:cs typeface="Arial"/>
              </a:rPr>
              <a:t>to</a:t>
            </a:r>
            <a:r>
              <a:rPr sz="3200" spc="-650" dirty="0">
                <a:latin typeface="Arial"/>
                <a:cs typeface="Arial"/>
              </a:rPr>
              <a:t> </a:t>
            </a:r>
            <a:r>
              <a:rPr sz="3200" spc="-125" dirty="0">
                <a:latin typeface="Arial"/>
                <a:cs typeface="Arial"/>
              </a:rPr>
              <a:t>acquire </a:t>
            </a:r>
            <a:r>
              <a:rPr sz="3200" spc="-120" dirty="0">
                <a:latin typeface="Arial"/>
                <a:cs typeface="Arial"/>
              </a:rPr>
              <a:t>lock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25" dirty="0">
                <a:latin typeface="Arial"/>
                <a:cs typeface="Arial"/>
              </a:rPr>
              <a:t>Unlock: </a:t>
            </a:r>
            <a:r>
              <a:rPr sz="3200" spc="-114" dirty="0">
                <a:latin typeface="Arial"/>
                <a:cs typeface="Arial"/>
              </a:rPr>
              <a:t>unset </a:t>
            </a:r>
            <a:r>
              <a:rPr sz="3200" spc="-105" dirty="0">
                <a:latin typeface="Arial"/>
                <a:cs typeface="Arial"/>
              </a:rPr>
              <a:t>flag</a:t>
            </a:r>
            <a:r>
              <a:rPr sz="3200" spc="-250" dirty="0">
                <a:latin typeface="Arial"/>
                <a:cs typeface="Arial"/>
              </a:rPr>
              <a:t> </a:t>
            </a:r>
            <a:r>
              <a:rPr sz="3200" spc="-114" dirty="0">
                <a:latin typeface="Arial"/>
                <a:cs typeface="Arial"/>
              </a:rPr>
              <a:t>variable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3422953"/>
            <a:ext cx="5462113" cy="4647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99463" y="3886200"/>
            <a:ext cx="6589776" cy="3227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5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A </a:t>
            </a:r>
            <a:r>
              <a:rPr spc="-105" dirty="0"/>
              <a:t>failed </a:t>
            </a:r>
            <a:r>
              <a:rPr spc="-165" dirty="0"/>
              <a:t>lock </a:t>
            </a:r>
            <a:r>
              <a:rPr spc="-90" dirty="0"/>
              <a:t>implementation</a:t>
            </a:r>
            <a:r>
              <a:rPr spc="-335" dirty="0"/>
              <a:t> </a:t>
            </a:r>
            <a:r>
              <a:rPr spc="-16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86585"/>
            <a:ext cx="7585709" cy="22688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75" dirty="0">
                <a:latin typeface="Arial"/>
                <a:cs typeface="Arial"/>
              </a:rPr>
              <a:t>Thread </a:t>
            </a:r>
            <a:r>
              <a:rPr sz="3200" spc="-160" dirty="0">
                <a:latin typeface="Arial"/>
                <a:cs typeface="Arial"/>
              </a:rPr>
              <a:t>1 </a:t>
            </a:r>
            <a:r>
              <a:rPr sz="3200" spc="-165" dirty="0">
                <a:latin typeface="Arial"/>
                <a:cs typeface="Arial"/>
              </a:rPr>
              <a:t>spins, </a:t>
            </a:r>
            <a:r>
              <a:rPr sz="3200" spc="-120" dirty="0">
                <a:latin typeface="Arial"/>
                <a:cs typeface="Arial"/>
              </a:rPr>
              <a:t>lock </a:t>
            </a:r>
            <a:r>
              <a:rPr sz="3200" spc="-165" dirty="0">
                <a:latin typeface="Arial"/>
                <a:cs typeface="Arial"/>
              </a:rPr>
              <a:t>is </a:t>
            </a:r>
            <a:r>
              <a:rPr sz="3200" spc="-150" dirty="0">
                <a:latin typeface="Arial"/>
                <a:cs typeface="Arial"/>
              </a:rPr>
              <a:t>released, </a:t>
            </a:r>
            <a:r>
              <a:rPr sz="3200" spc="-185" dirty="0">
                <a:latin typeface="Arial"/>
                <a:cs typeface="Arial"/>
              </a:rPr>
              <a:t>ends</a:t>
            </a:r>
            <a:r>
              <a:rPr sz="3200" spc="-265" dirty="0">
                <a:latin typeface="Arial"/>
                <a:cs typeface="Arial"/>
              </a:rPr>
              <a:t> </a:t>
            </a:r>
            <a:r>
              <a:rPr sz="3200" spc="-135" dirty="0">
                <a:latin typeface="Arial"/>
                <a:cs typeface="Arial"/>
              </a:rPr>
              <a:t>spin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75" dirty="0">
                <a:latin typeface="Arial"/>
                <a:cs typeface="Arial"/>
              </a:rPr>
              <a:t>Thread </a:t>
            </a:r>
            <a:r>
              <a:rPr sz="3200" spc="-160" dirty="0">
                <a:latin typeface="Arial"/>
                <a:cs typeface="Arial"/>
              </a:rPr>
              <a:t>1 </a:t>
            </a:r>
            <a:r>
              <a:rPr sz="3200" spc="-40" dirty="0">
                <a:latin typeface="Arial"/>
                <a:cs typeface="Arial"/>
              </a:rPr>
              <a:t>interrupted </a:t>
            </a:r>
            <a:r>
              <a:rPr sz="3200" spc="-65" dirty="0">
                <a:latin typeface="Arial"/>
                <a:cs typeface="Arial"/>
              </a:rPr>
              <a:t>just </a:t>
            </a:r>
            <a:r>
              <a:rPr sz="3200" spc="-100" dirty="0">
                <a:latin typeface="Arial"/>
                <a:cs typeface="Arial"/>
              </a:rPr>
              <a:t>before </a:t>
            </a:r>
            <a:r>
              <a:rPr sz="3200" spc="-90" dirty="0">
                <a:latin typeface="Arial"/>
                <a:cs typeface="Arial"/>
              </a:rPr>
              <a:t>setting</a:t>
            </a:r>
            <a:r>
              <a:rPr sz="3200" spc="-445" dirty="0">
                <a:latin typeface="Arial"/>
                <a:cs typeface="Arial"/>
              </a:rPr>
              <a:t> </a:t>
            </a:r>
            <a:r>
              <a:rPr sz="3200" spc="-105" dirty="0">
                <a:latin typeface="Arial"/>
                <a:cs typeface="Arial"/>
              </a:rPr>
              <a:t>flag</a:t>
            </a:r>
            <a:endParaRPr sz="3200">
              <a:latin typeface="Arial"/>
              <a:cs typeface="Arial"/>
            </a:endParaRPr>
          </a:p>
          <a:p>
            <a:pPr marL="355600" marR="106172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320" dirty="0">
                <a:latin typeface="Arial"/>
                <a:cs typeface="Arial"/>
              </a:rPr>
              <a:t>Race </a:t>
            </a:r>
            <a:r>
              <a:rPr sz="3200" spc="-65" dirty="0">
                <a:latin typeface="Arial"/>
                <a:cs typeface="Arial"/>
              </a:rPr>
              <a:t>condition </a:t>
            </a:r>
            <a:r>
              <a:rPr sz="3200" spc="-235" dirty="0">
                <a:latin typeface="Arial"/>
                <a:cs typeface="Arial"/>
              </a:rPr>
              <a:t>has </a:t>
            </a:r>
            <a:r>
              <a:rPr sz="3200" spc="-140" dirty="0">
                <a:latin typeface="Arial"/>
                <a:cs typeface="Arial"/>
              </a:rPr>
              <a:t>moved </a:t>
            </a:r>
            <a:r>
              <a:rPr sz="3200" spc="20" dirty="0">
                <a:latin typeface="Arial"/>
                <a:cs typeface="Arial"/>
              </a:rPr>
              <a:t>to </a:t>
            </a:r>
            <a:r>
              <a:rPr sz="3200" spc="-40" dirty="0">
                <a:latin typeface="Arial"/>
                <a:cs typeface="Arial"/>
              </a:rPr>
              <a:t>the</a:t>
            </a:r>
            <a:r>
              <a:rPr sz="3200" spc="-290" dirty="0">
                <a:latin typeface="Arial"/>
                <a:cs typeface="Arial"/>
              </a:rPr>
              <a:t> </a:t>
            </a:r>
            <a:r>
              <a:rPr sz="3200" spc="-120" dirty="0">
                <a:latin typeface="Arial"/>
                <a:cs typeface="Arial"/>
              </a:rPr>
              <a:t>lock  </a:t>
            </a:r>
            <a:r>
              <a:rPr sz="3200" spc="-95" dirty="0">
                <a:latin typeface="Arial"/>
                <a:cs typeface="Arial"/>
              </a:rPr>
              <a:t>acquisition</a:t>
            </a:r>
            <a:r>
              <a:rPr sz="3200" spc="-150" dirty="0">
                <a:latin typeface="Arial"/>
                <a:cs typeface="Arial"/>
              </a:rPr>
              <a:t> </a:t>
            </a:r>
            <a:r>
              <a:rPr sz="3200" spc="-105" dirty="0">
                <a:latin typeface="Arial"/>
                <a:cs typeface="Arial"/>
              </a:rPr>
              <a:t>code!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7979" y="3796284"/>
            <a:ext cx="114808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4000" y="4049267"/>
            <a:ext cx="6705219" cy="295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6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347" y="953833"/>
            <a:ext cx="8051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5" dirty="0"/>
              <a:t>Solution: </a:t>
            </a:r>
            <a:r>
              <a:rPr sz="4000" spc="-185" dirty="0"/>
              <a:t>Hardware </a:t>
            </a:r>
            <a:r>
              <a:rPr sz="4000" spc="-120" dirty="0"/>
              <a:t>atomic</a:t>
            </a:r>
            <a:r>
              <a:rPr sz="4000" spc="-355" dirty="0"/>
              <a:t> </a:t>
            </a:r>
            <a:r>
              <a:rPr sz="4000" spc="-105" dirty="0"/>
              <a:t>instructions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21327" y="1828800"/>
            <a:ext cx="7986395" cy="32099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95" dirty="0">
                <a:latin typeface="Arial"/>
                <a:cs typeface="Arial"/>
              </a:rPr>
              <a:t>Very </a:t>
            </a:r>
            <a:r>
              <a:rPr sz="3200" spc="-114" dirty="0">
                <a:latin typeface="Arial"/>
                <a:cs typeface="Arial"/>
              </a:rPr>
              <a:t>hard </a:t>
            </a:r>
            <a:r>
              <a:rPr sz="3200" spc="20" dirty="0">
                <a:latin typeface="Arial"/>
                <a:cs typeface="Arial"/>
              </a:rPr>
              <a:t>to </a:t>
            </a:r>
            <a:r>
              <a:rPr sz="3200" spc="-155" dirty="0">
                <a:latin typeface="Arial"/>
                <a:cs typeface="Arial"/>
              </a:rPr>
              <a:t>ensure </a:t>
            </a:r>
            <a:r>
              <a:rPr sz="3200" spc="-60" dirty="0">
                <a:latin typeface="Arial"/>
                <a:cs typeface="Arial"/>
              </a:rPr>
              <a:t>atomicity </a:t>
            </a:r>
            <a:r>
              <a:rPr sz="3200" spc="-85" dirty="0">
                <a:latin typeface="Arial"/>
                <a:cs typeface="Arial"/>
              </a:rPr>
              <a:t>only </a:t>
            </a:r>
            <a:r>
              <a:rPr sz="3200" spc="-40" dirty="0">
                <a:latin typeface="Arial"/>
                <a:cs typeface="Arial"/>
              </a:rPr>
              <a:t>in</a:t>
            </a:r>
            <a:r>
              <a:rPr sz="3200" spc="-585" dirty="0">
                <a:latin typeface="Arial"/>
                <a:cs typeface="Arial"/>
              </a:rPr>
              <a:t> </a:t>
            </a:r>
            <a:r>
              <a:rPr sz="3200" spc="-85" dirty="0">
                <a:latin typeface="Arial"/>
                <a:cs typeface="Arial"/>
              </a:rPr>
              <a:t>software</a:t>
            </a:r>
            <a:endParaRPr sz="3200" dirty="0">
              <a:latin typeface="Arial"/>
              <a:cs typeface="Arial"/>
            </a:endParaRPr>
          </a:p>
          <a:p>
            <a:pPr marL="355600" marR="1023619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65" dirty="0">
                <a:latin typeface="Arial"/>
                <a:cs typeface="Arial"/>
              </a:rPr>
              <a:t>Modern </a:t>
            </a:r>
            <a:r>
              <a:rPr sz="3200" spc="-105" dirty="0">
                <a:latin typeface="Arial"/>
                <a:cs typeface="Arial"/>
              </a:rPr>
              <a:t>architectures </a:t>
            </a:r>
            <a:r>
              <a:rPr sz="3200" spc="-90" dirty="0">
                <a:latin typeface="Arial"/>
                <a:cs typeface="Arial"/>
              </a:rPr>
              <a:t>provide</a:t>
            </a:r>
            <a:r>
              <a:rPr sz="3200" spc="-365" dirty="0">
                <a:latin typeface="Arial"/>
                <a:cs typeface="Arial"/>
              </a:rPr>
              <a:t> </a:t>
            </a:r>
            <a:r>
              <a:rPr sz="3200" spc="-120" dirty="0">
                <a:latin typeface="Arial"/>
                <a:cs typeface="Arial"/>
              </a:rPr>
              <a:t>hardware  </a:t>
            </a:r>
            <a:r>
              <a:rPr sz="3200" spc="-95" dirty="0">
                <a:latin typeface="Arial"/>
                <a:cs typeface="Arial"/>
              </a:rPr>
              <a:t>atomic</a:t>
            </a:r>
            <a:r>
              <a:rPr sz="3200" spc="-180" dirty="0">
                <a:latin typeface="Arial"/>
                <a:cs typeface="Arial"/>
              </a:rPr>
              <a:t> </a:t>
            </a:r>
            <a:r>
              <a:rPr sz="3200" spc="-80" dirty="0">
                <a:latin typeface="Arial"/>
                <a:cs typeface="Arial"/>
              </a:rPr>
              <a:t>instructions</a:t>
            </a:r>
            <a:endParaRPr sz="3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10" dirty="0">
                <a:latin typeface="Arial"/>
                <a:cs typeface="Arial"/>
              </a:rPr>
              <a:t>Example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175" dirty="0">
                <a:latin typeface="Arial"/>
                <a:cs typeface="Arial"/>
              </a:rPr>
              <a:t>an </a:t>
            </a:r>
            <a:r>
              <a:rPr sz="3200" spc="-95" dirty="0">
                <a:latin typeface="Arial"/>
                <a:cs typeface="Arial"/>
              </a:rPr>
              <a:t>atomic </a:t>
            </a:r>
            <a:r>
              <a:rPr sz="3200" spc="-55" dirty="0">
                <a:latin typeface="Arial"/>
                <a:cs typeface="Arial"/>
              </a:rPr>
              <a:t>instruction:</a:t>
            </a:r>
            <a:r>
              <a:rPr sz="3200" spc="-320" dirty="0">
                <a:latin typeface="Arial"/>
                <a:cs typeface="Arial"/>
              </a:rPr>
              <a:t> </a:t>
            </a:r>
            <a:r>
              <a:rPr sz="3200" spc="-105" dirty="0">
                <a:latin typeface="Arial"/>
                <a:cs typeface="Arial"/>
              </a:rPr>
              <a:t>test-and-set</a:t>
            </a:r>
            <a:endParaRPr sz="3200" dirty="0">
              <a:latin typeface="Arial"/>
              <a:cs typeface="Arial"/>
            </a:endParaRPr>
          </a:p>
          <a:p>
            <a:pPr marL="756285" marR="203835" indent="-28702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114" dirty="0">
                <a:latin typeface="Arial"/>
                <a:cs typeface="Arial"/>
              </a:rPr>
              <a:t>Update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05" dirty="0">
                <a:latin typeface="Arial"/>
                <a:cs typeface="Arial"/>
              </a:rPr>
              <a:t>variable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30" dirty="0">
                <a:latin typeface="Arial"/>
                <a:cs typeface="Arial"/>
              </a:rPr>
              <a:t>return </a:t>
            </a:r>
            <a:r>
              <a:rPr sz="2800" spc="-60" dirty="0">
                <a:latin typeface="Arial"/>
                <a:cs typeface="Arial"/>
              </a:rPr>
              <a:t>old </a:t>
            </a:r>
            <a:r>
              <a:rPr sz="2800" spc="-125" dirty="0">
                <a:latin typeface="Arial"/>
                <a:cs typeface="Arial"/>
              </a:rPr>
              <a:t>value, </a:t>
            </a:r>
            <a:r>
              <a:rPr sz="2800" spc="-65" dirty="0">
                <a:latin typeface="Arial"/>
                <a:cs typeface="Arial"/>
              </a:rPr>
              <a:t>all </a:t>
            </a:r>
            <a:r>
              <a:rPr sz="2800" spc="-40" dirty="0">
                <a:latin typeface="Arial"/>
                <a:cs typeface="Arial"/>
              </a:rPr>
              <a:t>in</a:t>
            </a:r>
            <a:r>
              <a:rPr sz="2800" spc="-52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one  </a:t>
            </a:r>
            <a:r>
              <a:rPr sz="2800" spc="-110" dirty="0">
                <a:latin typeface="Arial"/>
                <a:cs typeface="Arial"/>
              </a:rPr>
              <a:t>hardware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instruction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9200" y="5334000"/>
            <a:ext cx="7390651" cy="1227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58583" y="4213859"/>
            <a:ext cx="64135" cy="18415"/>
          </a:xfrm>
          <a:custGeom>
            <a:avLst/>
            <a:gdLst/>
            <a:ahLst/>
            <a:cxnLst/>
            <a:rect l="l" t="t" r="r" b="b"/>
            <a:pathLst>
              <a:path w="64134" h="18414">
                <a:moveTo>
                  <a:pt x="4572" y="6095"/>
                </a:moveTo>
                <a:lnTo>
                  <a:pt x="3048" y="6095"/>
                </a:lnTo>
                <a:lnTo>
                  <a:pt x="0" y="9143"/>
                </a:lnTo>
                <a:lnTo>
                  <a:pt x="0" y="15239"/>
                </a:lnTo>
                <a:lnTo>
                  <a:pt x="3048" y="18287"/>
                </a:lnTo>
                <a:lnTo>
                  <a:pt x="7620" y="18287"/>
                </a:lnTo>
                <a:lnTo>
                  <a:pt x="4572" y="6095"/>
                </a:lnTo>
                <a:close/>
              </a:path>
              <a:path w="64134" h="18414">
                <a:moveTo>
                  <a:pt x="9144" y="6095"/>
                </a:moveTo>
                <a:lnTo>
                  <a:pt x="4572" y="6095"/>
                </a:lnTo>
                <a:lnTo>
                  <a:pt x="7620" y="18287"/>
                </a:lnTo>
                <a:lnTo>
                  <a:pt x="9651" y="17779"/>
                </a:lnTo>
                <a:lnTo>
                  <a:pt x="10668" y="16763"/>
                </a:lnTo>
                <a:lnTo>
                  <a:pt x="9144" y="16763"/>
                </a:lnTo>
                <a:lnTo>
                  <a:pt x="7715" y="13906"/>
                </a:lnTo>
                <a:lnTo>
                  <a:pt x="7620" y="7619"/>
                </a:lnTo>
                <a:lnTo>
                  <a:pt x="9144" y="6095"/>
                </a:lnTo>
                <a:close/>
              </a:path>
              <a:path w="64134" h="18414">
                <a:moveTo>
                  <a:pt x="9651" y="17779"/>
                </a:moveTo>
                <a:lnTo>
                  <a:pt x="7620" y="18287"/>
                </a:lnTo>
                <a:lnTo>
                  <a:pt x="9144" y="18287"/>
                </a:lnTo>
                <a:lnTo>
                  <a:pt x="9651" y="17779"/>
                </a:lnTo>
                <a:close/>
              </a:path>
              <a:path w="64134" h="18414">
                <a:moveTo>
                  <a:pt x="12192" y="13715"/>
                </a:moveTo>
                <a:lnTo>
                  <a:pt x="12192" y="15239"/>
                </a:lnTo>
                <a:lnTo>
                  <a:pt x="9651" y="17779"/>
                </a:lnTo>
                <a:lnTo>
                  <a:pt x="13716" y="16763"/>
                </a:lnTo>
                <a:lnTo>
                  <a:pt x="12954" y="14097"/>
                </a:lnTo>
                <a:lnTo>
                  <a:pt x="12192" y="13715"/>
                </a:lnTo>
                <a:close/>
              </a:path>
              <a:path w="64134" h="18414">
                <a:moveTo>
                  <a:pt x="9144" y="6095"/>
                </a:moveTo>
                <a:lnTo>
                  <a:pt x="7810" y="7429"/>
                </a:lnTo>
                <a:lnTo>
                  <a:pt x="7715" y="13906"/>
                </a:lnTo>
                <a:lnTo>
                  <a:pt x="9144" y="16763"/>
                </a:lnTo>
                <a:lnTo>
                  <a:pt x="10668" y="16763"/>
                </a:lnTo>
                <a:lnTo>
                  <a:pt x="12192" y="15239"/>
                </a:lnTo>
                <a:lnTo>
                  <a:pt x="12192" y="11429"/>
                </a:lnTo>
                <a:lnTo>
                  <a:pt x="11277" y="8229"/>
                </a:lnTo>
                <a:lnTo>
                  <a:pt x="9144" y="6095"/>
                </a:lnTo>
                <a:close/>
              </a:path>
              <a:path w="64134" h="18414">
                <a:moveTo>
                  <a:pt x="12954" y="14097"/>
                </a:moveTo>
                <a:lnTo>
                  <a:pt x="13716" y="16763"/>
                </a:lnTo>
                <a:lnTo>
                  <a:pt x="13364" y="14302"/>
                </a:lnTo>
                <a:lnTo>
                  <a:pt x="12954" y="14097"/>
                </a:lnTo>
                <a:close/>
              </a:path>
              <a:path w="64134" h="18414">
                <a:moveTo>
                  <a:pt x="16764" y="4572"/>
                </a:moveTo>
                <a:lnTo>
                  <a:pt x="14732" y="5079"/>
                </a:lnTo>
                <a:lnTo>
                  <a:pt x="12382" y="7429"/>
                </a:lnTo>
                <a:lnTo>
                  <a:pt x="13364" y="14302"/>
                </a:lnTo>
                <a:lnTo>
                  <a:pt x="15240" y="15239"/>
                </a:lnTo>
                <a:lnTo>
                  <a:pt x="13498" y="15239"/>
                </a:lnTo>
                <a:lnTo>
                  <a:pt x="13716" y="16763"/>
                </a:lnTo>
                <a:lnTo>
                  <a:pt x="16001" y="16001"/>
                </a:lnTo>
                <a:lnTo>
                  <a:pt x="16764" y="15239"/>
                </a:lnTo>
                <a:lnTo>
                  <a:pt x="15240" y="15239"/>
                </a:lnTo>
                <a:lnTo>
                  <a:pt x="13364" y="14302"/>
                </a:lnTo>
                <a:lnTo>
                  <a:pt x="17701" y="14302"/>
                </a:lnTo>
                <a:lnTo>
                  <a:pt x="18097" y="13906"/>
                </a:lnTo>
                <a:lnTo>
                  <a:pt x="17115" y="7033"/>
                </a:lnTo>
                <a:lnTo>
                  <a:pt x="15240" y="6095"/>
                </a:lnTo>
                <a:lnTo>
                  <a:pt x="16981" y="6095"/>
                </a:lnTo>
                <a:lnTo>
                  <a:pt x="16764" y="4572"/>
                </a:lnTo>
                <a:close/>
              </a:path>
              <a:path w="64134" h="18414">
                <a:moveTo>
                  <a:pt x="16001" y="16001"/>
                </a:moveTo>
                <a:lnTo>
                  <a:pt x="13716" y="16763"/>
                </a:lnTo>
                <a:lnTo>
                  <a:pt x="15240" y="16763"/>
                </a:lnTo>
                <a:lnTo>
                  <a:pt x="16001" y="16001"/>
                </a:lnTo>
                <a:close/>
              </a:path>
              <a:path w="64134" h="18414">
                <a:moveTo>
                  <a:pt x="18097" y="13906"/>
                </a:moveTo>
                <a:lnTo>
                  <a:pt x="16001" y="16001"/>
                </a:lnTo>
                <a:lnTo>
                  <a:pt x="18288" y="15239"/>
                </a:lnTo>
                <a:lnTo>
                  <a:pt x="18097" y="13906"/>
                </a:lnTo>
                <a:close/>
              </a:path>
              <a:path w="64134" h="18414">
                <a:moveTo>
                  <a:pt x="21336" y="4572"/>
                </a:moveTo>
                <a:lnTo>
                  <a:pt x="16764" y="4572"/>
                </a:lnTo>
                <a:lnTo>
                  <a:pt x="17115" y="7033"/>
                </a:lnTo>
                <a:lnTo>
                  <a:pt x="18288" y="7619"/>
                </a:lnTo>
                <a:lnTo>
                  <a:pt x="18288" y="13715"/>
                </a:lnTo>
                <a:lnTo>
                  <a:pt x="18097" y="13906"/>
                </a:lnTo>
                <a:lnTo>
                  <a:pt x="18288" y="15239"/>
                </a:lnTo>
                <a:lnTo>
                  <a:pt x="22352" y="14224"/>
                </a:lnTo>
                <a:lnTo>
                  <a:pt x="22860" y="13715"/>
                </a:lnTo>
                <a:lnTo>
                  <a:pt x="21336" y="13715"/>
                </a:lnTo>
                <a:lnTo>
                  <a:pt x="19812" y="12191"/>
                </a:lnTo>
                <a:lnTo>
                  <a:pt x="19812" y="6095"/>
                </a:lnTo>
                <a:lnTo>
                  <a:pt x="21336" y="4572"/>
                </a:lnTo>
                <a:close/>
              </a:path>
              <a:path w="64134" h="18414">
                <a:moveTo>
                  <a:pt x="22352" y="14224"/>
                </a:moveTo>
                <a:lnTo>
                  <a:pt x="18288" y="15239"/>
                </a:lnTo>
                <a:lnTo>
                  <a:pt x="21336" y="15239"/>
                </a:lnTo>
                <a:lnTo>
                  <a:pt x="22352" y="14224"/>
                </a:lnTo>
                <a:close/>
              </a:path>
              <a:path w="64134" h="18414">
                <a:moveTo>
                  <a:pt x="12382" y="7429"/>
                </a:moveTo>
                <a:lnTo>
                  <a:pt x="12192" y="7619"/>
                </a:lnTo>
                <a:lnTo>
                  <a:pt x="12192" y="11429"/>
                </a:lnTo>
                <a:lnTo>
                  <a:pt x="12954" y="14097"/>
                </a:lnTo>
                <a:lnTo>
                  <a:pt x="13364" y="14302"/>
                </a:lnTo>
                <a:lnTo>
                  <a:pt x="12382" y="7429"/>
                </a:lnTo>
                <a:close/>
              </a:path>
              <a:path w="64134" h="18414">
                <a:moveTo>
                  <a:pt x="22860" y="4572"/>
                </a:moveTo>
                <a:lnTo>
                  <a:pt x="21336" y="4572"/>
                </a:lnTo>
                <a:lnTo>
                  <a:pt x="22764" y="7429"/>
                </a:lnTo>
                <a:lnTo>
                  <a:pt x="22860" y="13715"/>
                </a:lnTo>
                <a:lnTo>
                  <a:pt x="22352" y="14224"/>
                </a:lnTo>
                <a:lnTo>
                  <a:pt x="24384" y="13715"/>
                </a:lnTo>
                <a:lnTo>
                  <a:pt x="22860" y="4572"/>
                </a:lnTo>
                <a:close/>
              </a:path>
              <a:path w="64134" h="18414">
                <a:moveTo>
                  <a:pt x="12192" y="11429"/>
                </a:moveTo>
                <a:lnTo>
                  <a:pt x="12192" y="13715"/>
                </a:lnTo>
                <a:lnTo>
                  <a:pt x="12954" y="14097"/>
                </a:lnTo>
                <a:lnTo>
                  <a:pt x="12192" y="11429"/>
                </a:lnTo>
                <a:close/>
              </a:path>
              <a:path w="64134" h="18414">
                <a:moveTo>
                  <a:pt x="17115" y="7033"/>
                </a:moveTo>
                <a:lnTo>
                  <a:pt x="18097" y="13906"/>
                </a:lnTo>
                <a:lnTo>
                  <a:pt x="18288" y="13715"/>
                </a:lnTo>
                <a:lnTo>
                  <a:pt x="18288" y="7619"/>
                </a:lnTo>
                <a:lnTo>
                  <a:pt x="17115" y="7033"/>
                </a:lnTo>
                <a:close/>
              </a:path>
              <a:path w="64134" h="18414">
                <a:moveTo>
                  <a:pt x="21336" y="4572"/>
                </a:moveTo>
                <a:lnTo>
                  <a:pt x="19812" y="6095"/>
                </a:lnTo>
                <a:lnTo>
                  <a:pt x="19812" y="12191"/>
                </a:lnTo>
                <a:lnTo>
                  <a:pt x="21336" y="13715"/>
                </a:lnTo>
                <a:lnTo>
                  <a:pt x="22860" y="13715"/>
                </a:lnTo>
                <a:lnTo>
                  <a:pt x="22764" y="7429"/>
                </a:lnTo>
                <a:lnTo>
                  <a:pt x="21336" y="4572"/>
                </a:lnTo>
                <a:close/>
              </a:path>
              <a:path w="64134" h="18414">
                <a:moveTo>
                  <a:pt x="28575" y="3429"/>
                </a:moveTo>
                <a:lnTo>
                  <a:pt x="22860" y="4572"/>
                </a:lnTo>
                <a:lnTo>
                  <a:pt x="24384" y="13715"/>
                </a:lnTo>
                <a:lnTo>
                  <a:pt x="27432" y="13715"/>
                </a:lnTo>
                <a:lnTo>
                  <a:pt x="28194" y="12953"/>
                </a:lnTo>
                <a:lnTo>
                  <a:pt x="25908" y="10667"/>
                </a:lnTo>
                <a:lnTo>
                  <a:pt x="25908" y="6095"/>
                </a:lnTo>
                <a:lnTo>
                  <a:pt x="28575" y="3429"/>
                </a:lnTo>
                <a:close/>
              </a:path>
              <a:path w="64134" h="18414">
                <a:moveTo>
                  <a:pt x="28194" y="12953"/>
                </a:moveTo>
                <a:lnTo>
                  <a:pt x="27432" y="13715"/>
                </a:lnTo>
                <a:lnTo>
                  <a:pt x="28956" y="13715"/>
                </a:lnTo>
                <a:lnTo>
                  <a:pt x="28194" y="12953"/>
                </a:lnTo>
                <a:close/>
              </a:path>
              <a:path w="64134" h="18414">
                <a:moveTo>
                  <a:pt x="29038" y="3336"/>
                </a:moveTo>
                <a:lnTo>
                  <a:pt x="28575" y="3429"/>
                </a:lnTo>
                <a:lnTo>
                  <a:pt x="27432" y="4572"/>
                </a:lnTo>
                <a:lnTo>
                  <a:pt x="28956" y="6095"/>
                </a:lnTo>
                <a:lnTo>
                  <a:pt x="28956" y="12191"/>
                </a:lnTo>
                <a:lnTo>
                  <a:pt x="28194" y="12953"/>
                </a:lnTo>
                <a:lnTo>
                  <a:pt x="28956" y="13715"/>
                </a:lnTo>
                <a:lnTo>
                  <a:pt x="30480" y="13715"/>
                </a:lnTo>
                <a:lnTo>
                  <a:pt x="30436" y="8229"/>
                </a:lnTo>
                <a:lnTo>
                  <a:pt x="29038" y="3336"/>
                </a:lnTo>
                <a:close/>
              </a:path>
              <a:path w="64134" h="18414">
                <a:moveTo>
                  <a:pt x="30480" y="8382"/>
                </a:moveTo>
                <a:lnTo>
                  <a:pt x="30480" y="13715"/>
                </a:lnTo>
                <a:lnTo>
                  <a:pt x="32004" y="13715"/>
                </a:lnTo>
                <a:lnTo>
                  <a:pt x="30480" y="8382"/>
                </a:lnTo>
                <a:close/>
              </a:path>
              <a:path w="64134" h="18414">
                <a:moveTo>
                  <a:pt x="33527" y="3048"/>
                </a:moveTo>
                <a:lnTo>
                  <a:pt x="30480" y="3048"/>
                </a:lnTo>
                <a:lnTo>
                  <a:pt x="30588" y="8762"/>
                </a:lnTo>
                <a:lnTo>
                  <a:pt x="32004" y="13715"/>
                </a:lnTo>
                <a:lnTo>
                  <a:pt x="33832" y="13106"/>
                </a:lnTo>
                <a:lnTo>
                  <a:pt x="34289" y="12191"/>
                </a:lnTo>
                <a:lnTo>
                  <a:pt x="33527" y="12191"/>
                </a:lnTo>
                <a:lnTo>
                  <a:pt x="32131" y="9397"/>
                </a:lnTo>
                <a:lnTo>
                  <a:pt x="32004" y="4572"/>
                </a:lnTo>
                <a:lnTo>
                  <a:pt x="33527" y="3048"/>
                </a:lnTo>
                <a:close/>
              </a:path>
              <a:path w="64134" h="18414">
                <a:moveTo>
                  <a:pt x="33832" y="13106"/>
                </a:moveTo>
                <a:lnTo>
                  <a:pt x="32004" y="13715"/>
                </a:lnTo>
                <a:lnTo>
                  <a:pt x="33527" y="13715"/>
                </a:lnTo>
                <a:lnTo>
                  <a:pt x="33832" y="13106"/>
                </a:lnTo>
                <a:close/>
              </a:path>
              <a:path w="64134" h="18414">
                <a:moveTo>
                  <a:pt x="35051" y="3048"/>
                </a:moveTo>
                <a:lnTo>
                  <a:pt x="33527" y="3048"/>
                </a:lnTo>
                <a:lnTo>
                  <a:pt x="35051" y="6095"/>
                </a:lnTo>
                <a:lnTo>
                  <a:pt x="35051" y="10667"/>
                </a:lnTo>
                <a:lnTo>
                  <a:pt x="33832" y="13106"/>
                </a:lnTo>
                <a:lnTo>
                  <a:pt x="36575" y="12191"/>
                </a:lnTo>
                <a:lnTo>
                  <a:pt x="35051" y="3048"/>
                </a:lnTo>
                <a:close/>
              </a:path>
              <a:path w="64134" h="18414">
                <a:moveTo>
                  <a:pt x="27432" y="4572"/>
                </a:moveTo>
                <a:lnTo>
                  <a:pt x="25908" y="6095"/>
                </a:lnTo>
                <a:lnTo>
                  <a:pt x="25908" y="10667"/>
                </a:lnTo>
                <a:lnTo>
                  <a:pt x="28194" y="12953"/>
                </a:lnTo>
                <a:lnTo>
                  <a:pt x="28956" y="12191"/>
                </a:lnTo>
                <a:lnTo>
                  <a:pt x="28956" y="6095"/>
                </a:lnTo>
                <a:lnTo>
                  <a:pt x="27432" y="4572"/>
                </a:lnTo>
                <a:close/>
              </a:path>
              <a:path w="64134" h="18414">
                <a:moveTo>
                  <a:pt x="33527" y="3048"/>
                </a:moveTo>
                <a:lnTo>
                  <a:pt x="32004" y="4572"/>
                </a:lnTo>
                <a:lnTo>
                  <a:pt x="32131" y="9397"/>
                </a:lnTo>
                <a:lnTo>
                  <a:pt x="33527" y="12191"/>
                </a:lnTo>
                <a:lnTo>
                  <a:pt x="34289" y="12191"/>
                </a:lnTo>
                <a:lnTo>
                  <a:pt x="35051" y="10667"/>
                </a:lnTo>
                <a:lnTo>
                  <a:pt x="35051" y="6095"/>
                </a:lnTo>
                <a:lnTo>
                  <a:pt x="33527" y="3048"/>
                </a:lnTo>
                <a:close/>
              </a:path>
              <a:path w="64134" h="18414">
                <a:moveTo>
                  <a:pt x="38100" y="3048"/>
                </a:moveTo>
                <a:lnTo>
                  <a:pt x="35051" y="3048"/>
                </a:lnTo>
                <a:lnTo>
                  <a:pt x="36575" y="12191"/>
                </a:lnTo>
                <a:lnTo>
                  <a:pt x="38861" y="11429"/>
                </a:lnTo>
                <a:lnTo>
                  <a:pt x="39624" y="10667"/>
                </a:lnTo>
                <a:lnTo>
                  <a:pt x="38100" y="10667"/>
                </a:lnTo>
                <a:lnTo>
                  <a:pt x="36575" y="9143"/>
                </a:lnTo>
                <a:lnTo>
                  <a:pt x="36575" y="4572"/>
                </a:lnTo>
                <a:lnTo>
                  <a:pt x="38100" y="3048"/>
                </a:lnTo>
                <a:close/>
              </a:path>
              <a:path w="64134" h="18414">
                <a:moveTo>
                  <a:pt x="38861" y="11429"/>
                </a:moveTo>
                <a:lnTo>
                  <a:pt x="36575" y="12191"/>
                </a:lnTo>
                <a:lnTo>
                  <a:pt x="38100" y="12191"/>
                </a:lnTo>
                <a:lnTo>
                  <a:pt x="38861" y="11429"/>
                </a:lnTo>
                <a:close/>
              </a:path>
              <a:path w="64134" h="18414">
                <a:moveTo>
                  <a:pt x="11277" y="8229"/>
                </a:moveTo>
                <a:lnTo>
                  <a:pt x="12192" y="11429"/>
                </a:lnTo>
                <a:lnTo>
                  <a:pt x="12192" y="9143"/>
                </a:lnTo>
                <a:lnTo>
                  <a:pt x="11277" y="8229"/>
                </a:lnTo>
                <a:close/>
              </a:path>
              <a:path w="64134" h="18414">
                <a:moveTo>
                  <a:pt x="40894" y="9397"/>
                </a:moveTo>
                <a:lnTo>
                  <a:pt x="38861" y="11429"/>
                </a:lnTo>
                <a:lnTo>
                  <a:pt x="41148" y="10667"/>
                </a:lnTo>
                <a:lnTo>
                  <a:pt x="40894" y="9397"/>
                </a:lnTo>
                <a:close/>
              </a:path>
              <a:path w="64134" h="18414">
                <a:moveTo>
                  <a:pt x="38100" y="3048"/>
                </a:moveTo>
                <a:lnTo>
                  <a:pt x="36575" y="4572"/>
                </a:lnTo>
                <a:lnTo>
                  <a:pt x="36575" y="9143"/>
                </a:lnTo>
                <a:lnTo>
                  <a:pt x="38100" y="10667"/>
                </a:lnTo>
                <a:lnTo>
                  <a:pt x="39624" y="10667"/>
                </a:lnTo>
                <a:lnTo>
                  <a:pt x="40894" y="9397"/>
                </a:lnTo>
                <a:lnTo>
                  <a:pt x="40767" y="8762"/>
                </a:lnTo>
                <a:lnTo>
                  <a:pt x="39624" y="7619"/>
                </a:lnTo>
                <a:lnTo>
                  <a:pt x="39624" y="3810"/>
                </a:lnTo>
                <a:lnTo>
                  <a:pt x="38100" y="3048"/>
                </a:lnTo>
                <a:close/>
              </a:path>
              <a:path w="64134" h="18414">
                <a:moveTo>
                  <a:pt x="42672" y="1524"/>
                </a:moveTo>
                <a:lnTo>
                  <a:pt x="39624" y="3048"/>
                </a:lnTo>
                <a:lnTo>
                  <a:pt x="39793" y="3894"/>
                </a:lnTo>
                <a:lnTo>
                  <a:pt x="41148" y="4572"/>
                </a:lnTo>
                <a:lnTo>
                  <a:pt x="41148" y="9143"/>
                </a:lnTo>
                <a:lnTo>
                  <a:pt x="40894" y="9397"/>
                </a:lnTo>
                <a:lnTo>
                  <a:pt x="41148" y="10667"/>
                </a:lnTo>
                <a:lnTo>
                  <a:pt x="44196" y="9143"/>
                </a:lnTo>
                <a:lnTo>
                  <a:pt x="43052" y="3429"/>
                </a:lnTo>
                <a:lnTo>
                  <a:pt x="42672" y="3048"/>
                </a:lnTo>
                <a:lnTo>
                  <a:pt x="42976" y="3048"/>
                </a:lnTo>
                <a:lnTo>
                  <a:pt x="42672" y="1524"/>
                </a:lnTo>
                <a:close/>
              </a:path>
              <a:path w="64134" h="18414">
                <a:moveTo>
                  <a:pt x="44196" y="9143"/>
                </a:moveTo>
                <a:lnTo>
                  <a:pt x="41148" y="10667"/>
                </a:lnTo>
                <a:lnTo>
                  <a:pt x="42672" y="10667"/>
                </a:lnTo>
                <a:lnTo>
                  <a:pt x="44196" y="9143"/>
                </a:lnTo>
                <a:close/>
              </a:path>
              <a:path w="64134" h="18414">
                <a:moveTo>
                  <a:pt x="40767" y="8762"/>
                </a:moveTo>
                <a:lnTo>
                  <a:pt x="40894" y="9397"/>
                </a:lnTo>
                <a:lnTo>
                  <a:pt x="41148" y="9143"/>
                </a:lnTo>
                <a:lnTo>
                  <a:pt x="40767" y="8762"/>
                </a:lnTo>
                <a:close/>
              </a:path>
              <a:path w="64134" h="18414">
                <a:moveTo>
                  <a:pt x="14732" y="5079"/>
                </a:moveTo>
                <a:lnTo>
                  <a:pt x="10668" y="6095"/>
                </a:lnTo>
                <a:lnTo>
                  <a:pt x="11277" y="8229"/>
                </a:lnTo>
                <a:lnTo>
                  <a:pt x="12192" y="9143"/>
                </a:lnTo>
                <a:lnTo>
                  <a:pt x="12192" y="7619"/>
                </a:lnTo>
                <a:lnTo>
                  <a:pt x="12382" y="7429"/>
                </a:lnTo>
                <a:lnTo>
                  <a:pt x="12192" y="6095"/>
                </a:lnTo>
                <a:lnTo>
                  <a:pt x="13716" y="6095"/>
                </a:lnTo>
                <a:lnTo>
                  <a:pt x="14732" y="5079"/>
                </a:lnTo>
                <a:close/>
              </a:path>
              <a:path w="64134" h="18414">
                <a:moveTo>
                  <a:pt x="39793" y="3894"/>
                </a:moveTo>
                <a:lnTo>
                  <a:pt x="40767" y="8762"/>
                </a:lnTo>
                <a:lnTo>
                  <a:pt x="41148" y="9143"/>
                </a:lnTo>
                <a:lnTo>
                  <a:pt x="41148" y="4572"/>
                </a:lnTo>
                <a:lnTo>
                  <a:pt x="39793" y="3894"/>
                </a:lnTo>
                <a:close/>
              </a:path>
              <a:path w="64134" h="18414">
                <a:moveTo>
                  <a:pt x="43052" y="3429"/>
                </a:moveTo>
                <a:lnTo>
                  <a:pt x="44196" y="9143"/>
                </a:lnTo>
                <a:lnTo>
                  <a:pt x="44196" y="4572"/>
                </a:lnTo>
                <a:lnTo>
                  <a:pt x="43052" y="3429"/>
                </a:lnTo>
                <a:close/>
              </a:path>
              <a:path w="64134" h="18414">
                <a:moveTo>
                  <a:pt x="48387" y="380"/>
                </a:moveTo>
                <a:lnTo>
                  <a:pt x="42672" y="1524"/>
                </a:lnTo>
                <a:lnTo>
                  <a:pt x="43052" y="3429"/>
                </a:lnTo>
                <a:lnTo>
                  <a:pt x="44196" y="4572"/>
                </a:lnTo>
                <a:lnTo>
                  <a:pt x="44196" y="9143"/>
                </a:lnTo>
                <a:lnTo>
                  <a:pt x="45720" y="9143"/>
                </a:lnTo>
                <a:lnTo>
                  <a:pt x="47244" y="7619"/>
                </a:lnTo>
                <a:lnTo>
                  <a:pt x="45720" y="6095"/>
                </a:lnTo>
                <a:lnTo>
                  <a:pt x="45720" y="3048"/>
                </a:lnTo>
                <a:lnTo>
                  <a:pt x="46481" y="2286"/>
                </a:lnTo>
                <a:lnTo>
                  <a:pt x="45720" y="1524"/>
                </a:lnTo>
                <a:lnTo>
                  <a:pt x="47244" y="1524"/>
                </a:lnTo>
                <a:lnTo>
                  <a:pt x="48387" y="380"/>
                </a:lnTo>
                <a:close/>
              </a:path>
              <a:path w="64134" h="18414">
                <a:moveTo>
                  <a:pt x="47244" y="7619"/>
                </a:moveTo>
                <a:lnTo>
                  <a:pt x="45720" y="9143"/>
                </a:lnTo>
                <a:lnTo>
                  <a:pt x="48768" y="9143"/>
                </a:lnTo>
                <a:lnTo>
                  <a:pt x="47244" y="7619"/>
                </a:lnTo>
                <a:close/>
              </a:path>
              <a:path w="64134" h="18414">
                <a:moveTo>
                  <a:pt x="50292" y="0"/>
                </a:moveTo>
                <a:lnTo>
                  <a:pt x="48387" y="380"/>
                </a:lnTo>
                <a:lnTo>
                  <a:pt x="46481" y="2286"/>
                </a:lnTo>
                <a:lnTo>
                  <a:pt x="47244" y="3048"/>
                </a:lnTo>
                <a:lnTo>
                  <a:pt x="47244" y="7619"/>
                </a:lnTo>
                <a:lnTo>
                  <a:pt x="48768" y="9143"/>
                </a:lnTo>
                <a:lnTo>
                  <a:pt x="50292" y="9143"/>
                </a:lnTo>
                <a:lnTo>
                  <a:pt x="48768" y="1524"/>
                </a:lnTo>
                <a:lnTo>
                  <a:pt x="50292" y="1015"/>
                </a:lnTo>
                <a:lnTo>
                  <a:pt x="50292" y="0"/>
                </a:lnTo>
                <a:close/>
              </a:path>
              <a:path w="64134" h="18414">
                <a:moveTo>
                  <a:pt x="50292" y="1015"/>
                </a:moveTo>
                <a:lnTo>
                  <a:pt x="48768" y="1524"/>
                </a:lnTo>
                <a:lnTo>
                  <a:pt x="50292" y="9143"/>
                </a:lnTo>
                <a:lnTo>
                  <a:pt x="50292" y="1015"/>
                </a:lnTo>
                <a:close/>
              </a:path>
              <a:path w="64134" h="18414">
                <a:moveTo>
                  <a:pt x="50292" y="6095"/>
                </a:moveTo>
                <a:lnTo>
                  <a:pt x="50292" y="9143"/>
                </a:lnTo>
                <a:lnTo>
                  <a:pt x="52120" y="8534"/>
                </a:lnTo>
                <a:lnTo>
                  <a:pt x="52577" y="7619"/>
                </a:lnTo>
                <a:lnTo>
                  <a:pt x="51816" y="7619"/>
                </a:lnTo>
                <a:lnTo>
                  <a:pt x="50292" y="6095"/>
                </a:lnTo>
                <a:close/>
              </a:path>
              <a:path w="64134" h="18414">
                <a:moveTo>
                  <a:pt x="52120" y="8534"/>
                </a:moveTo>
                <a:lnTo>
                  <a:pt x="50292" y="9143"/>
                </a:lnTo>
                <a:lnTo>
                  <a:pt x="51816" y="9143"/>
                </a:lnTo>
                <a:lnTo>
                  <a:pt x="52120" y="8534"/>
                </a:lnTo>
                <a:close/>
              </a:path>
              <a:path w="64134" h="18414">
                <a:moveTo>
                  <a:pt x="39624" y="3810"/>
                </a:moveTo>
                <a:lnTo>
                  <a:pt x="39624" y="7619"/>
                </a:lnTo>
                <a:lnTo>
                  <a:pt x="40767" y="8762"/>
                </a:lnTo>
                <a:lnTo>
                  <a:pt x="39793" y="3894"/>
                </a:lnTo>
                <a:lnTo>
                  <a:pt x="39624" y="3810"/>
                </a:lnTo>
                <a:close/>
              </a:path>
              <a:path w="64134" h="18414">
                <a:moveTo>
                  <a:pt x="53340" y="0"/>
                </a:moveTo>
                <a:lnTo>
                  <a:pt x="52033" y="435"/>
                </a:lnTo>
                <a:lnTo>
                  <a:pt x="53340" y="3048"/>
                </a:lnTo>
                <a:lnTo>
                  <a:pt x="53340" y="6095"/>
                </a:lnTo>
                <a:lnTo>
                  <a:pt x="52120" y="8534"/>
                </a:lnTo>
                <a:lnTo>
                  <a:pt x="54864" y="7619"/>
                </a:lnTo>
                <a:lnTo>
                  <a:pt x="53340" y="0"/>
                </a:lnTo>
                <a:close/>
              </a:path>
              <a:path w="64134" h="18414">
                <a:moveTo>
                  <a:pt x="30480" y="3048"/>
                </a:moveTo>
                <a:lnTo>
                  <a:pt x="29038" y="3336"/>
                </a:lnTo>
                <a:lnTo>
                  <a:pt x="30480" y="8382"/>
                </a:lnTo>
                <a:lnTo>
                  <a:pt x="30480" y="3048"/>
                </a:lnTo>
                <a:close/>
              </a:path>
              <a:path w="64134" h="18414">
                <a:moveTo>
                  <a:pt x="10668" y="6095"/>
                </a:moveTo>
                <a:lnTo>
                  <a:pt x="9144" y="6095"/>
                </a:lnTo>
                <a:lnTo>
                  <a:pt x="11277" y="8229"/>
                </a:lnTo>
                <a:lnTo>
                  <a:pt x="10668" y="6095"/>
                </a:lnTo>
                <a:close/>
              </a:path>
              <a:path w="64134" h="18414">
                <a:moveTo>
                  <a:pt x="46481" y="2286"/>
                </a:moveTo>
                <a:lnTo>
                  <a:pt x="45720" y="3048"/>
                </a:lnTo>
                <a:lnTo>
                  <a:pt x="45720" y="6095"/>
                </a:lnTo>
                <a:lnTo>
                  <a:pt x="47244" y="7619"/>
                </a:lnTo>
                <a:lnTo>
                  <a:pt x="47244" y="3048"/>
                </a:lnTo>
                <a:lnTo>
                  <a:pt x="46481" y="2286"/>
                </a:lnTo>
                <a:close/>
              </a:path>
              <a:path w="64134" h="18414">
                <a:moveTo>
                  <a:pt x="52033" y="435"/>
                </a:moveTo>
                <a:lnTo>
                  <a:pt x="51054" y="762"/>
                </a:lnTo>
                <a:lnTo>
                  <a:pt x="50292" y="1524"/>
                </a:lnTo>
                <a:lnTo>
                  <a:pt x="50292" y="6095"/>
                </a:lnTo>
                <a:lnTo>
                  <a:pt x="51816" y="7619"/>
                </a:lnTo>
                <a:lnTo>
                  <a:pt x="52577" y="7619"/>
                </a:lnTo>
                <a:lnTo>
                  <a:pt x="53340" y="6095"/>
                </a:lnTo>
                <a:lnTo>
                  <a:pt x="53340" y="3048"/>
                </a:lnTo>
                <a:lnTo>
                  <a:pt x="52033" y="435"/>
                </a:lnTo>
                <a:close/>
              </a:path>
              <a:path w="64134" h="18414">
                <a:moveTo>
                  <a:pt x="54864" y="0"/>
                </a:moveTo>
                <a:lnTo>
                  <a:pt x="53340" y="0"/>
                </a:lnTo>
                <a:lnTo>
                  <a:pt x="54864" y="7619"/>
                </a:lnTo>
                <a:lnTo>
                  <a:pt x="54864" y="0"/>
                </a:lnTo>
                <a:close/>
              </a:path>
              <a:path w="64134" h="18414">
                <a:moveTo>
                  <a:pt x="56388" y="0"/>
                </a:moveTo>
                <a:lnTo>
                  <a:pt x="54864" y="0"/>
                </a:lnTo>
                <a:lnTo>
                  <a:pt x="54864" y="7619"/>
                </a:lnTo>
                <a:lnTo>
                  <a:pt x="56388" y="7619"/>
                </a:lnTo>
                <a:lnTo>
                  <a:pt x="57912" y="6095"/>
                </a:lnTo>
                <a:lnTo>
                  <a:pt x="57912" y="1524"/>
                </a:lnTo>
                <a:lnTo>
                  <a:pt x="56388" y="0"/>
                </a:lnTo>
                <a:close/>
              </a:path>
              <a:path w="64134" h="18414">
                <a:moveTo>
                  <a:pt x="57912" y="6095"/>
                </a:moveTo>
                <a:lnTo>
                  <a:pt x="56388" y="7619"/>
                </a:lnTo>
                <a:lnTo>
                  <a:pt x="59436" y="7619"/>
                </a:lnTo>
                <a:lnTo>
                  <a:pt x="57912" y="6095"/>
                </a:lnTo>
                <a:close/>
              </a:path>
              <a:path w="64134" h="18414">
                <a:moveTo>
                  <a:pt x="60960" y="0"/>
                </a:moveTo>
                <a:lnTo>
                  <a:pt x="59436" y="0"/>
                </a:lnTo>
                <a:lnTo>
                  <a:pt x="57912" y="1524"/>
                </a:lnTo>
                <a:lnTo>
                  <a:pt x="57912" y="6095"/>
                </a:lnTo>
                <a:lnTo>
                  <a:pt x="59436" y="7619"/>
                </a:lnTo>
                <a:lnTo>
                  <a:pt x="60960" y="7619"/>
                </a:lnTo>
                <a:lnTo>
                  <a:pt x="60960" y="0"/>
                </a:lnTo>
                <a:close/>
              </a:path>
              <a:path w="64134" h="18414">
                <a:moveTo>
                  <a:pt x="62484" y="0"/>
                </a:moveTo>
                <a:lnTo>
                  <a:pt x="60960" y="0"/>
                </a:lnTo>
                <a:lnTo>
                  <a:pt x="60960" y="7619"/>
                </a:lnTo>
                <a:lnTo>
                  <a:pt x="62484" y="7619"/>
                </a:lnTo>
                <a:lnTo>
                  <a:pt x="64008" y="6095"/>
                </a:lnTo>
                <a:lnTo>
                  <a:pt x="64008" y="1524"/>
                </a:lnTo>
                <a:lnTo>
                  <a:pt x="62484" y="0"/>
                </a:lnTo>
                <a:close/>
              </a:path>
              <a:path w="64134" h="18414">
                <a:moveTo>
                  <a:pt x="13716" y="6095"/>
                </a:moveTo>
                <a:lnTo>
                  <a:pt x="12192" y="6095"/>
                </a:lnTo>
                <a:lnTo>
                  <a:pt x="12382" y="7429"/>
                </a:lnTo>
                <a:lnTo>
                  <a:pt x="13716" y="6095"/>
                </a:lnTo>
                <a:close/>
              </a:path>
              <a:path w="64134" h="18414">
                <a:moveTo>
                  <a:pt x="16981" y="6095"/>
                </a:moveTo>
                <a:lnTo>
                  <a:pt x="15240" y="6095"/>
                </a:lnTo>
                <a:lnTo>
                  <a:pt x="17115" y="7033"/>
                </a:lnTo>
                <a:lnTo>
                  <a:pt x="16981" y="6095"/>
                </a:lnTo>
                <a:close/>
              </a:path>
              <a:path w="64134" h="18414">
                <a:moveTo>
                  <a:pt x="16764" y="4572"/>
                </a:moveTo>
                <a:lnTo>
                  <a:pt x="15240" y="4572"/>
                </a:lnTo>
                <a:lnTo>
                  <a:pt x="14732" y="5079"/>
                </a:lnTo>
                <a:lnTo>
                  <a:pt x="16764" y="4572"/>
                </a:lnTo>
                <a:close/>
              </a:path>
              <a:path w="64134" h="18414">
                <a:moveTo>
                  <a:pt x="39624" y="3048"/>
                </a:moveTo>
                <a:lnTo>
                  <a:pt x="39624" y="3810"/>
                </a:lnTo>
                <a:lnTo>
                  <a:pt x="39793" y="3894"/>
                </a:lnTo>
                <a:lnTo>
                  <a:pt x="39624" y="3048"/>
                </a:lnTo>
                <a:close/>
              </a:path>
              <a:path w="64134" h="18414">
                <a:moveTo>
                  <a:pt x="39624" y="3048"/>
                </a:moveTo>
                <a:lnTo>
                  <a:pt x="38100" y="3048"/>
                </a:lnTo>
                <a:lnTo>
                  <a:pt x="39624" y="3810"/>
                </a:lnTo>
                <a:lnTo>
                  <a:pt x="39624" y="3048"/>
                </a:lnTo>
                <a:close/>
              </a:path>
              <a:path w="64134" h="18414">
                <a:moveTo>
                  <a:pt x="28956" y="3048"/>
                </a:moveTo>
                <a:lnTo>
                  <a:pt x="28575" y="3429"/>
                </a:lnTo>
                <a:lnTo>
                  <a:pt x="29038" y="3336"/>
                </a:lnTo>
                <a:lnTo>
                  <a:pt x="28956" y="3048"/>
                </a:lnTo>
                <a:close/>
              </a:path>
              <a:path w="64134" h="18414">
                <a:moveTo>
                  <a:pt x="42976" y="3048"/>
                </a:moveTo>
                <a:lnTo>
                  <a:pt x="42672" y="3048"/>
                </a:lnTo>
                <a:lnTo>
                  <a:pt x="43052" y="3429"/>
                </a:lnTo>
                <a:lnTo>
                  <a:pt x="42976" y="3048"/>
                </a:lnTo>
                <a:close/>
              </a:path>
              <a:path w="64134" h="18414">
                <a:moveTo>
                  <a:pt x="30480" y="3048"/>
                </a:moveTo>
                <a:lnTo>
                  <a:pt x="28956" y="3048"/>
                </a:lnTo>
                <a:lnTo>
                  <a:pt x="29038" y="3336"/>
                </a:lnTo>
                <a:lnTo>
                  <a:pt x="30480" y="3048"/>
                </a:lnTo>
                <a:close/>
              </a:path>
              <a:path w="64134" h="18414">
                <a:moveTo>
                  <a:pt x="42672" y="1524"/>
                </a:moveTo>
                <a:lnTo>
                  <a:pt x="41148" y="1524"/>
                </a:lnTo>
                <a:lnTo>
                  <a:pt x="39624" y="3048"/>
                </a:lnTo>
                <a:lnTo>
                  <a:pt x="42672" y="1524"/>
                </a:lnTo>
                <a:close/>
              </a:path>
              <a:path w="64134" h="18414">
                <a:moveTo>
                  <a:pt x="47244" y="1524"/>
                </a:moveTo>
                <a:lnTo>
                  <a:pt x="45720" y="1524"/>
                </a:lnTo>
                <a:lnTo>
                  <a:pt x="46481" y="2286"/>
                </a:lnTo>
                <a:lnTo>
                  <a:pt x="47244" y="1524"/>
                </a:lnTo>
                <a:close/>
              </a:path>
              <a:path w="64134" h="18414">
                <a:moveTo>
                  <a:pt x="51054" y="762"/>
                </a:moveTo>
                <a:lnTo>
                  <a:pt x="50292" y="1015"/>
                </a:lnTo>
                <a:lnTo>
                  <a:pt x="50292" y="1524"/>
                </a:lnTo>
                <a:lnTo>
                  <a:pt x="51054" y="762"/>
                </a:lnTo>
                <a:close/>
              </a:path>
              <a:path w="64134" h="18414">
                <a:moveTo>
                  <a:pt x="59436" y="0"/>
                </a:moveTo>
                <a:lnTo>
                  <a:pt x="56388" y="0"/>
                </a:lnTo>
                <a:lnTo>
                  <a:pt x="57912" y="1524"/>
                </a:lnTo>
                <a:lnTo>
                  <a:pt x="59436" y="0"/>
                </a:lnTo>
                <a:close/>
              </a:path>
              <a:path w="64134" h="18414">
                <a:moveTo>
                  <a:pt x="51816" y="0"/>
                </a:moveTo>
                <a:lnTo>
                  <a:pt x="50292" y="0"/>
                </a:lnTo>
                <a:lnTo>
                  <a:pt x="50292" y="1015"/>
                </a:lnTo>
                <a:lnTo>
                  <a:pt x="51054" y="762"/>
                </a:lnTo>
                <a:lnTo>
                  <a:pt x="51816" y="0"/>
                </a:lnTo>
                <a:close/>
              </a:path>
              <a:path w="64134" h="18414">
                <a:moveTo>
                  <a:pt x="51816" y="0"/>
                </a:moveTo>
                <a:lnTo>
                  <a:pt x="51054" y="762"/>
                </a:lnTo>
                <a:lnTo>
                  <a:pt x="52033" y="435"/>
                </a:lnTo>
                <a:lnTo>
                  <a:pt x="51816" y="0"/>
                </a:lnTo>
                <a:close/>
              </a:path>
              <a:path w="64134" h="18414">
                <a:moveTo>
                  <a:pt x="53340" y="0"/>
                </a:moveTo>
                <a:lnTo>
                  <a:pt x="51816" y="0"/>
                </a:lnTo>
                <a:lnTo>
                  <a:pt x="52033" y="435"/>
                </a:lnTo>
                <a:lnTo>
                  <a:pt x="53340" y="0"/>
                </a:lnTo>
                <a:close/>
              </a:path>
              <a:path w="64134" h="18414">
                <a:moveTo>
                  <a:pt x="50292" y="0"/>
                </a:moveTo>
                <a:lnTo>
                  <a:pt x="48768" y="0"/>
                </a:lnTo>
                <a:lnTo>
                  <a:pt x="48387" y="380"/>
                </a:lnTo>
                <a:lnTo>
                  <a:pt x="50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7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2330" y="918781"/>
            <a:ext cx="67919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Simple </a:t>
            </a:r>
            <a:r>
              <a:rPr spc="-165" dirty="0"/>
              <a:t>lock </a:t>
            </a:r>
            <a:r>
              <a:rPr spc="-220" dirty="0"/>
              <a:t>using</a:t>
            </a:r>
            <a:r>
              <a:rPr spc="-325" dirty="0"/>
              <a:t> </a:t>
            </a:r>
            <a:r>
              <a:rPr spc="-140" dirty="0"/>
              <a:t>test-and-set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65808"/>
            <a:ext cx="7525384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If</a:t>
            </a:r>
            <a:r>
              <a:rPr sz="2400" spc="-135" dirty="0">
                <a:latin typeface="Arial"/>
                <a:cs typeface="Arial"/>
              </a:rPr>
              <a:t> TestAndSet(flag,1)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returns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1,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it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means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lock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75" dirty="0">
                <a:latin typeface="Arial"/>
                <a:cs typeface="Arial"/>
              </a:rPr>
              <a:t>held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by  </a:t>
            </a:r>
            <a:r>
              <a:rPr sz="2400" spc="-125" dirty="0">
                <a:latin typeface="Arial"/>
                <a:cs typeface="Arial"/>
              </a:rPr>
              <a:t>someone else, </a:t>
            </a:r>
            <a:r>
              <a:rPr sz="2400" spc="-170" dirty="0">
                <a:latin typeface="Arial"/>
                <a:cs typeface="Arial"/>
              </a:rPr>
              <a:t>so </a:t>
            </a:r>
            <a:r>
              <a:rPr sz="2400" spc="-20" dirty="0">
                <a:latin typeface="Arial"/>
                <a:cs typeface="Arial"/>
              </a:rPr>
              <a:t>wait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busily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60" dirty="0">
                <a:latin typeface="Arial"/>
                <a:cs typeface="Arial"/>
              </a:rPr>
              <a:t>This </a:t>
            </a:r>
            <a:r>
              <a:rPr sz="2400" spc="-95" dirty="0">
                <a:latin typeface="Arial"/>
                <a:cs typeface="Arial"/>
              </a:rPr>
              <a:t>lock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95" dirty="0">
                <a:latin typeface="Arial"/>
                <a:cs typeface="Arial"/>
              </a:rPr>
              <a:t>called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00" dirty="0">
                <a:latin typeface="Arial"/>
                <a:cs typeface="Arial"/>
              </a:rPr>
              <a:t>spinlock </a:t>
            </a:r>
            <a:r>
              <a:rPr sz="2400" spc="-140" dirty="0">
                <a:latin typeface="Arial"/>
                <a:cs typeface="Arial"/>
              </a:rPr>
              <a:t>– </a:t>
            </a:r>
            <a:r>
              <a:rPr sz="2400" spc="-135" dirty="0">
                <a:latin typeface="Arial"/>
                <a:cs typeface="Arial"/>
              </a:rPr>
              <a:t>spins </a:t>
            </a:r>
            <a:r>
              <a:rPr sz="2400" spc="-5" dirty="0">
                <a:latin typeface="Arial"/>
                <a:cs typeface="Arial"/>
              </a:rPr>
              <a:t>until </a:t>
            </a:r>
            <a:r>
              <a:rPr sz="2400" spc="-95" dirty="0">
                <a:latin typeface="Arial"/>
                <a:cs typeface="Arial"/>
              </a:rPr>
              <a:t>lock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3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acquired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3189037"/>
            <a:ext cx="7592575" cy="41033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8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891" y="918781"/>
            <a:ext cx="77368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Spinlock </a:t>
            </a:r>
            <a:r>
              <a:rPr spc="-220" dirty="0"/>
              <a:t>using</a:t>
            </a:r>
            <a:r>
              <a:rPr spc="-250" dirty="0"/>
              <a:t> </a:t>
            </a:r>
            <a:r>
              <a:rPr spc="-204" dirty="0"/>
              <a:t>compare-and-swap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064512"/>
            <a:ext cx="82035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Arial"/>
                <a:cs typeface="Arial"/>
              </a:rPr>
              <a:t>Another </a:t>
            </a:r>
            <a:r>
              <a:rPr sz="3200" spc="-95" dirty="0">
                <a:latin typeface="Arial"/>
                <a:cs typeface="Arial"/>
              </a:rPr>
              <a:t>atomic </a:t>
            </a:r>
            <a:r>
              <a:rPr sz="3200" spc="-55" dirty="0">
                <a:latin typeface="Arial"/>
                <a:cs typeface="Arial"/>
              </a:rPr>
              <a:t>instruction:</a:t>
            </a:r>
            <a:r>
              <a:rPr sz="3200" spc="-290" dirty="0">
                <a:latin typeface="Arial"/>
                <a:cs typeface="Arial"/>
              </a:rPr>
              <a:t> </a:t>
            </a:r>
            <a:r>
              <a:rPr sz="3200" spc="-150" dirty="0">
                <a:latin typeface="Arial"/>
                <a:cs typeface="Arial"/>
              </a:rPr>
              <a:t>compare-and-swap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19427" y="2525267"/>
            <a:ext cx="7019544" cy="1362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0739" y="4405376"/>
            <a:ext cx="597852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355600" algn="l"/>
              </a:tabLst>
            </a:pPr>
            <a:r>
              <a:rPr lang="en-US" sz="3200" spc="-165" dirty="0" smtClean="0">
                <a:latin typeface="Arial"/>
                <a:cs typeface="Arial"/>
              </a:rPr>
              <a:t>                                                                                                   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19427" y="3886200"/>
            <a:ext cx="6562368" cy="455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47800" y="4542234"/>
            <a:ext cx="6513602" cy="932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447531" y="4495800"/>
            <a:ext cx="27940" cy="17145"/>
          </a:xfrm>
          <a:custGeom>
            <a:avLst/>
            <a:gdLst/>
            <a:ahLst/>
            <a:cxnLst/>
            <a:rect l="l" t="t" r="r" b="b"/>
            <a:pathLst>
              <a:path w="27940" h="17145">
                <a:moveTo>
                  <a:pt x="0" y="13715"/>
                </a:moveTo>
                <a:lnTo>
                  <a:pt x="3048" y="16763"/>
                </a:lnTo>
                <a:lnTo>
                  <a:pt x="1828" y="14935"/>
                </a:lnTo>
                <a:lnTo>
                  <a:pt x="0" y="13715"/>
                </a:lnTo>
                <a:close/>
              </a:path>
              <a:path w="27940" h="17145">
                <a:moveTo>
                  <a:pt x="1828" y="14935"/>
                </a:moveTo>
                <a:lnTo>
                  <a:pt x="3048" y="16763"/>
                </a:lnTo>
                <a:lnTo>
                  <a:pt x="4572" y="16763"/>
                </a:lnTo>
                <a:lnTo>
                  <a:pt x="1828" y="14935"/>
                </a:lnTo>
                <a:close/>
              </a:path>
              <a:path w="27940" h="17145">
                <a:moveTo>
                  <a:pt x="1524" y="3048"/>
                </a:moveTo>
                <a:lnTo>
                  <a:pt x="0" y="4572"/>
                </a:lnTo>
                <a:lnTo>
                  <a:pt x="0" y="12191"/>
                </a:lnTo>
                <a:lnTo>
                  <a:pt x="1828" y="14935"/>
                </a:lnTo>
                <a:lnTo>
                  <a:pt x="4572" y="16763"/>
                </a:lnTo>
                <a:lnTo>
                  <a:pt x="4572" y="15748"/>
                </a:lnTo>
                <a:lnTo>
                  <a:pt x="3810" y="15239"/>
                </a:lnTo>
                <a:lnTo>
                  <a:pt x="3048" y="15239"/>
                </a:lnTo>
                <a:lnTo>
                  <a:pt x="1524" y="13715"/>
                </a:lnTo>
                <a:lnTo>
                  <a:pt x="1524" y="3048"/>
                </a:lnTo>
                <a:close/>
              </a:path>
              <a:path w="27940" h="17145">
                <a:moveTo>
                  <a:pt x="4572" y="15748"/>
                </a:moveTo>
                <a:lnTo>
                  <a:pt x="4572" y="16763"/>
                </a:lnTo>
                <a:lnTo>
                  <a:pt x="6096" y="16763"/>
                </a:lnTo>
                <a:lnTo>
                  <a:pt x="4572" y="15748"/>
                </a:lnTo>
                <a:close/>
              </a:path>
              <a:path w="27940" h="17145">
                <a:moveTo>
                  <a:pt x="4572" y="13715"/>
                </a:moveTo>
                <a:lnTo>
                  <a:pt x="4572" y="15748"/>
                </a:lnTo>
                <a:lnTo>
                  <a:pt x="6096" y="16763"/>
                </a:lnTo>
                <a:lnTo>
                  <a:pt x="7620" y="16763"/>
                </a:lnTo>
                <a:lnTo>
                  <a:pt x="4572" y="13715"/>
                </a:lnTo>
                <a:close/>
              </a:path>
              <a:path w="27940" h="17145">
                <a:moveTo>
                  <a:pt x="7620" y="0"/>
                </a:moveTo>
                <a:lnTo>
                  <a:pt x="4572" y="4572"/>
                </a:lnTo>
                <a:lnTo>
                  <a:pt x="4572" y="13715"/>
                </a:lnTo>
                <a:lnTo>
                  <a:pt x="7620" y="16763"/>
                </a:lnTo>
                <a:lnTo>
                  <a:pt x="7620" y="15239"/>
                </a:lnTo>
                <a:lnTo>
                  <a:pt x="6096" y="13715"/>
                </a:lnTo>
                <a:lnTo>
                  <a:pt x="6096" y="4572"/>
                </a:lnTo>
                <a:lnTo>
                  <a:pt x="7620" y="3048"/>
                </a:lnTo>
                <a:lnTo>
                  <a:pt x="7620" y="0"/>
                </a:lnTo>
                <a:close/>
              </a:path>
              <a:path w="27940" h="17145">
                <a:moveTo>
                  <a:pt x="7620" y="15239"/>
                </a:moveTo>
                <a:lnTo>
                  <a:pt x="7620" y="16763"/>
                </a:lnTo>
                <a:lnTo>
                  <a:pt x="9144" y="16763"/>
                </a:lnTo>
                <a:lnTo>
                  <a:pt x="7620" y="15239"/>
                </a:lnTo>
                <a:close/>
              </a:path>
              <a:path w="27940" h="17145">
                <a:moveTo>
                  <a:pt x="9144" y="1524"/>
                </a:moveTo>
                <a:lnTo>
                  <a:pt x="7620" y="3048"/>
                </a:lnTo>
                <a:lnTo>
                  <a:pt x="7620" y="15239"/>
                </a:lnTo>
                <a:lnTo>
                  <a:pt x="9144" y="16763"/>
                </a:lnTo>
                <a:lnTo>
                  <a:pt x="9144" y="1524"/>
                </a:lnTo>
                <a:close/>
              </a:path>
              <a:path w="27940" h="17145">
                <a:moveTo>
                  <a:pt x="12192" y="0"/>
                </a:moveTo>
                <a:lnTo>
                  <a:pt x="9144" y="0"/>
                </a:lnTo>
                <a:lnTo>
                  <a:pt x="9144" y="16763"/>
                </a:lnTo>
                <a:lnTo>
                  <a:pt x="10668" y="16763"/>
                </a:lnTo>
                <a:lnTo>
                  <a:pt x="12192" y="14477"/>
                </a:lnTo>
                <a:lnTo>
                  <a:pt x="12192" y="9144"/>
                </a:lnTo>
                <a:lnTo>
                  <a:pt x="10668" y="1524"/>
                </a:lnTo>
                <a:lnTo>
                  <a:pt x="12192" y="1524"/>
                </a:lnTo>
                <a:lnTo>
                  <a:pt x="12192" y="0"/>
                </a:lnTo>
                <a:close/>
              </a:path>
              <a:path w="27940" h="17145">
                <a:moveTo>
                  <a:pt x="12192" y="14477"/>
                </a:moveTo>
                <a:lnTo>
                  <a:pt x="10668" y="16763"/>
                </a:lnTo>
                <a:lnTo>
                  <a:pt x="12192" y="16763"/>
                </a:lnTo>
                <a:lnTo>
                  <a:pt x="12192" y="14477"/>
                </a:lnTo>
                <a:close/>
              </a:path>
              <a:path w="27940" h="17145">
                <a:moveTo>
                  <a:pt x="13012" y="13247"/>
                </a:moveTo>
                <a:lnTo>
                  <a:pt x="12192" y="14477"/>
                </a:lnTo>
                <a:lnTo>
                  <a:pt x="12192" y="16763"/>
                </a:lnTo>
                <a:lnTo>
                  <a:pt x="13462" y="15493"/>
                </a:lnTo>
                <a:lnTo>
                  <a:pt x="13012" y="13247"/>
                </a:lnTo>
                <a:close/>
              </a:path>
              <a:path w="27940" h="17145">
                <a:moveTo>
                  <a:pt x="13462" y="15493"/>
                </a:moveTo>
                <a:lnTo>
                  <a:pt x="12192" y="16763"/>
                </a:lnTo>
                <a:lnTo>
                  <a:pt x="13716" y="16763"/>
                </a:lnTo>
                <a:lnTo>
                  <a:pt x="13462" y="15493"/>
                </a:lnTo>
                <a:close/>
              </a:path>
              <a:path w="27940" h="17145">
                <a:moveTo>
                  <a:pt x="15240" y="10667"/>
                </a:moveTo>
                <a:lnTo>
                  <a:pt x="15240" y="13715"/>
                </a:lnTo>
                <a:lnTo>
                  <a:pt x="13462" y="15493"/>
                </a:lnTo>
                <a:lnTo>
                  <a:pt x="13716" y="16763"/>
                </a:lnTo>
                <a:lnTo>
                  <a:pt x="16764" y="13715"/>
                </a:lnTo>
                <a:lnTo>
                  <a:pt x="15240" y="10667"/>
                </a:lnTo>
                <a:close/>
              </a:path>
              <a:path w="27940" h="17145">
                <a:moveTo>
                  <a:pt x="16459" y="1828"/>
                </a:moveTo>
                <a:lnTo>
                  <a:pt x="15544" y="2743"/>
                </a:lnTo>
                <a:lnTo>
                  <a:pt x="16764" y="4572"/>
                </a:lnTo>
                <a:lnTo>
                  <a:pt x="16764" y="13715"/>
                </a:lnTo>
                <a:lnTo>
                  <a:pt x="13716" y="16763"/>
                </a:lnTo>
                <a:lnTo>
                  <a:pt x="16256" y="15748"/>
                </a:lnTo>
                <a:lnTo>
                  <a:pt x="18288" y="13715"/>
                </a:lnTo>
                <a:lnTo>
                  <a:pt x="18288" y="4572"/>
                </a:lnTo>
                <a:lnTo>
                  <a:pt x="16459" y="1828"/>
                </a:lnTo>
                <a:close/>
              </a:path>
              <a:path w="27940" h="17145">
                <a:moveTo>
                  <a:pt x="16256" y="15748"/>
                </a:moveTo>
                <a:lnTo>
                  <a:pt x="13716" y="16763"/>
                </a:lnTo>
                <a:lnTo>
                  <a:pt x="15240" y="16763"/>
                </a:lnTo>
                <a:lnTo>
                  <a:pt x="16256" y="15748"/>
                </a:lnTo>
                <a:close/>
              </a:path>
              <a:path w="27940" h="17145">
                <a:moveTo>
                  <a:pt x="18796" y="14731"/>
                </a:moveTo>
                <a:lnTo>
                  <a:pt x="16256" y="15748"/>
                </a:lnTo>
                <a:lnTo>
                  <a:pt x="15240" y="16763"/>
                </a:lnTo>
                <a:lnTo>
                  <a:pt x="16764" y="16763"/>
                </a:lnTo>
                <a:lnTo>
                  <a:pt x="18796" y="14731"/>
                </a:lnTo>
                <a:close/>
              </a:path>
              <a:path w="27940" h="17145">
                <a:moveTo>
                  <a:pt x="21336" y="13715"/>
                </a:moveTo>
                <a:lnTo>
                  <a:pt x="18796" y="14731"/>
                </a:lnTo>
                <a:lnTo>
                  <a:pt x="16764" y="16763"/>
                </a:lnTo>
                <a:lnTo>
                  <a:pt x="21336" y="13715"/>
                </a:lnTo>
                <a:close/>
              </a:path>
              <a:path w="27940" h="17145">
                <a:moveTo>
                  <a:pt x="4572" y="1524"/>
                </a:moveTo>
                <a:lnTo>
                  <a:pt x="3048" y="3048"/>
                </a:lnTo>
                <a:lnTo>
                  <a:pt x="3048" y="14731"/>
                </a:lnTo>
                <a:lnTo>
                  <a:pt x="4572" y="15748"/>
                </a:lnTo>
                <a:lnTo>
                  <a:pt x="4572" y="1524"/>
                </a:lnTo>
                <a:close/>
              </a:path>
              <a:path w="27940" h="17145">
                <a:moveTo>
                  <a:pt x="16764" y="1524"/>
                </a:moveTo>
                <a:lnTo>
                  <a:pt x="16459" y="1828"/>
                </a:lnTo>
                <a:lnTo>
                  <a:pt x="18288" y="4572"/>
                </a:lnTo>
                <a:lnTo>
                  <a:pt x="18288" y="13715"/>
                </a:lnTo>
                <a:lnTo>
                  <a:pt x="16256" y="15748"/>
                </a:lnTo>
                <a:lnTo>
                  <a:pt x="18796" y="14731"/>
                </a:lnTo>
                <a:lnTo>
                  <a:pt x="19812" y="13715"/>
                </a:lnTo>
                <a:lnTo>
                  <a:pt x="19812" y="7620"/>
                </a:lnTo>
                <a:lnTo>
                  <a:pt x="18592" y="2743"/>
                </a:lnTo>
                <a:lnTo>
                  <a:pt x="16764" y="1524"/>
                </a:lnTo>
                <a:close/>
              </a:path>
              <a:path w="27940" h="17145">
                <a:moveTo>
                  <a:pt x="12192" y="1524"/>
                </a:moveTo>
                <a:lnTo>
                  <a:pt x="12192" y="3048"/>
                </a:lnTo>
                <a:lnTo>
                  <a:pt x="13716" y="4572"/>
                </a:lnTo>
                <a:lnTo>
                  <a:pt x="13716" y="12191"/>
                </a:lnTo>
                <a:lnTo>
                  <a:pt x="13012" y="13247"/>
                </a:lnTo>
                <a:lnTo>
                  <a:pt x="13462" y="15493"/>
                </a:lnTo>
                <a:lnTo>
                  <a:pt x="15240" y="13715"/>
                </a:lnTo>
                <a:lnTo>
                  <a:pt x="15240" y="4572"/>
                </a:lnTo>
                <a:lnTo>
                  <a:pt x="12192" y="1524"/>
                </a:lnTo>
                <a:close/>
              </a:path>
              <a:path w="27940" h="17145">
                <a:moveTo>
                  <a:pt x="1524" y="13715"/>
                </a:moveTo>
                <a:lnTo>
                  <a:pt x="3048" y="15239"/>
                </a:lnTo>
                <a:lnTo>
                  <a:pt x="3048" y="14731"/>
                </a:lnTo>
                <a:lnTo>
                  <a:pt x="1524" y="13715"/>
                </a:lnTo>
                <a:close/>
              </a:path>
              <a:path w="27940" h="17145">
                <a:moveTo>
                  <a:pt x="3048" y="14731"/>
                </a:moveTo>
                <a:lnTo>
                  <a:pt x="3048" y="15239"/>
                </a:lnTo>
                <a:lnTo>
                  <a:pt x="3810" y="15239"/>
                </a:lnTo>
                <a:lnTo>
                  <a:pt x="3048" y="14731"/>
                </a:lnTo>
                <a:close/>
              </a:path>
              <a:path w="27940" h="17145">
                <a:moveTo>
                  <a:pt x="7620" y="3048"/>
                </a:moveTo>
                <a:lnTo>
                  <a:pt x="6096" y="4572"/>
                </a:lnTo>
                <a:lnTo>
                  <a:pt x="6096" y="13715"/>
                </a:lnTo>
                <a:lnTo>
                  <a:pt x="7620" y="15239"/>
                </a:lnTo>
                <a:lnTo>
                  <a:pt x="7620" y="3048"/>
                </a:lnTo>
                <a:close/>
              </a:path>
              <a:path w="27940" h="17145">
                <a:moveTo>
                  <a:pt x="0" y="12191"/>
                </a:moveTo>
                <a:lnTo>
                  <a:pt x="0" y="13715"/>
                </a:lnTo>
                <a:lnTo>
                  <a:pt x="1828" y="14935"/>
                </a:lnTo>
                <a:lnTo>
                  <a:pt x="0" y="12191"/>
                </a:lnTo>
                <a:close/>
              </a:path>
              <a:path w="27940" h="17145">
                <a:moveTo>
                  <a:pt x="3048" y="3048"/>
                </a:moveTo>
                <a:lnTo>
                  <a:pt x="1524" y="4572"/>
                </a:lnTo>
                <a:lnTo>
                  <a:pt x="1524" y="13715"/>
                </a:lnTo>
                <a:lnTo>
                  <a:pt x="3048" y="14731"/>
                </a:lnTo>
                <a:lnTo>
                  <a:pt x="3048" y="3048"/>
                </a:lnTo>
                <a:close/>
              </a:path>
              <a:path w="27940" h="17145">
                <a:moveTo>
                  <a:pt x="19812" y="7620"/>
                </a:moveTo>
                <a:lnTo>
                  <a:pt x="19812" y="13715"/>
                </a:lnTo>
                <a:lnTo>
                  <a:pt x="18796" y="14731"/>
                </a:lnTo>
                <a:lnTo>
                  <a:pt x="21336" y="13715"/>
                </a:lnTo>
                <a:lnTo>
                  <a:pt x="19812" y="7620"/>
                </a:lnTo>
                <a:close/>
              </a:path>
              <a:path w="27940" h="17145">
                <a:moveTo>
                  <a:pt x="12192" y="9144"/>
                </a:moveTo>
                <a:lnTo>
                  <a:pt x="12192" y="14477"/>
                </a:lnTo>
                <a:lnTo>
                  <a:pt x="13012" y="13247"/>
                </a:lnTo>
                <a:lnTo>
                  <a:pt x="12192" y="9144"/>
                </a:lnTo>
                <a:close/>
              </a:path>
              <a:path w="27940" h="17145">
                <a:moveTo>
                  <a:pt x="15544" y="2743"/>
                </a:moveTo>
                <a:lnTo>
                  <a:pt x="15240" y="3048"/>
                </a:lnTo>
                <a:lnTo>
                  <a:pt x="15240" y="10667"/>
                </a:lnTo>
                <a:lnTo>
                  <a:pt x="16764" y="13715"/>
                </a:lnTo>
                <a:lnTo>
                  <a:pt x="16764" y="4572"/>
                </a:lnTo>
                <a:lnTo>
                  <a:pt x="15544" y="2743"/>
                </a:lnTo>
                <a:close/>
              </a:path>
              <a:path w="27940" h="17145">
                <a:moveTo>
                  <a:pt x="18592" y="2743"/>
                </a:moveTo>
                <a:lnTo>
                  <a:pt x="19812" y="4572"/>
                </a:lnTo>
                <a:lnTo>
                  <a:pt x="19812" y="7620"/>
                </a:lnTo>
                <a:lnTo>
                  <a:pt x="21336" y="13715"/>
                </a:lnTo>
                <a:lnTo>
                  <a:pt x="21336" y="4572"/>
                </a:lnTo>
                <a:lnTo>
                  <a:pt x="18592" y="2743"/>
                </a:lnTo>
                <a:close/>
              </a:path>
              <a:path w="27940" h="17145">
                <a:moveTo>
                  <a:pt x="24384" y="1524"/>
                </a:moveTo>
                <a:lnTo>
                  <a:pt x="18288" y="1524"/>
                </a:lnTo>
                <a:lnTo>
                  <a:pt x="18592" y="2743"/>
                </a:lnTo>
                <a:lnTo>
                  <a:pt x="21336" y="4572"/>
                </a:lnTo>
                <a:lnTo>
                  <a:pt x="21336" y="13715"/>
                </a:lnTo>
                <a:lnTo>
                  <a:pt x="24384" y="13715"/>
                </a:lnTo>
                <a:lnTo>
                  <a:pt x="27432" y="10667"/>
                </a:lnTo>
                <a:lnTo>
                  <a:pt x="27432" y="3048"/>
                </a:lnTo>
                <a:lnTo>
                  <a:pt x="24384" y="1524"/>
                </a:lnTo>
                <a:close/>
              </a:path>
              <a:path w="27940" h="17145">
                <a:moveTo>
                  <a:pt x="12192" y="3048"/>
                </a:moveTo>
                <a:lnTo>
                  <a:pt x="12192" y="9144"/>
                </a:lnTo>
                <a:lnTo>
                  <a:pt x="13012" y="13247"/>
                </a:lnTo>
                <a:lnTo>
                  <a:pt x="13716" y="12191"/>
                </a:lnTo>
                <a:lnTo>
                  <a:pt x="13716" y="4572"/>
                </a:lnTo>
                <a:lnTo>
                  <a:pt x="12192" y="3048"/>
                </a:lnTo>
                <a:close/>
              </a:path>
              <a:path w="27940" h="17145">
                <a:moveTo>
                  <a:pt x="10668" y="1524"/>
                </a:moveTo>
                <a:lnTo>
                  <a:pt x="12192" y="9144"/>
                </a:lnTo>
                <a:lnTo>
                  <a:pt x="12192" y="3048"/>
                </a:lnTo>
                <a:lnTo>
                  <a:pt x="10668" y="1524"/>
                </a:lnTo>
                <a:close/>
              </a:path>
              <a:path w="27940" h="17145">
                <a:moveTo>
                  <a:pt x="18592" y="2743"/>
                </a:moveTo>
                <a:lnTo>
                  <a:pt x="19812" y="7620"/>
                </a:lnTo>
                <a:lnTo>
                  <a:pt x="19812" y="4572"/>
                </a:lnTo>
                <a:lnTo>
                  <a:pt x="18592" y="2743"/>
                </a:lnTo>
                <a:close/>
              </a:path>
              <a:path w="27940" h="17145">
                <a:moveTo>
                  <a:pt x="6096" y="0"/>
                </a:moveTo>
                <a:lnTo>
                  <a:pt x="4572" y="0"/>
                </a:lnTo>
                <a:lnTo>
                  <a:pt x="1524" y="3048"/>
                </a:lnTo>
                <a:lnTo>
                  <a:pt x="1524" y="4572"/>
                </a:lnTo>
                <a:lnTo>
                  <a:pt x="6096" y="0"/>
                </a:lnTo>
                <a:close/>
              </a:path>
              <a:path w="27940" h="17145">
                <a:moveTo>
                  <a:pt x="7620" y="0"/>
                </a:moveTo>
                <a:lnTo>
                  <a:pt x="6096" y="0"/>
                </a:lnTo>
                <a:lnTo>
                  <a:pt x="4572" y="1524"/>
                </a:lnTo>
                <a:lnTo>
                  <a:pt x="4572" y="4572"/>
                </a:lnTo>
                <a:lnTo>
                  <a:pt x="7620" y="0"/>
                </a:lnTo>
                <a:close/>
              </a:path>
              <a:path w="27940" h="17145">
                <a:moveTo>
                  <a:pt x="13716" y="0"/>
                </a:moveTo>
                <a:lnTo>
                  <a:pt x="12192" y="0"/>
                </a:lnTo>
                <a:lnTo>
                  <a:pt x="12192" y="1524"/>
                </a:lnTo>
                <a:lnTo>
                  <a:pt x="15240" y="4572"/>
                </a:lnTo>
                <a:lnTo>
                  <a:pt x="15240" y="3048"/>
                </a:lnTo>
                <a:lnTo>
                  <a:pt x="15544" y="2743"/>
                </a:lnTo>
                <a:lnTo>
                  <a:pt x="13716" y="0"/>
                </a:lnTo>
                <a:close/>
              </a:path>
              <a:path w="27940" h="17145">
                <a:moveTo>
                  <a:pt x="9144" y="0"/>
                </a:moveTo>
                <a:lnTo>
                  <a:pt x="7620" y="0"/>
                </a:lnTo>
                <a:lnTo>
                  <a:pt x="7620" y="3048"/>
                </a:lnTo>
                <a:lnTo>
                  <a:pt x="9144" y="1524"/>
                </a:lnTo>
                <a:lnTo>
                  <a:pt x="9144" y="0"/>
                </a:lnTo>
                <a:close/>
              </a:path>
              <a:path w="27940" h="17145">
                <a:moveTo>
                  <a:pt x="12192" y="1524"/>
                </a:moveTo>
                <a:lnTo>
                  <a:pt x="10668" y="1524"/>
                </a:lnTo>
                <a:lnTo>
                  <a:pt x="12192" y="3048"/>
                </a:lnTo>
                <a:lnTo>
                  <a:pt x="12192" y="1524"/>
                </a:lnTo>
                <a:close/>
              </a:path>
              <a:path w="27940" h="17145">
                <a:moveTo>
                  <a:pt x="15240" y="0"/>
                </a:moveTo>
                <a:lnTo>
                  <a:pt x="13716" y="0"/>
                </a:lnTo>
                <a:lnTo>
                  <a:pt x="15544" y="2743"/>
                </a:lnTo>
                <a:lnTo>
                  <a:pt x="16459" y="1828"/>
                </a:lnTo>
                <a:lnTo>
                  <a:pt x="15240" y="0"/>
                </a:lnTo>
                <a:close/>
              </a:path>
              <a:path w="27940" h="17145">
                <a:moveTo>
                  <a:pt x="17780" y="1524"/>
                </a:moveTo>
                <a:lnTo>
                  <a:pt x="16764" y="1524"/>
                </a:lnTo>
                <a:lnTo>
                  <a:pt x="18592" y="2743"/>
                </a:lnTo>
                <a:lnTo>
                  <a:pt x="17780" y="1524"/>
                </a:lnTo>
                <a:close/>
              </a:path>
              <a:path w="27940" h="17145">
                <a:moveTo>
                  <a:pt x="18288" y="1524"/>
                </a:moveTo>
                <a:lnTo>
                  <a:pt x="17780" y="1524"/>
                </a:lnTo>
                <a:lnTo>
                  <a:pt x="18592" y="2743"/>
                </a:lnTo>
                <a:lnTo>
                  <a:pt x="18288" y="1524"/>
                </a:lnTo>
                <a:close/>
              </a:path>
              <a:path w="27940" h="17145">
                <a:moveTo>
                  <a:pt x="16764" y="0"/>
                </a:moveTo>
                <a:lnTo>
                  <a:pt x="15240" y="0"/>
                </a:lnTo>
                <a:lnTo>
                  <a:pt x="16459" y="1828"/>
                </a:lnTo>
                <a:lnTo>
                  <a:pt x="16764" y="1524"/>
                </a:lnTo>
                <a:lnTo>
                  <a:pt x="17780" y="1524"/>
                </a:lnTo>
                <a:lnTo>
                  <a:pt x="167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9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1600" y="918781"/>
            <a:ext cx="51695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Alternative </a:t>
            </a:r>
            <a:r>
              <a:rPr spc="35" dirty="0"/>
              <a:t>to</a:t>
            </a:r>
            <a:r>
              <a:rPr spc="-390" dirty="0"/>
              <a:t> </a:t>
            </a:r>
            <a:r>
              <a:rPr spc="-170" dirty="0"/>
              <a:t>spinning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pc="-70" dirty="0"/>
              <a:t>Alternative </a:t>
            </a:r>
            <a:r>
              <a:rPr spc="20" dirty="0"/>
              <a:t>to </a:t>
            </a:r>
            <a:r>
              <a:rPr spc="-110" dirty="0"/>
              <a:t>spinlock: </a:t>
            </a:r>
            <a:r>
              <a:rPr spc="-220" dirty="0"/>
              <a:t>a </a:t>
            </a:r>
            <a:r>
              <a:rPr spc="-125" dirty="0"/>
              <a:t>(sleeping)</a:t>
            </a:r>
            <a:r>
              <a:rPr spc="-275" dirty="0"/>
              <a:t> </a:t>
            </a:r>
            <a:r>
              <a:rPr spc="-100" dirty="0"/>
              <a:t>mutex</a:t>
            </a: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pc="-125" dirty="0"/>
              <a:t>Instead </a:t>
            </a:r>
            <a:r>
              <a:rPr spc="-10" dirty="0"/>
              <a:t>of </a:t>
            </a:r>
            <a:r>
              <a:rPr spc="-114" dirty="0"/>
              <a:t>spinning </a:t>
            </a:r>
            <a:r>
              <a:rPr spc="-10" dirty="0"/>
              <a:t>for </a:t>
            </a:r>
            <a:r>
              <a:rPr spc="-220" dirty="0"/>
              <a:t>a </a:t>
            </a:r>
            <a:r>
              <a:rPr spc="-105" dirty="0"/>
              <a:t>lock, </a:t>
            </a:r>
            <a:r>
              <a:rPr spc="-220" dirty="0"/>
              <a:t>a </a:t>
            </a:r>
            <a:r>
              <a:rPr spc="-100" dirty="0"/>
              <a:t>contending</a:t>
            </a:r>
            <a:r>
              <a:rPr spc="-345" dirty="0"/>
              <a:t> </a:t>
            </a:r>
            <a:r>
              <a:rPr spc="-70" dirty="0"/>
              <a:t>thread  </a:t>
            </a:r>
            <a:r>
              <a:rPr spc="-100" dirty="0"/>
              <a:t>could </a:t>
            </a:r>
            <a:r>
              <a:rPr spc="-105" dirty="0"/>
              <a:t>simply </a:t>
            </a:r>
            <a:r>
              <a:rPr spc="-145" dirty="0"/>
              <a:t>give </a:t>
            </a:r>
            <a:r>
              <a:rPr spc="-95" dirty="0"/>
              <a:t>up </a:t>
            </a:r>
            <a:r>
              <a:rPr spc="-40" dirty="0"/>
              <a:t>the </a:t>
            </a:r>
            <a:r>
              <a:rPr spc="-400" dirty="0"/>
              <a:t>CPU </a:t>
            </a:r>
            <a:r>
              <a:rPr spc="-135" dirty="0"/>
              <a:t>and </a:t>
            </a:r>
            <a:r>
              <a:rPr spc="-170" dirty="0"/>
              <a:t>check </a:t>
            </a:r>
            <a:r>
              <a:rPr spc="-165" dirty="0"/>
              <a:t>back</a:t>
            </a:r>
            <a:r>
              <a:rPr spc="-434" dirty="0"/>
              <a:t> </a:t>
            </a:r>
            <a:r>
              <a:rPr spc="-50" dirty="0"/>
              <a:t>later</a:t>
            </a: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400" spc="-5" dirty="0"/>
              <a:t>– </a:t>
            </a:r>
            <a:r>
              <a:rPr sz="2400" dirty="0">
                <a:latin typeface="Courier New"/>
                <a:cs typeface="Courier New"/>
              </a:rPr>
              <a:t>yield() </a:t>
            </a:r>
            <a:r>
              <a:rPr sz="2400" spc="-145" dirty="0"/>
              <a:t>moves </a:t>
            </a:r>
            <a:r>
              <a:rPr sz="2400" spc="-60" dirty="0"/>
              <a:t>thread </a:t>
            </a:r>
            <a:r>
              <a:rPr sz="2400" spc="-25" dirty="0"/>
              <a:t>from </a:t>
            </a:r>
            <a:r>
              <a:rPr sz="2400" spc="-70" dirty="0"/>
              <a:t>running </a:t>
            </a:r>
            <a:r>
              <a:rPr sz="2400" spc="20" dirty="0"/>
              <a:t>to </a:t>
            </a:r>
            <a:r>
              <a:rPr sz="2400" spc="-105" dirty="0"/>
              <a:t>ready</a:t>
            </a:r>
            <a:r>
              <a:rPr sz="2400" spc="-320" dirty="0"/>
              <a:t> </a:t>
            </a:r>
            <a:r>
              <a:rPr sz="2400" spc="-85" dirty="0"/>
              <a:t>state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5400" y="3819814"/>
            <a:ext cx="7333870" cy="34176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10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8868" y="918781"/>
            <a:ext cx="6217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Spinlock </a:t>
            </a:r>
            <a:r>
              <a:rPr spc="-275" dirty="0"/>
              <a:t>vs. </a:t>
            </a:r>
            <a:r>
              <a:rPr spc="-200" dirty="0"/>
              <a:t>sleeping</a:t>
            </a:r>
            <a:r>
              <a:rPr spc="-204" dirty="0"/>
              <a:t> </a:t>
            </a:r>
            <a:r>
              <a:rPr spc="-145" dirty="0"/>
              <a:t>mutex</a:t>
            </a:r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3139" y="1897380"/>
            <a:ext cx="7977505" cy="50368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927735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55" dirty="0">
                <a:latin typeface="Arial"/>
                <a:cs typeface="Arial"/>
              </a:rPr>
              <a:t>Most </a:t>
            </a:r>
            <a:r>
              <a:rPr sz="2700" spc="-175" dirty="0">
                <a:latin typeface="Arial"/>
                <a:cs typeface="Arial"/>
              </a:rPr>
              <a:t>userspace </a:t>
            </a:r>
            <a:r>
              <a:rPr sz="2700" spc="-100" dirty="0">
                <a:latin typeface="Arial"/>
                <a:cs typeface="Arial"/>
              </a:rPr>
              <a:t>lock </a:t>
            </a:r>
            <a:r>
              <a:rPr sz="2700" spc="-75" dirty="0">
                <a:latin typeface="Arial"/>
                <a:cs typeface="Arial"/>
              </a:rPr>
              <a:t>implementations </a:t>
            </a:r>
            <a:r>
              <a:rPr sz="2700" spc="-125" dirty="0">
                <a:latin typeface="Arial"/>
                <a:cs typeface="Arial"/>
              </a:rPr>
              <a:t>are </a:t>
            </a:r>
            <a:r>
              <a:rPr sz="2700" spc="-5" dirty="0">
                <a:latin typeface="Arial"/>
                <a:cs typeface="Arial"/>
              </a:rPr>
              <a:t>of</a:t>
            </a:r>
            <a:r>
              <a:rPr sz="2700" spc="-400" dirty="0">
                <a:latin typeface="Arial"/>
                <a:cs typeface="Arial"/>
              </a:rPr>
              <a:t> </a:t>
            </a:r>
            <a:r>
              <a:rPr sz="2700" spc="-40" dirty="0">
                <a:latin typeface="Arial"/>
                <a:cs typeface="Arial"/>
              </a:rPr>
              <a:t>the  </a:t>
            </a:r>
            <a:r>
              <a:rPr sz="2700" spc="-125" dirty="0">
                <a:latin typeface="Arial"/>
                <a:cs typeface="Arial"/>
              </a:rPr>
              <a:t>sleeping </a:t>
            </a:r>
            <a:r>
              <a:rPr sz="2700" spc="-90" dirty="0">
                <a:latin typeface="Arial"/>
                <a:cs typeface="Arial"/>
              </a:rPr>
              <a:t>mutex</a:t>
            </a:r>
            <a:r>
              <a:rPr sz="2700" spc="-195" dirty="0">
                <a:latin typeface="Arial"/>
                <a:cs typeface="Arial"/>
              </a:rPr>
              <a:t> </a:t>
            </a:r>
            <a:r>
              <a:rPr sz="2700" spc="-75" dirty="0">
                <a:latin typeface="Arial"/>
                <a:cs typeface="Arial"/>
              </a:rPr>
              <a:t>kind</a:t>
            </a:r>
            <a:endParaRPr sz="27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400" spc="-340" dirty="0">
                <a:latin typeface="Arial"/>
                <a:cs typeface="Arial"/>
              </a:rPr>
              <a:t>CPU </a:t>
            </a:r>
            <a:r>
              <a:rPr sz="2400" spc="-105" dirty="0">
                <a:latin typeface="Arial"/>
                <a:cs typeface="Arial"/>
              </a:rPr>
              <a:t>wasted by </a:t>
            </a:r>
            <a:r>
              <a:rPr sz="2400" spc="-100" dirty="0">
                <a:latin typeface="Arial"/>
                <a:cs typeface="Arial"/>
              </a:rPr>
              <a:t>spinning </a:t>
            </a:r>
            <a:r>
              <a:rPr sz="2400" spc="-85" dirty="0">
                <a:latin typeface="Arial"/>
                <a:cs typeface="Arial"/>
              </a:rPr>
              <a:t>contending</a:t>
            </a:r>
            <a:r>
              <a:rPr sz="2400" spc="-36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threads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ts val="2875"/>
              </a:lnSpc>
              <a:buChar char="–"/>
              <a:tabLst>
                <a:tab pos="756920" algn="l"/>
              </a:tabLst>
            </a:pPr>
            <a:r>
              <a:rPr sz="2400" spc="-45" dirty="0">
                <a:latin typeface="Arial"/>
                <a:cs typeface="Arial"/>
              </a:rPr>
              <a:t>More </a:t>
            </a:r>
            <a:r>
              <a:rPr sz="2400" spc="-170" dirty="0">
                <a:latin typeface="Arial"/>
                <a:cs typeface="Arial"/>
              </a:rPr>
              <a:t>so </a:t>
            </a:r>
            <a:r>
              <a:rPr sz="2400" spc="35" dirty="0">
                <a:latin typeface="Arial"/>
                <a:cs typeface="Arial"/>
              </a:rPr>
              <a:t>if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60" dirty="0">
                <a:latin typeface="Arial"/>
                <a:cs typeface="Arial"/>
              </a:rPr>
              <a:t>thread </a:t>
            </a:r>
            <a:r>
              <a:rPr sz="2400" spc="-100" dirty="0">
                <a:latin typeface="Arial"/>
                <a:cs typeface="Arial"/>
              </a:rPr>
              <a:t>holds spinlock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125" dirty="0">
                <a:latin typeface="Arial"/>
                <a:cs typeface="Arial"/>
              </a:rPr>
              <a:t>blocks </a:t>
            </a:r>
            <a:r>
              <a:rPr sz="2400" spc="-10" dirty="0">
                <a:latin typeface="Arial"/>
                <a:cs typeface="Arial"/>
              </a:rPr>
              <a:t>for</a:t>
            </a:r>
            <a:r>
              <a:rPr sz="2400" spc="-409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long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ts val="3235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225" dirty="0">
                <a:latin typeface="Arial"/>
                <a:cs typeface="Arial"/>
              </a:rPr>
              <a:t>Locks </a:t>
            </a:r>
            <a:r>
              <a:rPr sz="2700" spc="-100" dirty="0">
                <a:latin typeface="Arial"/>
                <a:cs typeface="Arial"/>
              </a:rPr>
              <a:t>inside </a:t>
            </a:r>
            <a:r>
              <a:rPr sz="2700" spc="-35" dirty="0">
                <a:latin typeface="Arial"/>
                <a:cs typeface="Arial"/>
              </a:rPr>
              <a:t>the </a:t>
            </a:r>
            <a:r>
              <a:rPr sz="2700" spc="-440" dirty="0">
                <a:latin typeface="Arial"/>
                <a:cs typeface="Arial"/>
              </a:rPr>
              <a:t>OS </a:t>
            </a:r>
            <a:r>
              <a:rPr sz="2700" spc="-125" dirty="0">
                <a:latin typeface="Arial"/>
                <a:cs typeface="Arial"/>
              </a:rPr>
              <a:t>are </a:t>
            </a:r>
            <a:r>
              <a:rPr sz="2700" spc="-160" dirty="0">
                <a:latin typeface="Arial"/>
                <a:cs typeface="Arial"/>
              </a:rPr>
              <a:t>always</a:t>
            </a:r>
            <a:r>
              <a:rPr sz="2700" spc="-330" dirty="0">
                <a:latin typeface="Arial"/>
                <a:cs typeface="Arial"/>
              </a:rPr>
              <a:t> </a:t>
            </a:r>
            <a:r>
              <a:rPr sz="2700" spc="-135" dirty="0">
                <a:latin typeface="Arial"/>
                <a:cs typeface="Arial"/>
              </a:rPr>
              <a:t>spinlocks</a:t>
            </a:r>
            <a:endParaRPr sz="2700" dirty="0">
              <a:latin typeface="Arial"/>
              <a:cs typeface="Arial"/>
            </a:endParaRPr>
          </a:p>
          <a:p>
            <a:pPr marL="756285" lvl="1" indent="-286385">
              <a:lnSpc>
                <a:spcPts val="2875"/>
              </a:lnSpc>
              <a:spcBef>
                <a:spcPts val="10"/>
              </a:spcBef>
              <a:buChar char="–"/>
              <a:tabLst>
                <a:tab pos="756920" algn="l"/>
              </a:tabLst>
            </a:pPr>
            <a:r>
              <a:rPr sz="2400" spc="-150" dirty="0">
                <a:latin typeface="Arial"/>
                <a:cs typeface="Arial"/>
              </a:rPr>
              <a:t>Why? </a:t>
            </a:r>
            <a:r>
              <a:rPr sz="2400" spc="-95" dirty="0">
                <a:latin typeface="Arial"/>
                <a:cs typeface="Arial"/>
              </a:rPr>
              <a:t>Who </a:t>
            </a:r>
            <a:r>
              <a:rPr sz="2400" spc="5" dirty="0">
                <a:latin typeface="Arial"/>
                <a:cs typeface="Arial"/>
              </a:rPr>
              <a:t>will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395" dirty="0">
                <a:latin typeface="Arial"/>
                <a:cs typeface="Arial"/>
              </a:rPr>
              <a:t>OS </a:t>
            </a:r>
            <a:r>
              <a:rPr sz="2400" spc="-65" dirty="0">
                <a:latin typeface="Arial"/>
                <a:cs typeface="Arial"/>
              </a:rPr>
              <a:t>yield</a:t>
            </a:r>
            <a:r>
              <a:rPr sz="2400" spc="-434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to?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ts val="3235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125" dirty="0">
                <a:latin typeface="Arial"/>
                <a:cs typeface="Arial"/>
              </a:rPr>
              <a:t>When </a:t>
            </a:r>
            <a:r>
              <a:rPr sz="2700" spc="-440" dirty="0">
                <a:latin typeface="Arial"/>
                <a:cs typeface="Arial"/>
              </a:rPr>
              <a:t>OS </a:t>
            </a:r>
            <a:r>
              <a:rPr sz="2700" spc="-130" dirty="0">
                <a:latin typeface="Arial"/>
                <a:cs typeface="Arial"/>
              </a:rPr>
              <a:t>acquires </a:t>
            </a:r>
            <a:r>
              <a:rPr sz="2700" spc="-210" dirty="0">
                <a:latin typeface="Arial"/>
                <a:cs typeface="Arial"/>
              </a:rPr>
              <a:t>a</a:t>
            </a:r>
            <a:r>
              <a:rPr sz="2700" spc="-245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spinlock:</a:t>
            </a:r>
            <a:endParaRPr sz="2700" dirty="0">
              <a:latin typeface="Arial"/>
              <a:cs typeface="Arial"/>
            </a:endParaRPr>
          </a:p>
          <a:p>
            <a:pPr marL="756285" marR="157480" lvl="1" indent="-286385">
              <a:lnSpc>
                <a:spcPts val="23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35" dirty="0">
                <a:latin typeface="Arial"/>
                <a:cs typeface="Arial"/>
              </a:rPr>
              <a:t>It </a:t>
            </a:r>
            <a:r>
              <a:rPr sz="2400" spc="-80" dirty="0">
                <a:latin typeface="Arial"/>
                <a:cs typeface="Arial"/>
              </a:rPr>
              <a:t>must </a:t>
            </a:r>
            <a:r>
              <a:rPr sz="2400" spc="-105" dirty="0">
                <a:latin typeface="Arial"/>
                <a:cs typeface="Arial"/>
              </a:rPr>
              <a:t>disable </a:t>
            </a:r>
            <a:r>
              <a:rPr sz="2400" spc="-35" dirty="0">
                <a:latin typeface="Arial"/>
                <a:cs typeface="Arial"/>
              </a:rPr>
              <a:t>interrupts </a:t>
            </a:r>
            <a:r>
              <a:rPr sz="2400" spc="-80" dirty="0">
                <a:latin typeface="Arial"/>
                <a:cs typeface="Arial"/>
              </a:rPr>
              <a:t>(on </a:t>
            </a:r>
            <a:r>
              <a:rPr sz="2400" spc="-5" dirty="0">
                <a:latin typeface="Arial"/>
                <a:cs typeface="Arial"/>
              </a:rPr>
              <a:t>that </a:t>
            </a:r>
            <a:r>
              <a:rPr sz="2400" spc="-120" dirty="0">
                <a:latin typeface="Arial"/>
                <a:cs typeface="Arial"/>
              </a:rPr>
              <a:t>processor </a:t>
            </a:r>
            <a:r>
              <a:rPr sz="2400" spc="-100" dirty="0">
                <a:latin typeface="Arial"/>
                <a:cs typeface="Arial"/>
              </a:rPr>
              <a:t>core) </a:t>
            </a:r>
            <a:r>
              <a:rPr sz="2400" spc="-45" dirty="0">
                <a:latin typeface="Arial"/>
                <a:cs typeface="Arial"/>
              </a:rPr>
              <a:t>while 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95" dirty="0">
                <a:latin typeface="Arial"/>
                <a:cs typeface="Arial"/>
              </a:rPr>
              <a:t>lock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70" dirty="0">
                <a:latin typeface="Arial"/>
                <a:cs typeface="Arial"/>
              </a:rPr>
              <a:t>held. </a:t>
            </a:r>
            <a:r>
              <a:rPr sz="2400" spc="-150" dirty="0">
                <a:latin typeface="Arial"/>
                <a:cs typeface="Arial"/>
              </a:rPr>
              <a:t>Why? </a:t>
            </a:r>
            <a:r>
              <a:rPr sz="2400" spc="-145" dirty="0">
                <a:latin typeface="Arial"/>
                <a:cs typeface="Arial"/>
              </a:rPr>
              <a:t>An </a:t>
            </a:r>
            <a:r>
              <a:rPr sz="2400" spc="-10" dirty="0">
                <a:latin typeface="Arial"/>
                <a:cs typeface="Arial"/>
              </a:rPr>
              <a:t>interrupt</a:t>
            </a:r>
            <a:r>
              <a:rPr sz="2400" spc="-4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handler </a:t>
            </a:r>
            <a:r>
              <a:rPr sz="2400" spc="-85" dirty="0">
                <a:latin typeface="Arial"/>
                <a:cs typeface="Arial"/>
              </a:rPr>
              <a:t>could request 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70" dirty="0">
                <a:latin typeface="Arial"/>
                <a:cs typeface="Arial"/>
              </a:rPr>
              <a:t>same </a:t>
            </a:r>
            <a:r>
              <a:rPr sz="2400" spc="-90" dirty="0">
                <a:latin typeface="Arial"/>
                <a:cs typeface="Arial"/>
              </a:rPr>
              <a:t>lock,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105" dirty="0">
                <a:latin typeface="Arial"/>
                <a:cs typeface="Arial"/>
              </a:rPr>
              <a:t>spin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70" dirty="0">
                <a:latin typeface="Arial"/>
                <a:cs typeface="Arial"/>
              </a:rPr>
              <a:t>it</a:t>
            </a:r>
            <a:r>
              <a:rPr sz="2400" spc="-4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forever.</a:t>
            </a:r>
            <a:endParaRPr sz="2400" dirty="0">
              <a:latin typeface="Arial"/>
              <a:cs typeface="Arial"/>
            </a:endParaRPr>
          </a:p>
          <a:p>
            <a:pPr marL="756285" marR="199390" lvl="1" indent="-286385">
              <a:lnSpc>
                <a:spcPts val="2300"/>
              </a:lnSpc>
              <a:spcBef>
                <a:spcPts val="585"/>
              </a:spcBef>
              <a:buChar char="–"/>
              <a:tabLst>
                <a:tab pos="756920" algn="l"/>
              </a:tabLst>
            </a:pPr>
            <a:r>
              <a:rPr sz="2400" spc="35" dirty="0">
                <a:latin typeface="Arial"/>
                <a:cs typeface="Arial"/>
              </a:rPr>
              <a:t>It</a:t>
            </a:r>
            <a:r>
              <a:rPr sz="2400" spc="-509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must </a:t>
            </a:r>
            <a:r>
              <a:rPr sz="2400" spc="-10" dirty="0">
                <a:latin typeface="Arial"/>
                <a:cs typeface="Arial"/>
              </a:rPr>
              <a:t>not </a:t>
            </a:r>
            <a:r>
              <a:rPr sz="2400" spc="-45" dirty="0">
                <a:latin typeface="Arial"/>
                <a:cs typeface="Arial"/>
              </a:rPr>
              <a:t>perform </a:t>
            </a:r>
            <a:r>
              <a:rPr sz="2400" spc="-145" dirty="0">
                <a:latin typeface="Arial"/>
                <a:cs typeface="Arial"/>
              </a:rPr>
              <a:t>any </a:t>
            </a:r>
            <a:r>
              <a:rPr sz="2400" spc="-90" dirty="0">
                <a:latin typeface="Arial"/>
                <a:cs typeface="Arial"/>
              </a:rPr>
              <a:t>blocking </a:t>
            </a:r>
            <a:r>
              <a:rPr sz="2400" spc="-60" dirty="0">
                <a:latin typeface="Arial"/>
                <a:cs typeface="Arial"/>
              </a:rPr>
              <a:t>operation </a:t>
            </a:r>
            <a:r>
              <a:rPr sz="2400" spc="-140" dirty="0">
                <a:latin typeface="Arial"/>
                <a:cs typeface="Arial"/>
              </a:rPr>
              <a:t>– </a:t>
            </a:r>
            <a:r>
              <a:rPr sz="2400" spc="-100" dirty="0">
                <a:latin typeface="Arial"/>
                <a:cs typeface="Arial"/>
              </a:rPr>
              <a:t>never </a:t>
            </a:r>
            <a:r>
              <a:rPr sz="2400" spc="-145" dirty="0">
                <a:latin typeface="Arial"/>
                <a:cs typeface="Arial"/>
              </a:rPr>
              <a:t>go </a:t>
            </a:r>
            <a:r>
              <a:rPr sz="2400" spc="20" dirty="0">
                <a:latin typeface="Arial"/>
                <a:cs typeface="Arial"/>
              </a:rPr>
              <a:t>to  </a:t>
            </a:r>
            <a:r>
              <a:rPr sz="2400" spc="-125" dirty="0">
                <a:latin typeface="Arial"/>
                <a:cs typeface="Arial"/>
              </a:rPr>
              <a:t>sleep </a:t>
            </a:r>
            <a:r>
              <a:rPr sz="2400" spc="10" dirty="0">
                <a:latin typeface="Arial"/>
                <a:cs typeface="Arial"/>
              </a:rPr>
              <a:t>with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10" dirty="0">
                <a:latin typeface="Arial"/>
                <a:cs typeface="Arial"/>
              </a:rPr>
              <a:t>locked</a:t>
            </a:r>
            <a:r>
              <a:rPr sz="2400" spc="-27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spinlock!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80" dirty="0">
                <a:latin typeface="Arial"/>
                <a:cs typeface="Arial"/>
              </a:rPr>
              <a:t>In </a:t>
            </a:r>
            <a:r>
              <a:rPr sz="2700" spc="-125" dirty="0">
                <a:latin typeface="Arial"/>
                <a:cs typeface="Arial"/>
              </a:rPr>
              <a:t>general, </a:t>
            </a:r>
            <a:r>
              <a:rPr sz="2700" spc="-185" dirty="0">
                <a:latin typeface="Arial"/>
                <a:cs typeface="Arial"/>
              </a:rPr>
              <a:t>use </a:t>
            </a:r>
            <a:r>
              <a:rPr sz="2700" spc="-135" dirty="0">
                <a:latin typeface="Arial"/>
                <a:cs typeface="Arial"/>
              </a:rPr>
              <a:t>spinlocks </a:t>
            </a:r>
            <a:r>
              <a:rPr sz="2700" spc="10" dirty="0">
                <a:latin typeface="Arial"/>
                <a:cs typeface="Arial"/>
              </a:rPr>
              <a:t>with </a:t>
            </a:r>
            <a:r>
              <a:rPr sz="2700" spc="-140" dirty="0">
                <a:latin typeface="Arial"/>
                <a:cs typeface="Arial"/>
              </a:rPr>
              <a:t>care, </a:t>
            </a:r>
            <a:r>
              <a:rPr sz="2700" spc="-125" dirty="0">
                <a:latin typeface="Arial"/>
                <a:cs typeface="Arial"/>
              </a:rPr>
              <a:t>and </a:t>
            </a:r>
            <a:r>
              <a:rPr sz="2700" spc="-140" dirty="0">
                <a:latin typeface="Arial"/>
                <a:cs typeface="Arial"/>
              </a:rPr>
              <a:t>release </a:t>
            </a:r>
            <a:r>
              <a:rPr sz="2700" spc="-254" dirty="0">
                <a:latin typeface="Arial"/>
                <a:cs typeface="Arial"/>
              </a:rPr>
              <a:t>as</a:t>
            </a:r>
            <a:r>
              <a:rPr sz="2700" spc="-480" dirty="0">
                <a:latin typeface="Arial"/>
                <a:cs typeface="Arial"/>
              </a:rPr>
              <a:t> </a:t>
            </a:r>
            <a:r>
              <a:rPr sz="2700" spc="-135" dirty="0">
                <a:latin typeface="Arial"/>
                <a:cs typeface="Arial"/>
              </a:rPr>
              <a:t>soon  </a:t>
            </a:r>
            <a:r>
              <a:rPr sz="2700" spc="-254" dirty="0">
                <a:latin typeface="Arial"/>
                <a:cs typeface="Arial"/>
              </a:rPr>
              <a:t>as</a:t>
            </a:r>
            <a:r>
              <a:rPr sz="2700" spc="-170" dirty="0">
                <a:latin typeface="Arial"/>
                <a:cs typeface="Arial"/>
              </a:rPr>
              <a:t> </a:t>
            </a:r>
            <a:r>
              <a:rPr sz="2700" spc="-125" dirty="0">
                <a:latin typeface="Arial"/>
                <a:cs typeface="Arial"/>
              </a:rPr>
              <a:t>possible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522</Words>
  <Application>Microsoft Office PowerPoint</Application>
  <PresentationFormat>Custom</PresentationFormat>
  <Paragraphs>66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Locks: Basic idea</vt:lpstr>
      <vt:lpstr>Building a lock</vt:lpstr>
      <vt:lpstr>Is disabling interrupts enough?</vt:lpstr>
      <vt:lpstr>A failed lock implementation (1)</vt:lpstr>
      <vt:lpstr>A failed lock implementation (2)</vt:lpstr>
      <vt:lpstr>Solution: Hardware atomic instructions</vt:lpstr>
      <vt:lpstr>Simple lock using test-and-set</vt:lpstr>
      <vt:lpstr>Spinlock using compare-and-swap</vt:lpstr>
      <vt:lpstr>Alternative to spinning</vt:lpstr>
      <vt:lpstr>Spinlock vs. sleeping mutex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SONY</cp:lastModifiedBy>
  <cp:revision>7</cp:revision>
  <dcterms:created xsi:type="dcterms:W3CDTF">2019-02-17T13:07:58Z</dcterms:created>
  <dcterms:modified xsi:type="dcterms:W3CDTF">2019-09-08T16:16:24Z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2018-04-10T00:00:00Z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2019-02-17T00:00:00Z</vt:filetime>
  </property>
</Properties>
</file>