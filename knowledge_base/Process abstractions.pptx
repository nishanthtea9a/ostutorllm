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0058400" cy="7772400"/>
  <p:notesSz cx="10058400" cy="7772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1416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478150" y="2602801"/>
            <a:ext cx="5102099" cy="13671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B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7/28/2020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B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7/28/2020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B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7/28/2020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B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7/28/2020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7/28/2020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926207" y="918781"/>
            <a:ext cx="4205985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B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93139" y="1983739"/>
            <a:ext cx="8072120" cy="43681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7/28/2020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947911" y="6920928"/>
            <a:ext cx="128270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2478150" y="2602801"/>
            <a:ext cx="605625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45235" marR="5080" indent="-1233170">
              <a:lnSpc>
                <a:spcPct val="100000"/>
              </a:lnSpc>
              <a:spcBef>
                <a:spcPts val="105"/>
              </a:spcBef>
            </a:pPr>
            <a:r>
              <a:rPr spc="-5" dirty="0" smtClean="0"/>
              <a:t>The</a:t>
            </a:r>
            <a:r>
              <a:rPr spc="-75" dirty="0" smtClean="0"/>
              <a:t> </a:t>
            </a:r>
            <a:r>
              <a:rPr spc="-10" dirty="0"/>
              <a:t>Process  </a:t>
            </a:r>
            <a:r>
              <a:rPr spc="-15" dirty="0"/>
              <a:t>Abstraction</a:t>
            </a:r>
          </a:p>
        </p:txBody>
      </p:sp>
      <p:sp>
        <p:nvSpPr>
          <p:cNvPr id="3" name="object 3"/>
          <p:cNvSpPr/>
          <p:nvPr/>
        </p:nvSpPr>
        <p:spPr>
          <a:xfrm>
            <a:off x="1219200" y="3733800"/>
            <a:ext cx="9142730" cy="3427729"/>
          </a:xfrm>
          <a:custGeom>
            <a:avLst/>
            <a:gdLst/>
            <a:ahLst/>
            <a:cxnLst/>
            <a:rect l="l" t="t" r="r" b="b"/>
            <a:pathLst>
              <a:path w="9142730" h="3427729">
                <a:moveTo>
                  <a:pt x="0" y="3427475"/>
                </a:moveTo>
                <a:lnTo>
                  <a:pt x="9142475" y="3427475"/>
                </a:lnTo>
                <a:lnTo>
                  <a:pt x="9142475" y="0"/>
                </a:lnTo>
                <a:lnTo>
                  <a:pt x="0" y="0"/>
                </a:lnTo>
                <a:lnTo>
                  <a:pt x="0" y="34274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99190" y="918781"/>
            <a:ext cx="72542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OS </a:t>
            </a:r>
            <a:r>
              <a:rPr spc="-15" dirty="0"/>
              <a:t>provides process</a:t>
            </a:r>
            <a:r>
              <a:rPr spc="-10" dirty="0"/>
              <a:t> </a:t>
            </a:r>
            <a:r>
              <a:rPr spc="-15" dirty="0"/>
              <a:t>abstraction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28191" y="1905000"/>
            <a:ext cx="7919720" cy="45999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82295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When </a:t>
            </a:r>
            <a:r>
              <a:rPr sz="3200" spc="-15" dirty="0">
                <a:latin typeface="Calibri"/>
                <a:cs typeface="Calibri"/>
              </a:rPr>
              <a:t>you </a:t>
            </a:r>
            <a:r>
              <a:rPr sz="3200" spc="-5" dirty="0">
                <a:latin typeface="Calibri"/>
                <a:cs typeface="Calibri"/>
              </a:rPr>
              <a:t>run </a:t>
            </a:r>
            <a:r>
              <a:rPr sz="3200" dirty="0">
                <a:latin typeface="Calibri"/>
                <a:cs typeface="Calibri"/>
              </a:rPr>
              <a:t>an </a:t>
            </a:r>
            <a:r>
              <a:rPr sz="3200" spc="-45" dirty="0">
                <a:latin typeface="Calibri"/>
                <a:cs typeface="Calibri"/>
              </a:rPr>
              <a:t>exe </a:t>
            </a:r>
            <a:r>
              <a:rPr sz="3200" spc="-5" dirty="0">
                <a:latin typeface="Calibri"/>
                <a:cs typeface="Calibri"/>
              </a:rPr>
              <a:t>file, the OS </a:t>
            </a:r>
            <a:r>
              <a:rPr sz="3200" spc="-20" dirty="0">
                <a:latin typeface="Calibri"/>
                <a:cs typeface="Calibri"/>
              </a:rPr>
              <a:t>creates </a:t>
            </a:r>
            <a:r>
              <a:rPr sz="3200" dirty="0">
                <a:latin typeface="Calibri"/>
                <a:cs typeface="Calibri"/>
              </a:rPr>
              <a:t>a  </a:t>
            </a:r>
            <a:r>
              <a:rPr sz="3200" spc="-10" dirty="0">
                <a:latin typeface="Calibri"/>
                <a:cs typeface="Calibri"/>
              </a:rPr>
              <a:t>process </a:t>
            </a:r>
            <a:r>
              <a:rPr sz="3200" dirty="0">
                <a:latin typeface="Calibri"/>
                <a:cs typeface="Calibri"/>
              </a:rPr>
              <a:t>= a </a:t>
            </a:r>
            <a:r>
              <a:rPr sz="3200" spc="-5" dirty="0">
                <a:latin typeface="Calibri"/>
                <a:cs typeface="Calibri"/>
              </a:rPr>
              <a:t>running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program</a:t>
            </a:r>
            <a:endParaRPr sz="3200" dirty="0">
              <a:latin typeface="Calibri"/>
              <a:cs typeface="Calibri"/>
            </a:endParaRPr>
          </a:p>
          <a:p>
            <a:pPr marL="355600" marR="5080" indent="-342900">
              <a:lnSpc>
                <a:spcPct val="100000"/>
              </a:lnSpc>
              <a:spcBef>
                <a:spcPts val="76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OS </a:t>
            </a:r>
            <a:r>
              <a:rPr sz="3200" spc="-10" dirty="0">
                <a:latin typeface="Calibri"/>
                <a:cs typeface="Calibri"/>
              </a:rPr>
              <a:t>timeshares </a:t>
            </a:r>
            <a:r>
              <a:rPr sz="3200" spc="-5" dirty="0">
                <a:latin typeface="Calibri"/>
                <a:cs typeface="Calibri"/>
              </a:rPr>
              <a:t>CPU </a:t>
            </a:r>
            <a:r>
              <a:rPr sz="3200" spc="-10" dirty="0">
                <a:latin typeface="Calibri"/>
                <a:cs typeface="Calibri"/>
              </a:rPr>
              <a:t>across </a:t>
            </a:r>
            <a:r>
              <a:rPr sz="3200" spc="-5" dirty="0">
                <a:latin typeface="Calibri"/>
                <a:cs typeface="Calibri"/>
              </a:rPr>
              <a:t>multiple </a:t>
            </a:r>
            <a:r>
              <a:rPr sz="3200" spc="-10" dirty="0">
                <a:latin typeface="Calibri"/>
                <a:cs typeface="Calibri"/>
              </a:rPr>
              <a:t>processes:  virtualizes</a:t>
            </a:r>
            <a:r>
              <a:rPr sz="3200" spc="-5" dirty="0">
                <a:latin typeface="Calibri"/>
                <a:cs typeface="Calibri"/>
              </a:rPr>
              <a:t> CPU</a:t>
            </a:r>
            <a:endParaRPr sz="3200" dirty="0">
              <a:latin typeface="Calibri"/>
              <a:cs typeface="Calibri"/>
            </a:endParaRPr>
          </a:p>
          <a:p>
            <a:pPr marL="355600" marR="198755" indent="-3429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OS </a:t>
            </a:r>
            <a:r>
              <a:rPr sz="3200" dirty="0">
                <a:latin typeface="Calibri"/>
                <a:cs typeface="Calibri"/>
              </a:rPr>
              <a:t>has a </a:t>
            </a:r>
            <a:r>
              <a:rPr sz="3200" spc="-5" dirty="0">
                <a:latin typeface="Calibri"/>
                <a:cs typeface="Calibri"/>
              </a:rPr>
              <a:t>CPU scheduler </a:t>
            </a:r>
            <a:r>
              <a:rPr sz="3200" spc="-10" dirty="0">
                <a:latin typeface="Calibri"/>
                <a:cs typeface="Calibri"/>
              </a:rPr>
              <a:t>that picks </a:t>
            </a:r>
            <a:r>
              <a:rPr sz="3200" spc="-5" dirty="0">
                <a:latin typeface="Calibri"/>
                <a:cs typeface="Calibri"/>
              </a:rPr>
              <a:t>one of the  </a:t>
            </a:r>
            <a:r>
              <a:rPr sz="3200" spc="-20" dirty="0">
                <a:latin typeface="Calibri"/>
                <a:cs typeface="Calibri"/>
              </a:rPr>
              <a:t>many </a:t>
            </a:r>
            <a:r>
              <a:rPr sz="3200" spc="-10" dirty="0">
                <a:latin typeface="Calibri"/>
                <a:cs typeface="Calibri"/>
              </a:rPr>
              <a:t>active processes </a:t>
            </a:r>
            <a:r>
              <a:rPr sz="3200" spc="-25" dirty="0">
                <a:latin typeface="Calibri"/>
                <a:cs typeface="Calibri"/>
              </a:rPr>
              <a:t>to </a:t>
            </a:r>
            <a:r>
              <a:rPr sz="3200" spc="-30" dirty="0">
                <a:latin typeface="Calibri"/>
                <a:cs typeface="Calibri"/>
              </a:rPr>
              <a:t>execute </a:t>
            </a:r>
            <a:r>
              <a:rPr sz="3200" spc="-5" dirty="0">
                <a:latin typeface="Calibri"/>
                <a:cs typeface="Calibri"/>
              </a:rPr>
              <a:t>on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4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CPU</a:t>
            </a:r>
            <a:endParaRPr sz="32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85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20" dirty="0">
                <a:latin typeface="Calibri"/>
                <a:cs typeface="Calibri"/>
              </a:rPr>
              <a:t>Policy: </a:t>
            </a:r>
            <a:r>
              <a:rPr sz="2800" spc="-5" dirty="0">
                <a:latin typeface="Calibri"/>
                <a:cs typeface="Calibri"/>
              </a:rPr>
              <a:t>which </a:t>
            </a:r>
            <a:r>
              <a:rPr sz="2800" spc="-15" dirty="0">
                <a:latin typeface="Calibri"/>
                <a:cs typeface="Calibri"/>
              </a:rPr>
              <a:t>process </a:t>
            </a:r>
            <a:r>
              <a:rPr sz="2800" spc="-20" dirty="0">
                <a:latin typeface="Calibri"/>
                <a:cs typeface="Calibri"/>
              </a:rPr>
              <a:t>to</a:t>
            </a:r>
            <a:r>
              <a:rPr sz="2800" spc="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run</a:t>
            </a:r>
            <a:endParaRPr sz="2800" dirty="0">
              <a:latin typeface="Calibri"/>
              <a:cs typeface="Calibri"/>
            </a:endParaRPr>
          </a:p>
          <a:p>
            <a:pPr marL="756285" marR="492759" lvl="1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10" dirty="0">
                <a:latin typeface="Calibri"/>
                <a:cs typeface="Calibri"/>
              </a:rPr>
              <a:t>Mechanism: how </a:t>
            </a:r>
            <a:r>
              <a:rPr sz="2800" spc="-20" dirty="0">
                <a:latin typeface="Calibri"/>
                <a:cs typeface="Calibri"/>
              </a:rPr>
              <a:t>to </a:t>
            </a:r>
            <a:r>
              <a:rPr sz="2800" spc="-35" dirty="0">
                <a:latin typeface="Calibri"/>
                <a:cs typeface="Calibri"/>
              </a:rPr>
              <a:t>“context </a:t>
            </a:r>
            <a:r>
              <a:rPr sz="2800" spc="-15" dirty="0">
                <a:latin typeface="Calibri"/>
                <a:cs typeface="Calibri"/>
              </a:rPr>
              <a:t>switch” </a:t>
            </a:r>
            <a:r>
              <a:rPr sz="2800" spc="-10" dirty="0">
                <a:latin typeface="Calibri"/>
                <a:cs typeface="Calibri"/>
              </a:rPr>
              <a:t>between  </a:t>
            </a:r>
            <a:r>
              <a:rPr sz="2800" spc="-15" dirty="0">
                <a:latin typeface="Calibri"/>
                <a:cs typeface="Calibri"/>
              </a:rPr>
              <a:t>processes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dirty="0"/>
              <a:t>2</a:t>
            </a:fld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22862" y="918781"/>
            <a:ext cx="641096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What </a:t>
            </a:r>
            <a:r>
              <a:rPr spc="-15" dirty="0"/>
              <a:t>constitutes </a:t>
            </a:r>
            <a:r>
              <a:rPr dirty="0"/>
              <a:t>a</a:t>
            </a:r>
            <a:r>
              <a:rPr spc="-25" dirty="0"/>
              <a:t> </a:t>
            </a:r>
            <a:r>
              <a:rPr spc="-10" dirty="0"/>
              <a:t>process?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822862" y="2369883"/>
            <a:ext cx="8235538" cy="42524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dirty="0">
                <a:latin typeface="Calibri"/>
                <a:cs typeface="Calibri"/>
              </a:rPr>
              <a:t>A </a:t>
            </a:r>
            <a:r>
              <a:rPr sz="3000" spc="-5" dirty="0">
                <a:latin typeface="Calibri"/>
                <a:cs typeface="Calibri"/>
              </a:rPr>
              <a:t>unique </a:t>
            </a:r>
            <a:r>
              <a:rPr sz="3000" spc="-10" dirty="0">
                <a:latin typeface="Calibri"/>
                <a:cs typeface="Calibri"/>
              </a:rPr>
              <a:t>identifier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(PID)</a:t>
            </a:r>
            <a:endParaRPr sz="30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spc="-5" dirty="0">
                <a:latin typeface="Calibri"/>
                <a:cs typeface="Calibri"/>
              </a:rPr>
              <a:t>Memory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image</a:t>
            </a:r>
            <a:endParaRPr sz="30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15"/>
              </a:spcBef>
              <a:buFont typeface="Arial"/>
              <a:buChar char="–"/>
              <a:tabLst>
                <a:tab pos="756920" algn="l"/>
              </a:tabLst>
            </a:pPr>
            <a:r>
              <a:rPr sz="2600" spc="-5" dirty="0">
                <a:latin typeface="Calibri"/>
                <a:cs typeface="Calibri"/>
              </a:rPr>
              <a:t>Code </a:t>
            </a:r>
            <a:r>
              <a:rPr sz="2600" dirty="0">
                <a:latin typeface="Calibri"/>
                <a:cs typeface="Calibri"/>
              </a:rPr>
              <a:t>&amp; </a:t>
            </a:r>
            <a:r>
              <a:rPr sz="2600" spc="-15" dirty="0">
                <a:latin typeface="Calibri"/>
                <a:cs typeface="Calibri"/>
              </a:rPr>
              <a:t>data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(static)</a:t>
            </a:r>
            <a:endParaRPr sz="2600" dirty="0">
              <a:latin typeface="Calibri"/>
              <a:cs typeface="Calibri"/>
            </a:endParaRPr>
          </a:p>
          <a:p>
            <a:pPr marL="756285" lvl="1" indent="-287020">
              <a:lnSpc>
                <a:spcPts val="3110"/>
              </a:lnSpc>
              <a:buFont typeface="Arial"/>
              <a:buChar char="–"/>
              <a:tabLst>
                <a:tab pos="756920" algn="l"/>
              </a:tabLst>
            </a:pPr>
            <a:r>
              <a:rPr sz="2600" spc="-10" dirty="0">
                <a:latin typeface="Calibri"/>
                <a:cs typeface="Calibri"/>
              </a:rPr>
              <a:t>Stack </a:t>
            </a:r>
            <a:r>
              <a:rPr sz="2600" dirty="0">
                <a:latin typeface="Calibri"/>
                <a:cs typeface="Calibri"/>
              </a:rPr>
              <a:t>and </a:t>
            </a:r>
            <a:r>
              <a:rPr sz="2600" spc="-5" dirty="0">
                <a:latin typeface="Calibri"/>
                <a:cs typeface="Calibri"/>
              </a:rPr>
              <a:t>heap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(dynamic)</a:t>
            </a:r>
            <a:endParaRPr sz="2600" dirty="0">
              <a:latin typeface="Calibri"/>
              <a:cs typeface="Calibri"/>
            </a:endParaRPr>
          </a:p>
          <a:p>
            <a:pPr marL="355600" indent="-342900">
              <a:lnSpc>
                <a:spcPts val="359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spc="-5" dirty="0">
                <a:latin typeface="Calibri"/>
                <a:cs typeface="Calibri"/>
              </a:rPr>
              <a:t>CPU </a:t>
            </a:r>
            <a:r>
              <a:rPr sz="3000" spc="-20" dirty="0">
                <a:latin typeface="Calibri"/>
                <a:cs typeface="Calibri"/>
              </a:rPr>
              <a:t>context: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registers</a:t>
            </a:r>
            <a:endParaRPr sz="30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15"/>
              </a:spcBef>
              <a:buFont typeface="Arial"/>
              <a:buChar char="–"/>
              <a:tabLst>
                <a:tab pos="756920" algn="l"/>
              </a:tabLst>
            </a:pPr>
            <a:r>
              <a:rPr sz="2600" spc="-15" dirty="0">
                <a:latin typeface="Calibri"/>
                <a:cs typeface="Calibri"/>
              </a:rPr>
              <a:t>Program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counter</a:t>
            </a:r>
            <a:endParaRPr sz="26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buFont typeface="Arial"/>
              <a:buChar char="–"/>
              <a:tabLst>
                <a:tab pos="756920" algn="l"/>
              </a:tabLst>
            </a:pPr>
            <a:r>
              <a:rPr sz="2600" spc="-10" dirty="0">
                <a:latin typeface="Calibri"/>
                <a:cs typeface="Calibri"/>
              </a:rPr>
              <a:t>Current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operands</a:t>
            </a:r>
            <a:endParaRPr sz="2600" dirty="0">
              <a:latin typeface="Calibri"/>
              <a:cs typeface="Calibri"/>
            </a:endParaRPr>
          </a:p>
          <a:p>
            <a:pPr marL="756285" lvl="1" indent="-287020">
              <a:lnSpc>
                <a:spcPts val="3110"/>
              </a:lnSpc>
              <a:buFont typeface="Arial"/>
              <a:buChar char="–"/>
              <a:tabLst>
                <a:tab pos="756920" algn="l"/>
              </a:tabLst>
            </a:pPr>
            <a:r>
              <a:rPr sz="2600" spc="-10" dirty="0">
                <a:latin typeface="Calibri"/>
                <a:cs typeface="Calibri"/>
              </a:rPr>
              <a:t>Stack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pointer</a:t>
            </a:r>
            <a:endParaRPr sz="2600" dirty="0">
              <a:latin typeface="Calibri"/>
              <a:cs typeface="Calibri"/>
            </a:endParaRPr>
          </a:p>
          <a:p>
            <a:pPr marL="355600" indent="-342900">
              <a:lnSpc>
                <a:spcPts val="359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spc="-5" dirty="0">
                <a:latin typeface="Calibri"/>
                <a:cs typeface="Calibri"/>
              </a:rPr>
              <a:t>File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descriptors</a:t>
            </a:r>
            <a:endParaRPr sz="3000" dirty="0">
              <a:latin typeface="Calibri"/>
              <a:cs typeface="Calibri"/>
            </a:endParaRPr>
          </a:p>
          <a:p>
            <a:pPr marL="756285" marR="38100" lvl="1" indent="-287020">
              <a:lnSpc>
                <a:spcPts val="2500"/>
              </a:lnSpc>
              <a:spcBef>
                <a:spcPts val="615"/>
              </a:spcBef>
              <a:buFont typeface="Arial"/>
              <a:buChar char="–"/>
              <a:tabLst>
                <a:tab pos="756920" algn="l"/>
              </a:tabLst>
            </a:pPr>
            <a:r>
              <a:rPr sz="2600" spc="-20" dirty="0">
                <a:latin typeface="Calibri"/>
                <a:cs typeface="Calibri"/>
              </a:rPr>
              <a:t>Pointers </a:t>
            </a:r>
            <a:r>
              <a:rPr sz="2600" spc="-15" dirty="0">
                <a:latin typeface="Calibri"/>
                <a:cs typeface="Calibri"/>
              </a:rPr>
              <a:t>to </a:t>
            </a:r>
            <a:r>
              <a:rPr sz="2600" spc="-5" dirty="0">
                <a:latin typeface="Calibri"/>
                <a:cs typeface="Calibri"/>
              </a:rPr>
              <a:t>open files</a:t>
            </a:r>
            <a:r>
              <a:rPr sz="2600" spc="-10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  </a:t>
            </a:r>
            <a:r>
              <a:rPr sz="2600" spc="-5" dirty="0">
                <a:latin typeface="Calibri"/>
                <a:cs typeface="Calibri"/>
              </a:rPr>
              <a:t>devices</a:t>
            </a:r>
            <a:endParaRPr sz="2600" dirty="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895843" y="3886200"/>
            <a:ext cx="24765" cy="10795"/>
          </a:xfrm>
          <a:custGeom>
            <a:avLst/>
            <a:gdLst/>
            <a:ahLst/>
            <a:cxnLst/>
            <a:rect l="l" t="t" r="r" b="b"/>
            <a:pathLst>
              <a:path w="24765" h="10795">
                <a:moveTo>
                  <a:pt x="2031" y="3555"/>
                </a:moveTo>
                <a:lnTo>
                  <a:pt x="0" y="4571"/>
                </a:lnTo>
                <a:lnTo>
                  <a:pt x="0" y="9143"/>
                </a:lnTo>
                <a:lnTo>
                  <a:pt x="3048" y="10667"/>
                </a:lnTo>
                <a:lnTo>
                  <a:pt x="7620" y="10667"/>
                </a:lnTo>
                <a:lnTo>
                  <a:pt x="9144" y="9143"/>
                </a:lnTo>
                <a:lnTo>
                  <a:pt x="1524" y="4571"/>
                </a:lnTo>
                <a:lnTo>
                  <a:pt x="2031" y="3555"/>
                </a:lnTo>
                <a:close/>
              </a:path>
              <a:path w="24765" h="10795">
                <a:moveTo>
                  <a:pt x="3048" y="3048"/>
                </a:moveTo>
                <a:lnTo>
                  <a:pt x="2031" y="3555"/>
                </a:lnTo>
                <a:lnTo>
                  <a:pt x="1524" y="4571"/>
                </a:lnTo>
                <a:lnTo>
                  <a:pt x="9144" y="9143"/>
                </a:lnTo>
                <a:lnTo>
                  <a:pt x="9144" y="6095"/>
                </a:lnTo>
                <a:lnTo>
                  <a:pt x="6096" y="6095"/>
                </a:lnTo>
                <a:lnTo>
                  <a:pt x="3048" y="4571"/>
                </a:lnTo>
                <a:lnTo>
                  <a:pt x="3048" y="3048"/>
                </a:lnTo>
                <a:close/>
              </a:path>
              <a:path w="24765" h="10795">
                <a:moveTo>
                  <a:pt x="9797" y="3048"/>
                </a:moveTo>
                <a:lnTo>
                  <a:pt x="7620" y="3048"/>
                </a:lnTo>
                <a:lnTo>
                  <a:pt x="9144" y="4571"/>
                </a:lnTo>
                <a:lnTo>
                  <a:pt x="9144" y="9143"/>
                </a:lnTo>
                <a:lnTo>
                  <a:pt x="11429" y="6095"/>
                </a:lnTo>
                <a:lnTo>
                  <a:pt x="10668" y="6095"/>
                </a:lnTo>
                <a:lnTo>
                  <a:pt x="9797" y="3048"/>
                </a:lnTo>
                <a:close/>
              </a:path>
              <a:path w="24765" h="10795">
                <a:moveTo>
                  <a:pt x="7620" y="0"/>
                </a:moveTo>
                <a:lnTo>
                  <a:pt x="3810" y="0"/>
                </a:lnTo>
                <a:lnTo>
                  <a:pt x="3048" y="1524"/>
                </a:lnTo>
                <a:lnTo>
                  <a:pt x="3048" y="4571"/>
                </a:lnTo>
                <a:lnTo>
                  <a:pt x="6096" y="6095"/>
                </a:lnTo>
                <a:lnTo>
                  <a:pt x="9144" y="6095"/>
                </a:lnTo>
                <a:lnTo>
                  <a:pt x="9144" y="4571"/>
                </a:lnTo>
                <a:lnTo>
                  <a:pt x="7620" y="3048"/>
                </a:lnTo>
                <a:lnTo>
                  <a:pt x="9797" y="3048"/>
                </a:lnTo>
                <a:lnTo>
                  <a:pt x="9144" y="762"/>
                </a:lnTo>
                <a:lnTo>
                  <a:pt x="7620" y="0"/>
                </a:lnTo>
                <a:close/>
              </a:path>
              <a:path w="24765" h="10795">
                <a:moveTo>
                  <a:pt x="9144" y="762"/>
                </a:moveTo>
                <a:lnTo>
                  <a:pt x="10668" y="6095"/>
                </a:lnTo>
                <a:lnTo>
                  <a:pt x="11887" y="5486"/>
                </a:lnTo>
                <a:lnTo>
                  <a:pt x="12573" y="4571"/>
                </a:lnTo>
                <a:lnTo>
                  <a:pt x="12192" y="4571"/>
                </a:lnTo>
                <a:lnTo>
                  <a:pt x="10668" y="1524"/>
                </a:lnTo>
                <a:lnTo>
                  <a:pt x="9144" y="762"/>
                </a:lnTo>
                <a:close/>
              </a:path>
              <a:path w="24765" h="10795">
                <a:moveTo>
                  <a:pt x="11887" y="5486"/>
                </a:moveTo>
                <a:lnTo>
                  <a:pt x="10668" y="6095"/>
                </a:lnTo>
                <a:lnTo>
                  <a:pt x="11756" y="5660"/>
                </a:lnTo>
                <a:lnTo>
                  <a:pt x="11887" y="5486"/>
                </a:lnTo>
                <a:close/>
              </a:path>
              <a:path w="24765" h="10795">
                <a:moveTo>
                  <a:pt x="11756" y="5660"/>
                </a:moveTo>
                <a:lnTo>
                  <a:pt x="10668" y="6095"/>
                </a:lnTo>
                <a:lnTo>
                  <a:pt x="11429" y="6095"/>
                </a:lnTo>
                <a:lnTo>
                  <a:pt x="11756" y="5660"/>
                </a:lnTo>
                <a:close/>
              </a:path>
              <a:path w="24765" h="10795">
                <a:moveTo>
                  <a:pt x="16981" y="0"/>
                </a:moveTo>
                <a:lnTo>
                  <a:pt x="13716" y="0"/>
                </a:lnTo>
                <a:lnTo>
                  <a:pt x="13716" y="4571"/>
                </a:lnTo>
                <a:lnTo>
                  <a:pt x="11887" y="5486"/>
                </a:lnTo>
                <a:lnTo>
                  <a:pt x="11756" y="5660"/>
                </a:lnTo>
                <a:lnTo>
                  <a:pt x="18288" y="3048"/>
                </a:lnTo>
                <a:lnTo>
                  <a:pt x="16981" y="0"/>
                </a:lnTo>
                <a:close/>
              </a:path>
              <a:path w="24765" h="10795">
                <a:moveTo>
                  <a:pt x="13716" y="3048"/>
                </a:moveTo>
                <a:lnTo>
                  <a:pt x="11887" y="5486"/>
                </a:lnTo>
                <a:lnTo>
                  <a:pt x="13716" y="4571"/>
                </a:lnTo>
                <a:lnTo>
                  <a:pt x="13716" y="3048"/>
                </a:lnTo>
                <a:close/>
              </a:path>
              <a:path w="24765" h="10795">
                <a:moveTo>
                  <a:pt x="10668" y="1524"/>
                </a:moveTo>
                <a:lnTo>
                  <a:pt x="12192" y="4571"/>
                </a:lnTo>
                <a:lnTo>
                  <a:pt x="12573" y="4571"/>
                </a:lnTo>
                <a:lnTo>
                  <a:pt x="13716" y="3048"/>
                </a:lnTo>
                <a:lnTo>
                  <a:pt x="10668" y="1524"/>
                </a:lnTo>
                <a:close/>
              </a:path>
              <a:path w="24765" h="10795">
                <a:moveTo>
                  <a:pt x="17272" y="0"/>
                </a:moveTo>
                <a:lnTo>
                  <a:pt x="16981" y="0"/>
                </a:lnTo>
                <a:lnTo>
                  <a:pt x="18288" y="3048"/>
                </a:lnTo>
                <a:lnTo>
                  <a:pt x="14478" y="4571"/>
                </a:lnTo>
                <a:lnTo>
                  <a:pt x="19812" y="4571"/>
                </a:lnTo>
                <a:lnTo>
                  <a:pt x="20574" y="3048"/>
                </a:lnTo>
                <a:lnTo>
                  <a:pt x="19812" y="3048"/>
                </a:lnTo>
                <a:lnTo>
                  <a:pt x="17272" y="0"/>
                </a:lnTo>
                <a:close/>
              </a:path>
              <a:path w="24765" h="10795">
                <a:moveTo>
                  <a:pt x="3048" y="1524"/>
                </a:moveTo>
                <a:lnTo>
                  <a:pt x="2031" y="3555"/>
                </a:lnTo>
                <a:lnTo>
                  <a:pt x="3048" y="3048"/>
                </a:lnTo>
                <a:lnTo>
                  <a:pt x="3048" y="1524"/>
                </a:lnTo>
                <a:close/>
              </a:path>
              <a:path w="24765" h="10795">
                <a:moveTo>
                  <a:pt x="13716" y="0"/>
                </a:moveTo>
                <a:lnTo>
                  <a:pt x="10668" y="0"/>
                </a:lnTo>
                <a:lnTo>
                  <a:pt x="10668" y="1524"/>
                </a:lnTo>
                <a:lnTo>
                  <a:pt x="13716" y="3048"/>
                </a:lnTo>
                <a:lnTo>
                  <a:pt x="13716" y="0"/>
                </a:lnTo>
                <a:close/>
              </a:path>
              <a:path w="24765" h="10795">
                <a:moveTo>
                  <a:pt x="21336" y="0"/>
                </a:moveTo>
                <a:lnTo>
                  <a:pt x="17272" y="0"/>
                </a:lnTo>
                <a:lnTo>
                  <a:pt x="19812" y="3048"/>
                </a:lnTo>
                <a:lnTo>
                  <a:pt x="20955" y="2286"/>
                </a:lnTo>
                <a:lnTo>
                  <a:pt x="21336" y="1524"/>
                </a:lnTo>
                <a:lnTo>
                  <a:pt x="21336" y="0"/>
                </a:lnTo>
                <a:close/>
              </a:path>
              <a:path w="24765" h="10795">
                <a:moveTo>
                  <a:pt x="20955" y="2286"/>
                </a:moveTo>
                <a:lnTo>
                  <a:pt x="19812" y="3048"/>
                </a:lnTo>
                <a:lnTo>
                  <a:pt x="20574" y="3048"/>
                </a:lnTo>
                <a:lnTo>
                  <a:pt x="20955" y="2286"/>
                </a:lnTo>
                <a:close/>
              </a:path>
              <a:path w="24765" h="10795">
                <a:moveTo>
                  <a:pt x="24384" y="0"/>
                </a:moveTo>
                <a:lnTo>
                  <a:pt x="21336" y="0"/>
                </a:lnTo>
                <a:lnTo>
                  <a:pt x="21336" y="1524"/>
                </a:lnTo>
                <a:lnTo>
                  <a:pt x="20955" y="2286"/>
                </a:lnTo>
                <a:lnTo>
                  <a:pt x="24384" y="0"/>
                </a:lnTo>
                <a:close/>
              </a:path>
              <a:path w="24765" h="10795">
                <a:moveTo>
                  <a:pt x="3810" y="0"/>
                </a:moveTo>
                <a:lnTo>
                  <a:pt x="3048" y="0"/>
                </a:lnTo>
                <a:lnTo>
                  <a:pt x="3048" y="1524"/>
                </a:lnTo>
                <a:lnTo>
                  <a:pt x="3810" y="0"/>
                </a:lnTo>
                <a:close/>
              </a:path>
              <a:path w="24765" h="10795">
                <a:moveTo>
                  <a:pt x="10668" y="0"/>
                </a:moveTo>
                <a:lnTo>
                  <a:pt x="8926" y="0"/>
                </a:lnTo>
                <a:lnTo>
                  <a:pt x="9144" y="762"/>
                </a:lnTo>
                <a:lnTo>
                  <a:pt x="10668" y="1524"/>
                </a:lnTo>
                <a:lnTo>
                  <a:pt x="10668" y="0"/>
                </a:lnTo>
                <a:close/>
              </a:path>
              <a:path w="24765" h="10795">
                <a:moveTo>
                  <a:pt x="8926" y="0"/>
                </a:moveTo>
                <a:lnTo>
                  <a:pt x="7620" y="0"/>
                </a:lnTo>
                <a:lnTo>
                  <a:pt x="9144" y="762"/>
                </a:lnTo>
                <a:lnTo>
                  <a:pt x="892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dirty="0"/>
              <a:t>3</a:t>
            </a:fld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81454" y="918781"/>
            <a:ext cx="70891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How </a:t>
            </a:r>
            <a:r>
              <a:rPr dirty="0"/>
              <a:t>does </a:t>
            </a:r>
            <a:r>
              <a:rPr spc="-5" dirty="0"/>
              <a:t>OS </a:t>
            </a:r>
            <a:r>
              <a:rPr spc="-25" dirty="0"/>
              <a:t>create </a:t>
            </a:r>
            <a:r>
              <a:rPr dirty="0"/>
              <a:t>a</a:t>
            </a:r>
            <a:r>
              <a:rPr spc="-70" dirty="0"/>
              <a:t> </a:t>
            </a:r>
            <a:r>
              <a:rPr spc="-10" dirty="0"/>
              <a:t>process?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993139" y="2002027"/>
            <a:ext cx="9065261" cy="3181768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marR="5080" indent="-342900">
              <a:lnSpc>
                <a:spcPts val="2400"/>
              </a:lnSpc>
              <a:spcBef>
                <a:spcPts val="67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500" spc="-10" dirty="0">
                <a:latin typeface="Calibri"/>
                <a:cs typeface="Calibri"/>
              </a:rPr>
              <a:t>Allocates </a:t>
            </a:r>
            <a:r>
              <a:rPr sz="2500" spc="-5" dirty="0">
                <a:latin typeface="Calibri"/>
                <a:cs typeface="Calibri"/>
              </a:rPr>
              <a:t>memory  and </a:t>
            </a:r>
            <a:r>
              <a:rPr sz="2500" spc="-15" dirty="0">
                <a:latin typeface="Calibri"/>
                <a:cs typeface="Calibri"/>
              </a:rPr>
              <a:t>creates</a:t>
            </a:r>
            <a:r>
              <a:rPr sz="2500" spc="-70" dirty="0">
                <a:latin typeface="Calibri"/>
                <a:cs typeface="Calibri"/>
              </a:rPr>
              <a:t> </a:t>
            </a:r>
            <a:r>
              <a:rPr sz="2500" spc="-5" dirty="0">
                <a:latin typeface="Calibri"/>
                <a:cs typeface="Calibri"/>
              </a:rPr>
              <a:t>memory  </a:t>
            </a:r>
            <a:r>
              <a:rPr sz="2500" spc="-10" dirty="0">
                <a:latin typeface="Calibri"/>
                <a:cs typeface="Calibri"/>
              </a:rPr>
              <a:t>image</a:t>
            </a:r>
            <a:endParaRPr sz="2500" dirty="0">
              <a:latin typeface="Calibri"/>
              <a:cs typeface="Calibri"/>
            </a:endParaRPr>
          </a:p>
          <a:p>
            <a:pPr marL="756285" marR="355600" lvl="1" indent="-287020">
              <a:lnSpc>
                <a:spcPct val="80000"/>
              </a:lnSpc>
              <a:spcBef>
                <a:spcPts val="560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200" spc="-5" dirty="0">
                <a:latin typeface="Calibri"/>
                <a:cs typeface="Calibri"/>
              </a:rPr>
              <a:t>Loads </a:t>
            </a:r>
            <a:r>
              <a:rPr sz="2200" spc="-15" dirty="0">
                <a:latin typeface="Calibri"/>
                <a:cs typeface="Calibri"/>
              </a:rPr>
              <a:t>code,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data  </a:t>
            </a:r>
            <a:r>
              <a:rPr sz="2200" spc="-15" dirty="0">
                <a:latin typeface="Calibri"/>
                <a:cs typeface="Calibri"/>
              </a:rPr>
              <a:t>from </a:t>
            </a:r>
            <a:r>
              <a:rPr sz="2200" spc="-5" dirty="0">
                <a:latin typeface="Calibri"/>
                <a:cs typeface="Calibri"/>
              </a:rPr>
              <a:t>disk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40" dirty="0">
                <a:latin typeface="Calibri"/>
                <a:cs typeface="Calibri"/>
              </a:rPr>
              <a:t>exe</a:t>
            </a:r>
            <a:endParaRPr sz="2200" dirty="0">
              <a:latin typeface="Calibri"/>
              <a:cs typeface="Calibri"/>
            </a:endParaRPr>
          </a:p>
          <a:p>
            <a:pPr marL="756285" marR="433070" lvl="1" indent="-287020">
              <a:lnSpc>
                <a:spcPct val="80000"/>
              </a:lnSpc>
              <a:spcBef>
                <a:spcPts val="525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200" spc="-15" dirty="0">
                <a:latin typeface="Calibri"/>
                <a:cs typeface="Calibri"/>
              </a:rPr>
              <a:t>Creates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runtime  </a:t>
            </a:r>
            <a:r>
              <a:rPr sz="2200" spc="-15" dirty="0">
                <a:latin typeface="Calibri"/>
                <a:cs typeface="Calibri"/>
              </a:rPr>
              <a:t>stack,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5" dirty="0" smtClean="0">
                <a:latin typeface="Calibri"/>
                <a:cs typeface="Calibri"/>
              </a:rPr>
              <a:t>heap</a:t>
            </a:r>
            <a:endParaRPr lang="en-US" sz="2200" spc="-5" dirty="0" smtClean="0">
              <a:latin typeface="Calibri"/>
              <a:cs typeface="Calibri"/>
            </a:endParaRPr>
          </a:p>
          <a:p>
            <a:pPr marL="756285" marR="433070" lvl="1" indent="-287020">
              <a:lnSpc>
                <a:spcPct val="80000"/>
              </a:lnSpc>
              <a:spcBef>
                <a:spcPts val="525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endParaRPr sz="2200" dirty="0">
              <a:latin typeface="Calibri"/>
              <a:cs typeface="Calibri"/>
            </a:endParaRPr>
          </a:p>
          <a:p>
            <a:pPr marL="355600" indent="-342900">
              <a:lnSpc>
                <a:spcPts val="299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500" spc="-5" dirty="0">
                <a:latin typeface="Calibri"/>
                <a:cs typeface="Calibri"/>
              </a:rPr>
              <a:t>Opens basic</a:t>
            </a:r>
            <a:r>
              <a:rPr sz="2500" spc="-20" dirty="0">
                <a:latin typeface="Calibri"/>
                <a:cs typeface="Calibri"/>
              </a:rPr>
              <a:t> </a:t>
            </a:r>
            <a:r>
              <a:rPr sz="2500" spc="-5" dirty="0">
                <a:latin typeface="Calibri"/>
                <a:cs typeface="Calibri"/>
              </a:rPr>
              <a:t>files</a:t>
            </a:r>
            <a:endParaRPr sz="2500" dirty="0">
              <a:latin typeface="Calibri"/>
              <a:cs typeface="Calibri"/>
            </a:endParaRPr>
          </a:p>
          <a:p>
            <a:pPr marL="756285" lvl="1" indent="-287020">
              <a:lnSpc>
                <a:spcPts val="2635"/>
              </a:lnSpc>
              <a:spcBef>
                <a:spcPts val="15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200" spc="-10" dirty="0">
                <a:latin typeface="Calibri"/>
                <a:cs typeface="Calibri"/>
              </a:rPr>
              <a:t>STD </a:t>
            </a:r>
            <a:r>
              <a:rPr sz="2200" spc="-5" dirty="0">
                <a:latin typeface="Calibri"/>
                <a:cs typeface="Calibri"/>
              </a:rPr>
              <a:t>IN, </a:t>
            </a:r>
            <a:r>
              <a:rPr sz="2200" spc="-65" dirty="0">
                <a:latin typeface="Calibri"/>
                <a:cs typeface="Calibri"/>
              </a:rPr>
              <a:t>OUT,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10" dirty="0" smtClean="0">
                <a:latin typeface="Calibri"/>
                <a:cs typeface="Calibri"/>
              </a:rPr>
              <a:t>ERR</a:t>
            </a:r>
            <a:endParaRPr lang="en-US" sz="2200" spc="-10" dirty="0" smtClean="0">
              <a:latin typeface="Calibri"/>
              <a:cs typeface="Calibri"/>
            </a:endParaRPr>
          </a:p>
          <a:p>
            <a:pPr marL="756285" lvl="1" indent="-287020">
              <a:lnSpc>
                <a:spcPts val="2635"/>
              </a:lnSpc>
              <a:spcBef>
                <a:spcPts val="15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endParaRPr sz="2200" dirty="0">
              <a:latin typeface="Calibri"/>
              <a:cs typeface="Calibri"/>
            </a:endParaRPr>
          </a:p>
          <a:p>
            <a:pPr marL="355600" marR="850900" indent="-342900">
              <a:lnSpc>
                <a:spcPts val="2400"/>
              </a:lnSpc>
              <a:spcBef>
                <a:spcPts val="57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500" spc="-10" dirty="0">
                <a:latin typeface="Calibri"/>
                <a:cs typeface="Calibri"/>
              </a:rPr>
              <a:t>Initializes</a:t>
            </a:r>
            <a:r>
              <a:rPr sz="2500" spc="-7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CPU  </a:t>
            </a:r>
            <a:r>
              <a:rPr sz="2500" spc="-20" dirty="0">
                <a:latin typeface="Calibri"/>
                <a:cs typeface="Calibri"/>
              </a:rPr>
              <a:t>registers</a:t>
            </a:r>
            <a:endParaRPr sz="2500" dirty="0">
              <a:latin typeface="Calibri"/>
              <a:cs typeface="Calibri"/>
            </a:endParaRPr>
          </a:p>
          <a:p>
            <a:pPr marL="756285" marR="386080" lvl="1" indent="-287020">
              <a:lnSpc>
                <a:spcPts val="2110"/>
              </a:lnSpc>
              <a:spcBef>
                <a:spcPts val="540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200" spc="-5" dirty="0">
                <a:latin typeface="Calibri"/>
                <a:cs typeface="Calibri"/>
              </a:rPr>
              <a:t>PC </a:t>
            </a:r>
            <a:r>
              <a:rPr sz="2200" spc="-10" dirty="0">
                <a:latin typeface="Calibri"/>
                <a:cs typeface="Calibri"/>
              </a:rPr>
              <a:t>points </a:t>
            </a:r>
            <a:r>
              <a:rPr sz="2200" spc="-20" dirty="0">
                <a:latin typeface="Calibri"/>
                <a:cs typeface="Calibri"/>
              </a:rPr>
              <a:t>to </a:t>
            </a:r>
            <a:r>
              <a:rPr sz="2200" spc="-15" dirty="0">
                <a:latin typeface="Calibri"/>
                <a:cs typeface="Calibri"/>
              </a:rPr>
              <a:t>first  </a:t>
            </a:r>
            <a:r>
              <a:rPr sz="2200" spc="-10" dirty="0">
                <a:latin typeface="Calibri"/>
                <a:cs typeface="Calibri"/>
              </a:rPr>
              <a:t>instruction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dirty="0"/>
              <a:t>4</a:t>
            </a:fld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04870" y="918781"/>
            <a:ext cx="424307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States </a:t>
            </a:r>
            <a:r>
              <a:rPr dirty="0"/>
              <a:t>of a</a:t>
            </a:r>
            <a:r>
              <a:rPr spc="-55" dirty="0"/>
              <a:t> </a:t>
            </a:r>
            <a:r>
              <a:rPr spc="-15" dirty="0"/>
              <a:t>process</a:t>
            </a:r>
          </a:p>
        </p:txBody>
      </p:sp>
      <p:sp>
        <p:nvSpPr>
          <p:cNvPr id="6" name="object 6"/>
          <p:cNvSpPr/>
          <p:nvPr/>
        </p:nvSpPr>
        <p:spPr>
          <a:xfrm>
            <a:off x="457200" y="3886200"/>
            <a:ext cx="9142730" cy="3427729"/>
          </a:xfrm>
          <a:custGeom>
            <a:avLst/>
            <a:gdLst/>
            <a:ahLst/>
            <a:cxnLst/>
            <a:rect l="l" t="t" r="r" b="b"/>
            <a:pathLst>
              <a:path w="9142730" h="3427729">
                <a:moveTo>
                  <a:pt x="0" y="3427475"/>
                </a:moveTo>
                <a:lnTo>
                  <a:pt x="9142475" y="3427475"/>
                </a:lnTo>
                <a:lnTo>
                  <a:pt x="9142475" y="0"/>
                </a:lnTo>
                <a:lnTo>
                  <a:pt x="0" y="0"/>
                </a:lnTo>
                <a:lnTo>
                  <a:pt x="0" y="34274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447800" y="2291207"/>
            <a:ext cx="7930515" cy="441452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48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Running: </a:t>
            </a:r>
            <a:r>
              <a:rPr sz="3200" spc="-15" dirty="0">
                <a:latin typeface="Calibri"/>
                <a:cs typeface="Calibri"/>
              </a:rPr>
              <a:t>currently </a:t>
            </a:r>
            <a:r>
              <a:rPr sz="3200" spc="-20" dirty="0">
                <a:latin typeface="Calibri"/>
                <a:cs typeface="Calibri"/>
              </a:rPr>
              <a:t>executing </a:t>
            </a:r>
            <a:r>
              <a:rPr sz="3200" spc="-5" dirty="0">
                <a:latin typeface="Calibri"/>
                <a:cs typeface="Calibri"/>
              </a:rPr>
              <a:t>on</a:t>
            </a:r>
            <a:r>
              <a:rPr sz="3200" spc="4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CPU</a:t>
            </a:r>
            <a:endParaRPr sz="32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38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15" dirty="0">
                <a:latin typeface="Calibri"/>
                <a:cs typeface="Calibri"/>
              </a:rPr>
              <a:t>Ready: </a:t>
            </a:r>
            <a:r>
              <a:rPr sz="3200" spc="-10" dirty="0">
                <a:latin typeface="Calibri"/>
                <a:cs typeface="Calibri"/>
              </a:rPr>
              <a:t>waiting </a:t>
            </a:r>
            <a:r>
              <a:rPr sz="3200" spc="-25" dirty="0">
                <a:latin typeface="Calibri"/>
                <a:cs typeface="Calibri"/>
              </a:rPr>
              <a:t>to </a:t>
            </a:r>
            <a:r>
              <a:rPr sz="3200" spc="-5" dirty="0">
                <a:latin typeface="Calibri"/>
                <a:cs typeface="Calibri"/>
              </a:rPr>
              <a:t>be</a:t>
            </a:r>
            <a:r>
              <a:rPr sz="3200" spc="5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scheduled</a:t>
            </a:r>
            <a:endParaRPr sz="32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38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20" dirty="0">
                <a:latin typeface="Calibri"/>
                <a:cs typeface="Calibri"/>
              </a:rPr>
              <a:t>Blocked: </a:t>
            </a:r>
            <a:r>
              <a:rPr sz="3200" spc="-5" dirty="0">
                <a:latin typeface="Calibri"/>
                <a:cs typeface="Calibri"/>
              </a:rPr>
              <a:t>suspended, not </a:t>
            </a:r>
            <a:r>
              <a:rPr sz="3200" spc="-10" dirty="0">
                <a:latin typeface="Calibri"/>
                <a:cs typeface="Calibri"/>
              </a:rPr>
              <a:t>ready </a:t>
            </a:r>
            <a:r>
              <a:rPr sz="3200" spc="-25" dirty="0">
                <a:latin typeface="Calibri"/>
                <a:cs typeface="Calibri"/>
              </a:rPr>
              <a:t>to</a:t>
            </a:r>
            <a:r>
              <a:rPr sz="3200" spc="3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run</a:t>
            </a:r>
            <a:endParaRPr sz="3200" dirty="0">
              <a:latin typeface="Calibri"/>
              <a:cs typeface="Calibri"/>
            </a:endParaRPr>
          </a:p>
          <a:p>
            <a:pPr marL="756285" marR="5080" lvl="1" indent="-287020">
              <a:lnSpc>
                <a:spcPts val="3020"/>
              </a:lnSpc>
              <a:spcBef>
                <a:spcPts val="735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20" dirty="0">
                <a:latin typeface="Calibri"/>
                <a:cs typeface="Calibri"/>
              </a:rPr>
              <a:t>Why? </a:t>
            </a:r>
            <a:r>
              <a:rPr sz="2800" spc="-25" dirty="0">
                <a:latin typeface="Calibri"/>
                <a:cs typeface="Calibri"/>
              </a:rPr>
              <a:t>Waiting for </a:t>
            </a:r>
            <a:r>
              <a:rPr sz="2800" spc="-10" dirty="0">
                <a:latin typeface="Calibri"/>
                <a:cs typeface="Calibri"/>
              </a:rPr>
              <a:t>some </a:t>
            </a:r>
            <a:r>
              <a:rPr sz="2800" spc="-20" dirty="0">
                <a:latin typeface="Calibri"/>
                <a:cs typeface="Calibri"/>
              </a:rPr>
              <a:t>event, </a:t>
            </a:r>
            <a:r>
              <a:rPr sz="2800" dirty="0">
                <a:latin typeface="Calibri"/>
                <a:cs typeface="Calibri"/>
              </a:rPr>
              <a:t>e.g., </a:t>
            </a:r>
            <a:r>
              <a:rPr sz="2800" spc="-15" dirty="0">
                <a:latin typeface="Calibri"/>
                <a:cs typeface="Calibri"/>
              </a:rPr>
              <a:t>process </a:t>
            </a:r>
            <a:r>
              <a:rPr sz="2800" spc="-10" dirty="0">
                <a:latin typeface="Calibri"/>
                <a:cs typeface="Calibri"/>
              </a:rPr>
              <a:t>issues  </a:t>
            </a: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15" dirty="0">
                <a:latin typeface="Calibri"/>
                <a:cs typeface="Calibri"/>
              </a:rPr>
              <a:t>read </a:t>
            </a:r>
            <a:r>
              <a:rPr sz="2800" spc="-20" dirty="0">
                <a:latin typeface="Calibri"/>
                <a:cs typeface="Calibri"/>
              </a:rPr>
              <a:t>from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disk</a:t>
            </a:r>
            <a:endParaRPr sz="2800" dirty="0">
              <a:latin typeface="Calibri"/>
              <a:cs typeface="Calibri"/>
            </a:endParaRPr>
          </a:p>
          <a:p>
            <a:pPr marL="756285" marR="542290" lvl="1" indent="-287020">
              <a:lnSpc>
                <a:spcPts val="3020"/>
              </a:lnSpc>
              <a:spcBef>
                <a:spcPts val="680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10" dirty="0">
                <a:latin typeface="Calibri"/>
                <a:cs typeface="Calibri"/>
              </a:rPr>
              <a:t>When is it </a:t>
            </a:r>
            <a:r>
              <a:rPr sz="2800" spc="-15" dirty="0">
                <a:latin typeface="Calibri"/>
                <a:cs typeface="Calibri"/>
              </a:rPr>
              <a:t>unblocked? </a:t>
            </a:r>
            <a:r>
              <a:rPr sz="2800" spc="-10" dirty="0">
                <a:latin typeface="Calibri"/>
                <a:cs typeface="Calibri"/>
              </a:rPr>
              <a:t>Disk issues </a:t>
            </a:r>
            <a:r>
              <a:rPr sz="2800" spc="-5" dirty="0">
                <a:latin typeface="Calibri"/>
                <a:cs typeface="Calibri"/>
              </a:rPr>
              <a:t>an </a:t>
            </a:r>
            <a:r>
              <a:rPr sz="2800" spc="-15" dirty="0">
                <a:latin typeface="Calibri"/>
                <a:cs typeface="Calibri"/>
              </a:rPr>
              <a:t>interrupt  </a:t>
            </a:r>
            <a:r>
              <a:rPr sz="2800" spc="-5" dirty="0">
                <a:latin typeface="Calibri"/>
                <a:cs typeface="Calibri"/>
              </a:rPr>
              <a:t>when </a:t>
            </a:r>
            <a:r>
              <a:rPr sz="2800" spc="-20" dirty="0">
                <a:latin typeface="Calibri"/>
                <a:cs typeface="Calibri"/>
              </a:rPr>
              <a:t>data </a:t>
            </a:r>
            <a:r>
              <a:rPr sz="2800" spc="-10" dirty="0">
                <a:latin typeface="Calibri"/>
                <a:cs typeface="Calibri"/>
              </a:rPr>
              <a:t>is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ready</a:t>
            </a:r>
            <a:endParaRPr sz="28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33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New: being </a:t>
            </a:r>
            <a:r>
              <a:rPr sz="3200" spc="-15" dirty="0">
                <a:latin typeface="Calibri"/>
                <a:cs typeface="Calibri"/>
              </a:rPr>
              <a:t>created, yet </a:t>
            </a:r>
            <a:r>
              <a:rPr sz="3200" spc="-25" dirty="0">
                <a:latin typeface="Calibri"/>
                <a:cs typeface="Calibri"/>
              </a:rPr>
              <a:t>to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run</a:t>
            </a:r>
            <a:endParaRPr sz="32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384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Dead: </a:t>
            </a:r>
            <a:r>
              <a:rPr sz="3200" spc="-15" dirty="0">
                <a:latin typeface="Calibri"/>
                <a:cs typeface="Calibri"/>
              </a:rPr>
              <a:t>terminated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dirty="0"/>
              <a:t>5</a:t>
            </a:fld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20626" y="918781"/>
            <a:ext cx="561213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Process </a:t>
            </a:r>
            <a:r>
              <a:rPr spc="-30" dirty="0"/>
              <a:t>State</a:t>
            </a:r>
            <a:r>
              <a:rPr spc="-85" dirty="0"/>
              <a:t> </a:t>
            </a:r>
            <a:r>
              <a:rPr spc="-35" dirty="0"/>
              <a:t>Transitions</a:t>
            </a:r>
          </a:p>
        </p:txBody>
      </p:sp>
      <p:sp>
        <p:nvSpPr>
          <p:cNvPr id="3" name="object 3"/>
          <p:cNvSpPr/>
          <p:nvPr/>
        </p:nvSpPr>
        <p:spPr>
          <a:xfrm>
            <a:off x="2905628" y="2041724"/>
            <a:ext cx="4241140" cy="1845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409188" y="3037331"/>
            <a:ext cx="26034" cy="26034"/>
          </a:xfrm>
          <a:custGeom>
            <a:avLst/>
            <a:gdLst/>
            <a:ahLst/>
            <a:cxnLst/>
            <a:rect l="l" t="t" r="r" b="b"/>
            <a:pathLst>
              <a:path w="26035" h="26035">
                <a:moveTo>
                  <a:pt x="10667" y="21336"/>
                </a:moveTo>
                <a:lnTo>
                  <a:pt x="1524" y="22860"/>
                </a:lnTo>
                <a:lnTo>
                  <a:pt x="1524" y="24384"/>
                </a:lnTo>
                <a:lnTo>
                  <a:pt x="4572" y="25908"/>
                </a:lnTo>
                <a:lnTo>
                  <a:pt x="9143" y="25908"/>
                </a:lnTo>
                <a:lnTo>
                  <a:pt x="10667" y="24384"/>
                </a:lnTo>
                <a:lnTo>
                  <a:pt x="10667" y="21336"/>
                </a:lnTo>
                <a:close/>
              </a:path>
              <a:path w="26035" h="26035">
                <a:moveTo>
                  <a:pt x="320" y="10828"/>
                </a:moveTo>
                <a:lnTo>
                  <a:pt x="1524" y="22860"/>
                </a:lnTo>
                <a:lnTo>
                  <a:pt x="1524" y="19812"/>
                </a:lnTo>
                <a:lnTo>
                  <a:pt x="4572" y="18287"/>
                </a:lnTo>
                <a:lnTo>
                  <a:pt x="10667" y="18287"/>
                </a:lnTo>
                <a:lnTo>
                  <a:pt x="10667" y="12192"/>
                </a:lnTo>
                <a:lnTo>
                  <a:pt x="3048" y="12192"/>
                </a:lnTo>
                <a:lnTo>
                  <a:pt x="320" y="10828"/>
                </a:lnTo>
                <a:close/>
              </a:path>
              <a:path w="26035" h="26035">
                <a:moveTo>
                  <a:pt x="9143" y="18287"/>
                </a:moveTo>
                <a:lnTo>
                  <a:pt x="4572" y="18287"/>
                </a:lnTo>
                <a:lnTo>
                  <a:pt x="1524" y="19812"/>
                </a:lnTo>
                <a:lnTo>
                  <a:pt x="1524" y="22860"/>
                </a:lnTo>
                <a:lnTo>
                  <a:pt x="10667" y="21336"/>
                </a:lnTo>
                <a:lnTo>
                  <a:pt x="10667" y="19812"/>
                </a:lnTo>
                <a:lnTo>
                  <a:pt x="9143" y="18287"/>
                </a:lnTo>
                <a:close/>
              </a:path>
              <a:path w="26035" h="26035">
                <a:moveTo>
                  <a:pt x="10667" y="18287"/>
                </a:moveTo>
                <a:lnTo>
                  <a:pt x="9143" y="18287"/>
                </a:lnTo>
                <a:lnTo>
                  <a:pt x="10667" y="19812"/>
                </a:lnTo>
                <a:lnTo>
                  <a:pt x="10667" y="18287"/>
                </a:lnTo>
                <a:close/>
              </a:path>
              <a:path w="26035" h="26035">
                <a:moveTo>
                  <a:pt x="1524" y="7402"/>
                </a:moveTo>
                <a:lnTo>
                  <a:pt x="0" y="7620"/>
                </a:lnTo>
                <a:lnTo>
                  <a:pt x="320" y="10828"/>
                </a:lnTo>
                <a:lnTo>
                  <a:pt x="3048" y="12192"/>
                </a:lnTo>
                <a:lnTo>
                  <a:pt x="7619" y="12192"/>
                </a:lnTo>
                <a:lnTo>
                  <a:pt x="10667" y="10668"/>
                </a:lnTo>
                <a:lnTo>
                  <a:pt x="4572" y="10668"/>
                </a:lnTo>
                <a:lnTo>
                  <a:pt x="1524" y="9144"/>
                </a:lnTo>
                <a:lnTo>
                  <a:pt x="1524" y="7402"/>
                </a:lnTo>
                <a:close/>
              </a:path>
              <a:path w="26035" h="26035">
                <a:moveTo>
                  <a:pt x="10667" y="10668"/>
                </a:moveTo>
                <a:lnTo>
                  <a:pt x="7619" y="12192"/>
                </a:lnTo>
                <a:lnTo>
                  <a:pt x="10667" y="12192"/>
                </a:lnTo>
                <a:lnTo>
                  <a:pt x="10667" y="10668"/>
                </a:lnTo>
                <a:close/>
              </a:path>
              <a:path w="26035" h="26035">
                <a:moveTo>
                  <a:pt x="0" y="7620"/>
                </a:moveTo>
                <a:lnTo>
                  <a:pt x="0" y="10668"/>
                </a:lnTo>
                <a:lnTo>
                  <a:pt x="320" y="10828"/>
                </a:lnTo>
                <a:lnTo>
                  <a:pt x="0" y="7620"/>
                </a:lnTo>
                <a:close/>
              </a:path>
              <a:path w="26035" h="26035">
                <a:moveTo>
                  <a:pt x="6017" y="6760"/>
                </a:moveTo>
                <a:lnTo>
                  <a:pt x="1524" y="7402"/>
                </a:lnTo>
                <a:lnTo>
                  <a:pt x="1524" y="9144"/>
                </a:lnTo>
                <a:lnTo>
                  <a:pt x="4572" y="10668"/>
                </a:lnTo>
                <a:lnTo>
                  <a:pt x="9143" y="10668"/>
                </a:lnTo>
                <a:lnTo>
                  <a:pt x="7924" y="9144"/>
                </a:lnTo>
                <a:lnTo>
                  <a:pt x="7619" y="9144"/>
                </a:lnTo>
                <a:lnTo>
                  <a:pt x="7111" y="8127"/>
                </a:lnTo>
                <a:lnTo>
                  <a:pt x="6017" y="6760"/>
                </a:lnTo>
                <a:close/>
              </a:path>
              <a:path w="26035" h="26035">
                <a:moveTo>
                  <a:pt x="8000" y="6477"/>
                </a:moveTo>
                <a:lnTo>
                  <a:pt x="6400" y="6705"/>
                </a:lnTo>
                <a:lnTo>
                  <a:pt x="7111" y="8127"/>
                </a:lnTo>
                <a:lnTo>
                  <a:pt x="9143" y="10668"/>
                </a:lnTo>
                <a:lnTo>
                  <a:pt x="10667" y="9144"/>
                </a:lnTo>
                <a:lnTo>
                  <a:pt x="8000" y="6477"/>
                </a:lnTo>
                <a:close/>
              </a:path>
              <a:path w="26035" h="26035">
                <a:moveTo>
                  <a:pt x="10667" y="9144"/>
                </a:moveTo>
                <a:lnTo>
                  <a:pt x="9143" y="10668"/>
                </a:lnTo>
                <a:lnTo>
                  <a:pt x="10667" y="10668"/>
                </a:lnTo>
                <a:lnTo>
                  <a:pt x="10667" y="9144"/>
                </a:lnTo>
                <a:close/>
              </a:path>
              <a:path w="26035" h="26035">
                <a:moveTo>
                  <a:pt x="12191" y="8382"/>
                </a:moveTo>
                <a:lnTo>
                  <a:pt x="10667" y="9144"/>
                </a:lnTo>
                <a:lnTo>
                  <a:pt x="10667" y="10668"/>
                </a:lnTo>
                <a:lnTo>
                  <a:pt x="12191" y="9144"/>
                </a:lnTo>
                <a:lnTo>
                  <a:pt x="12191" y="8382"/>
                </a:lnTo>
                <a:close/>
              </a:path>
              <a:path w="26035" h="26035">
                <a:moveTo>
                  <a:pt x="7111" y="8127"/>
                </a:moveTo>
                <a:lnTo>
                  <a:pt x="7619" y="9144"/>
                </a:lnTo>
                <a:lnTo>
                  <a:pt x="7924" y="9144"/>
                </a:lnTo>
                <a:lnTo>
                  <a:pt x="7111" y="8127"/>
                </a:lnTo>
                <a:close/>
              </a:path>
              <a:path w="26035" h="26035">
                <a:moveTo>
                  <a:pt x="8479" y="6408"/>
                </a:moveTo>
                <a:lnTo>
                  <a:pt x="8000" y="6477"/>
                </a:lnTo>
                <a:lnTo>
                  <a:pt x="10667" y="9144"/>
                </a:lnTo>
                <a:lnTo>
                  <a:pt x="8479" y="6408"/>
                </a:lnTo>
                <a:close/>
              </a:path>
              <a:path w="26035" h="26035">
                <a:moveTo>
                  <a:pt x="10667" y="6096"/>
                </a:moveTo>
                <a:lnTo>
                  <a:pt x="8479" y="6408"/>
                </a:lnTo>
                <a:lnTo>
                  <a:pt x="10667" y="9144"/>
                </a:lnTo>
                <a:lnTo>
                  <a:pt x="10667" y="6096"/>
                </a:lnTo>
                <a:close/>
              </a:path>
              <a:path w="26035" h="26035">
                <a:moveTo>
                  <a:pt x="10667" y="3810"/>
                </a:moveTo>
                <a:lnTo>
                  <a:pt x="10667" y="9144"/>
                </a:lnTo>
                <a:lnTo>
                  <a:pt x="12191" y="8382"/>
                </a:lnTo>
                <a:lnTo>
                  <a:pt x="12191" y="5715"/>
                </a:lnTo>
                <a:lnTo>
                  <a:pt x="10667" y="3810"/>
                </a:lnTo>
                <a:close/>
              </a:path>
              <a:path w="26035" h="26035">
                <a:moveTo>
                  <a:pt x="13715" y="7620"/>
                </a:moveTo>
                <a:lnTo>
                  <a:pt x="12191" y="8382"/>
                </a:lnTo>
                <a:lnTo>
                  <a:pt x="12191" y="9144"/>
                </a:lnTo>
                <a:lnTo>
                  <a:pt x="13715" y="9144"/>
                </a:lnTo>
                <a:lnTo>
                  <a:pt x="13715" y="7620"/>
                </a:lnTo>
                <a:close/>
              </a:path>
              <a:path w="26035" h="26035">
                <a:moveTo>
                  <a:pt x="14630" y="7315"/>
                </a:moveTo>
                <a:lnTo>
                  <a:pt x="13715" y="7620"/>
                </a:lnTo>
                <a:lnTo>
                  <a:pt x="13715" y="9144"/>
                </a:lnTo>
                <a:lnTo>
                  <a:pt x="14630" y="7315"/>
                </a:lnTo>
                <a:close/>
              </a:path>
              <a:path w="26035" h="26035">
                <a:moveTo>
                  <a:pt x="16459" y="6705"/>
                </a:moveTo>
                <a:lnTo>
                  <a:pt x="14630" y="7315"/>
                </a:lnTo>
                <a:lnTo>
                  <a:pt x="13715" y="9144"/>
                </a:lnTo>
                <a:lnTo>
                  <a:pt x="15239" y="9144"/>
                </a:lnTo>
                <a:lnTo>
                  <a:pt x="16459" y="6705"/>
                </a:lnTo>
                <a:close/>
              </a:path>
              <a:path w="26035" h="26035">
                <a:moveTo>
                  <a:pt x="12191" y="5715"/>
                </a:moveTo>
                <a:lnTo>
                  <a:pt x="12191" y="8382"/>
                </a:lnTo>
                <a:lnTo>
                  <a:pt x="13715" y="7620"/>
                </a:lnTo>
                <a:lnTo>
                  <a:pt x="12191" y="5715"/>
                </a:lnTo>
                <a:close/>
              </a:path>
              <a:path w="26035" h="26035">
                <a:moveTo>
                  <a:pt x="6400" y="6705"/>
                </a:moveTo>
                <a:lnTo>
                  <a:pt x="6017" y="6760"/>
                </a:lnTo>
                <a:lnTo>
                  <a:pt x="7111" y="8127"/>
                </a:lnTo>
                <a:lnTo>
                  <a:pt x="6400" y="6705"/>
                </a:lnTo>
                <a:close/>
              </a:path>
              <a:path w="26035" h="26035">
                <a:moveTo>
                  <a:pt x="1524" y="3810"/>
                </a:moveTo>
                <a:lnTo>
                  <a:pt x="0" y="4572"/>
                </a:lnTo>
                <a:lnTo>
                  <a:pt x="0" y="7620"/>
                </a:lnTo>
                <a:lnTo>
                  <a:pt x="1524" y="7402"/>
                </a:lnTo>
                <a:lnTo>
                  <a:pt x="1524" y="3810"/>
                </a:lnTo>
                <a:close/>
              </a:path>
              <a:path w="26035" h="26035">
                <a:moveTo>
                  <a:pt x="12191" y="4572"/>
                </a:moveTo>
                <a:lnTo>
                  <a:pt x="12191" y="5715"/>
                </a:lnTo>
                <a:lnTo>
                  <a:pt x="13715" y="7620"/>
                </a:lnTo>
                <a:lnTo>
                  <a:pt x="13207" y="5080"/>
                </a:lnTo>
                <a:lnTo>
                  <a:pt x="12191" y="4572"/>
                </a:lnTo>
                <a:close/>
              </a:path>
              <a:path w="26035" h="26035">
                <a:moveTo>
                  <a:pt x="13207" y="5080"/>
                </a:moveTo>
                <a:lnTo>
                  <a:pt x="13715" y="7620"/>
                </a:lnTo>
                <a:lnTo>
                  <a:pt x="13715" y="5334"/>
                </a:lnTo>
                <a:lnTo>
                  <a:pt x="13207" y="5080"/>
                </a:lnTo>
                <a:close/>
              </a:path>
              <a:path w="26035" h="26035">
                <a:moveTo>
                  <a:pt x="13715" y="5334"/>
                </a:moveTo>
                <a:lnTo>
                  <a:pt x="13715" y="7620"/>
                </a:lnTo>
                <a:lnTo>
                  <a:pt x="14630" y="7315"/>
                </a:lnTo>
                <a:lnTo>
                  <a:pt x="15239" y="6096"/>
                </a:lnTo>
                <a:lnTo>
                  <a:pt x="13715" y="5334"/>
                </a:lnTo>
                <a:close/>
              </a:path>
              <a:path w="26035" h="26035">
                <a:moveTo>
                  <a:pt x="3048" y="3048"/>
                </a:moveTo>
                <a:lnTo>
                  <a:pt x="1524" y="3810"/>
                </a:lnTo>
                <a:lnTo>
                  <a:pt x="1524" y="7402"/>
                </a:lnTo>
                <a:lnTo>
                  <a:pt x="6017" y="6760"/>
                </a:lnTo>
                <a:lnTo>
                  <a:pt x="3048" y="3048"/>
                </a:lnTo>
                <a:close/>
              </a:path>
              <a:path w="26035" h="26035">
                <a:moveTo>
                  <a:pt x="15239" y="0"/>
                </a:moveTo>
                <a:lnTo>
                  <a:pt x="14224" y="508"/>
                </a:lnTo>
                <a:lnTo>
                  <a:pt x="15239" y="1524"/>
                </a:lnTo>
                <a:lnTo>
                  <a:pt x="15239" y="6096"/>
                </a:lnTo>
                <a:lnTo>
                  <a:pt x="14630" y="7315"/>
                </a:lnTo>
                <a:lnTo>
                  <a:pt x="16459" y="6705"/>
                </a:lnTo>
                <a:lnTo>
                  <a:pt x="16763" y="6096"/>
                </a:lnTo>
                <a:lnTo>
                  <a:pt x="16763" y="1524"/>
                </a:lnTo>
                <a:lnTo>
                  <a:pt x="15239" y="0"/>
                </a:lnTo>
                <a:close/>
              </a:path>
              <a:path w="26035" h="26035">
                <a:moveTo>
                  <a:pt x="4572" y="1524"/>
                </a:moveTo>
                <a:lnTo>
                  <a:pt x="3048" y="3048"/>
                </a:lnTo>
                <a:lnTo>
                  <a:pt x="6017" y="6760"/>
                </a:lnTo>
                <a:lnTo>
                  <a:pt x="6400" y="6705"/>
                </a:lnTo>
                <a:lnTo>
                  <a:pt x="6095" y="6096"/>
                </a:lnTo>
                <a:lnTo>
                  <a:pt x="6095" y="3428"/>
                </a:lnTo>
                <a:lnTo>
                  <a:pt x="4572" y="1524"/>
                </a:lnTo>
                <a:close/>
              </a:path>
              <a:path w="26035" h="26035">
                <a:moveTo>
                  <a:pt x="6095" y="3428"/>
                </a:moveTo>
                <a:lnTo>
                  <a:pt x="6095" y="6096"/>
                </a:lnTo>
                <a:lnTo>
                  <a:pt x="6400" y="6705"/>
                </a:lnTo>
                <a:lnTo>
                  <a:pt x="8000" y="6477"/>
                </a:lnTo>
                <a:lnTo>
                  <a:pt x="7619" y="6096"/>
                </a:lnTo>
                <a:lnTo>
                  <a:pt x="7619" y="5334"/>
                </a:lnTo>
                <a:lnTo>
                  <a:pt x="6095" y="3428"/>
                </a:lnTo>
                <a:close/>
              </a:path>
              <a:path w="26035" h="26035">
                <a:moveTo>
                  <a:pt x="16763" y="0"/>
                </a:moveTo>
                <a:lnTo>
                  <a:pt x="15239" y="0"/>
                </a:lnTo>
                <a:lnTo>
                  <a:pt x="16763" y="1524"/>
                </a:lnTo>
                <a:lnTo>
                  <a:pt x="16763" y="6096"/>
                </a:lnTo>
                <a:lnTo>
                  <a:pt x="16459" y="6705"/>
                </a:lnTo>
                <a:lnTo>
                  <a:pt x="18287" y="6096"/>
                </a:lnTo>
                <a:lnTo>
                  <a:pt x="16763" y="0"/>
                </a:lnTo>
                <a:close/>
              </a:path>
              <a:path w="26035" h="26035">
                <a:moveTo>
                  <a:pt x="7620" y="5334"/>
                </a:moveTo>
                <a:lnTo>
                  <a:pt x="7619" y="6096"/>
                </a:lnTo>
                <a:lnTo>
                  <a:pt x="8000" y="6477"/>
                </a:lnTo>
                <a:lnTo>
                  <a:pt x="8479" y="6408"/>
                </a:lnTo>
                <a:lnTo>
                  <a:pt x="7620" y="5334"/>
                </a:lnTo>
                <a:close/>
              </a:path>
              <a:path w="26035" h="26035">
                <a:moveTo>
                  <a:pt x="7619" y="3048"/>
                </a:moveTo>
                <a:lnTo>
                  <a:pt x="7620" y="5334"/>
                </a:lnTo>
                <a:lnTo>
                  <a:pt x="8479" y="6408"/>
                </a:lnTo>
                <a:lnTo>
                  <a:pt x="10667" y="6096"/>
                </a:lnTo>
                <a:lnTo>
                  <a:pt x="10667" y="4572"/>
                </a:lnTo>
                <a:lnTo>
                  <a:pt x="7619" y="3048"/>
                </a:lnTo>
                <a:close/>
              </a:path>
              <a:path w="26035" h="26035">
                <a:moveTo>
                  <a:pt x="14224" y="508"/>
                </a:moveTo>
                <a:lnTo>
                  <a:pt x="13715" y="762"/>
                </a:lnTo>
                <a:lnTo>
                  <a:pt x="13715" y="5334"/>
                </a:lnTo>
                <a:lnTo>
                  <a:pt x="15239" y="6096"/>
                </a:lnTo>
                <a:lnTo>
                  <a:pt x="15239" y="1524"/>
                </a:lnTo>
                <a:lnTo>
                  <a:pt x="14224" y="508"/>
                </a:lnTo>
                <a:close/>
              </a:path>
              <a:path w="26035" h="26035">
                <a:moveTo>
                  <a:pt x="18287" y="0"/>
                </a:moveTo>
                <a:lnTo>
                  <a:pt x="16763" y="0"/>
                </a:lnTo>
                <a:lnTo>
                  <a:pt x="18287" y="6096"/>
                </a:lnTo>
                <a:lnTo>
                  <a:pt x="18287" y="0"/>
                </a:lnTo>
                <a:close/>
              </a:path>
              <a:path w="26035" h="26035">
                <a:moveTo>
                  <a:pt x="18287" y="4572"/>
                </a:moveTo>
                <a:lnTo>
                  <a:pt x="18287" y="6096"/>
                </a:lnTo>
                <a:lnTo>
                  <a:pt x="19812" y="6096"/>
                </a:lnTo>
                <a:lnTo>
                  <a:pt x="18287" y="4572"/>
                </a:lnTo>
                <a:close/>
              </a:path>
              <a:path w="26035" h="26035">
                <a:moveTo>
                  <a:pt x="19812" y="0"/>
                </a:moveTo>
                <a:lnTo>
                  <a:pt x="18287" y="1524"/>
                </a:lnTo>
                <a:lnTo>
                  <a:pt x="18287" y="4572"/>
                </a:lnTo>
                <a:lnTo>
                  <a:pt x="19812" y="6096"/>
                </a:lnTo>
                <a:lnTo>
                  <a:pt x="21336" y="4572"/>
                </a:lnTo>
                <a:lnTo>
                  <a:pt x="21336" y="1524"/>
                </a:lnTo>
                <a:lnTo>
                  <a:pt x="19812" y="0"/>
                </a:lnTo>
                <a:close/>
              </a:path>
              <a:path w="26035" h="26035">
                <a:moveTo>
                  <a:pt x="22860" y="0"/>
                </a:moveTo>
                <a:lnTo>
                  <a:pt x="19812" y="0"/>
                </a:lnTo>
                <a:lnTo>
                  <a:pt x="21336" y="1524"/>
                </a:lnTo>
                <a:lnTo>
                  <a:pt x="21336" y="4572"/>
                </a:lnTo>
                <a:lnTo>
                  <a:pt x="19812" y="6096"/>
                </a:lnTo>
                <a:lnTo>
                  <a:pt x="22860" y="6096"/>
                </a:lnTo>
                <a:lnTo>
                  <a:pt x="22860" y="0"/>
                </a:lnTo>
                <a:close/>
              </a:path>
              <a:path w="26035" h="26035">
                <a:moveTo>
                  <a:pt x="24383" y="0"/>
                </a:moveTo>
                <a:lnTo>
                  <a:pt x="22860" y="0"/>
                </a:lnTo>
                <a:lnTo>
                  <a:pt x="22860" y="6096"/>
                </a:lnTo>
                <a:lnTo>
                  <a:pt x="24383" y="6096"/>
                </a:lnTo>
                <a:lnTo>
                  <a:pt x="25907" y="4572"/>
                </a:lnTo>
                <a:lnTo>
                  <a:pt x="25907" y="1524"/>
                </a:lnTo>
                <a:lnTo>
                  <a:pt x="24383" y="0"/>
                </a:lnTo>
                <a:close/>
              </a:path>
              <a:path w="26035" h="26035">
                <a:moveTo>
                  <a:pt x="10667" y="0"/>
                </a:moveTo>
                <a:lnTo>
                  <a:pt x="10667" y="3810"/>
                </a:lnTo>
                <a:lnTo>
                  <a:pt x="12191" y="5715"/>
                </a:lnTo>
                <a:lnTo>
                  <a:pt x="12191" y="3048"/>
                </a:lnTo>
                <a:lnTo>
                  <a:pt x="10667" y="0"/>
                </a:lnTo>
                <a:close/>
              </a:path>
              <a:path w="26035" h="26035">
                <a:moveTo>
                  <a:pt x="7619" y="0"/>
                </a:moveTo>
                <a:lnTo>
                  <a:pt x="6095" y="1524"/>
                </a:lnTo>
                <a:lnTo>
                  <a:pt x="6095" y="3428"/>
                </a:lnTo>
                <a:lnTo>
                  <a:pt x="7620" y="5334"/>
                </a:lnTo>
                <a:lnTo>
                  <a:pt x="7619" y="1524"/>
                </a:lnTo>
                <a:lnTo>
                  <a:pt x="8490" y="1088"/>
                </a:lnTo>
                <a:lnTo>
                  <a:pt x="7619" y="0"/>
                </a:lnTo>
                <a:close/>
              </a:path>
              <a:path w="26035" h="26035">
                <a:moveTo>
                  <a:pt x="13715" y="762"/>
                </a:moveTo>
                <a:lnTo>
                  <a:pt x="12469" y="1385"/>
                </a:lnTo>
                <a:lnTo>
                  <a:pt x="13207" y="5080"/>
                </a:lnTo>
                <a:lnTo>
                  <a:pt x="13715" y="5334"/>
                </a:lnTo>
                <a:lnTo>
                  <a:pt x="13715" y="762"/>
                </a:lnTo>
                <a:close/>
              </a:path>
              <a:path w="26035" h="26035">
                <a:moveTo>
                  <a:pt x="12469" y="1385"/>
                </a:moveTo>
                <a:lnTo>
                  <a:pt x="12191" y="1524"/>
                </a:lnTo>
                <a:lnTo>
                  <a:pt x="12191" y="4572"/>
                </a:lnTo>
                <a:lnTo>
                  <a:pt x="13207" y="5080"/>
                </a:lnTo>
                <a:lnTo>
                  <a:pt x="12469" y="1385"/>
                </a:lnTo>
                <a:close/>
              </a:path>
              <a:path w="26035" h="26035">
                <a:moveTo>
                  <a:pt x="8490" y="1088"/>
                </a:moveTo>
                <a:lnTo>
                  <a:pt x="7619" y="1524"/>
                </a:lnTo>
                <a:lnTo>
                  <a:pt x="7619" y="3048"/>
                </a:lnTo>
                <a:lnTo>
                  <a:pt x="10667" y="4572"/>
                </a:lnTo>
                <a:lnTo>
                  <a:pt x="10667" y="3810"/>
                </a:lnTo>
                <a:lnTo>
                  <a:pt x="8490" y="1088"/>
                </a:lnTo>
                <a:close/>
              </a:path>
              <a:path w="26035" h="26035">
                <a:moveTo>
                  <a:pt x="7619" y="0"/>
                </a:moveTo>
                <a:lnTo>
                  <a:pt x="4572" y="0"/>
                </a:lnTo>
                <a:lnTo>
                  <a:pt x="1524" y="3048"/>
                </a:lnTo>
                <a:lnTo>
                  <a:pt x="1524" y="3810"/>
                </a:lnTo>
                <a:lnTo>
                  <a:pt x="3048" y="3048"/>
                </a:lnTo>
                <a:lnTo>
                  <a:pt x="4572" y="1524"/>
                </a:lnTo>
                <a:lnTo>
                  <a:pt x="7619" y="0"/>
                </a:lnTo>
                <a:close/>
              </a:path>
              <a:path w="26035" h="26035">
                <a:moveTo>
                  <a:pt x="10667" y="0"/>
                </a:moveTo>
                <a:lnTo>
                  <a:pt x="8490" y="1088"/>
                </a:lnTo>
                <a:lnTo>
                  <a:pt x="10667" y="3810"/>
                </a:lnTo>
                <a:lnTo>
                  <a:pt x="10667" y="0"/>
                </a:lnTo>
                <a:close/>
              </a:path>
              <a:path w="26035" h="26035">
                <a:moveTo>
                  <a:pt x="7619" y="0"/>
                </a:moveTo>
                <a:lnTo>
                  <a:pt x="4572" y="1524"/>
                </a:lnTo>
                <a:lnTo>
                  <a:pt x="6095" y="3428"/>
                </a:lnTo>
                <a:lnTo>
                  <a:pt x="6095" y="1524"/>
                </a:lnTo>
                <a:lnTo>
                  <a:pt x="7619" y="0"/>
                </a:lnTo>
                <a:close/>
              </a:path>
              <a:path w="26035" h="26035">
                <a:moveTo>
                  <a:pt x="12191" y="0"/>
                </a:moveTo>
                <a:lnTo>
                  <a:pt x="10667" y="0"/>
                </a:lnTo>
                <a:lnTo>
                  <a:pt x="12191" y="3048"/>
                </a:lnTo>
                <a:lnTo>
                  <a:pt x="12191" y="1524"/>
                </a:lnTo>
                <a:lnTo>
                  <a:pt x="12469" y="1385"/>
                </a:lnTo>
                <a:lnTo>
                  <a:pt x="12191" y="0"/>
                </a:lnTo>
                <a:close/>
              </a:path>
              <a:path w="26035" h="26035">
                <a:moveTo>
                  <a:pt x="19812" y="0"/>
                </a:moveTo>
                <a:lnTo>
                  <a:pt x="18287" y="0"/>
                </a:lnTo>
                <a:lnTo>
                  <a:pt x="18287" y="1524"/>
                </a:lnTo>
                <a:lnTo>
                  <a:pt x="19812" y="0"/>
                </a:lnTo>
                <a:close/>
              </a:path>
              <a:path w="26035" h="26035">
                <a:moveTo>
                  <a:pt x="13715" y="0"/>
                </a:moveTo>
                <a:lnTo>
                  <a:pt x="12191" y="0"/>
                </a:lnTo>
                <a:lnTo>
                  <a:pt x="12469" y="1385"/>
                </a:lnTo>
                <a:lnTo>
                  <a:pt x="13715" y="762"/>
                </a:lnTo>
                <a:lnTo>
                  <a:pt x="13715" y="0"/>
                </a:lnTo>
                <a:close/>
              </a:path>
              <a:path w="26035" h="26035">
                <a:moveTo>
                  <a:pt x="10667" y="0"/>
                </a:moveTo>
                <a:lnTo>
                  <a:pt x="7619" y="0"/>
                </a:lnTo>
                <a:lnTo>
                  <a:pt x="8490" y="1088"/>
                </a:lnTo>
                <a:lnTo>
                  <a:pt x="10667" y="0"/>
                </a:lnTo>
                <a:close/>
              </a:path>
              <a:path w="26035" h="26035">
                <a:moveTo>
                  <a:pt x="13715" y="0"/>
                </a:moveTo>
                <a:lnTo>
                  <a:pt x="13715" y="762"/>
                </a:lnTo>
                <a:lnTo>
                  <a:pt x="14224" y="508"/>
                </a:lnTo>
                <a:lnTo>
                  <a:pt x="13715" y="0"/>
                </a:lnTo>
                <a:close/>
              </a:path>
              <a:path w="26035" h="26035">
                <a:moveTo>
                  <a:pt x="15239" y="0"/>
                </a:moveTo>
                <a:lnTo>
                  <a:pt x="13715" y="0"/>
                </a:lnTo>
                <a:lnTo>
                  <a:pt x="14224" y="508"/>
                </a:lnTo>
                <a:lnTo>
                  <a:pt x="1523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057400" y="3886200"/>
            <a:ext cx="5952744" cy="275234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dirty="0"/>
              <a:t>6</a:t>
            </a:fld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02922" y="918781"/>
            <a:ext cx="544830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Example: Process</a:t>
            </a:r>
            <a:r>
              <a:rPr spc="-90" dirty="0"/>
              <a:t> </a:t>
            </a:r>
            <a:r>
              <a:rPr spc="-25" dirty="0"/>
              <a:t>States</a:t>
            </a:r>
          </a:p>
        </p:txBody>
      </p:sp>
      <p:sp>
        <p:nvSpPr>
          <p:cNvPr id="3" name="object 3"/>
          <p:cNvSpPr/>
          <p:nvPr/>
        </p:nvSpPr>
        <p:spPr>
          <a:xfrm>
            <a:off x="1721537" y="1993075"/>
            <a:ext cx="6823786" cy="18946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896506" y="3886200"/>
            <a:ext cx="6309815" cy="244788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dirty="0"/>
              <a:t>7</a:t>
            </a:fld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26207" y="918781"/>
            <a:ext cx="419925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OS </a:t>
            </a:r>
            <a:r>
              <a:rPr spc="-25" dirty="0"/>
              <a:t>data</a:t>
            </a:r>
            <a:r>
              <a:rPr spc="-55" dirty="0"/>
              <a:t> </a:t>
            </a:r>
            <a:r>
              <a:rPr spc="-15" dirty="0"/>
              <a:t>structures</a:t>
            </a:r>
          </a:p>
        </p:txBody>
      </p:sp>
      <p:sp>
        <p:nvSpPr>
          <p:cNvPr id="5" name="object 5"/>
          <p:cNvSpPr/>
          <p:nvPr/>
        </p:nvSpPr>
        <p:spPr>
          <a:xfrm>
            <a:off x="457200" y="3886200"/>
            <a:ext cx="9142730" cy="3427729"/>
          </a:xfrm>
          <a:custGeom>
            <a:avLst/>
            <a:gdLst/>
            <a:ahLst/>
            <a:cxnLst/>
            <a:rect l="l" t="t" r="r" b="b"/>
            <a:pathLst>
              <a:path w="9142730" h="3427729">
                <a:moveTo>
                  <a:pt x="0" y="3427475"/>
                </a:moveTo>
                <a:lnTo>
                  <a:pt x="9142475" y="3427475"/>
                </a:lnTo>
                <a:lnTo>
                  <a:pt x="9142475" y="0"/>
                </a:lnTo>
                <a:lnTo>
                  <a:pt x="0" y="0"/>
                </a:lnTo>
                <a:lnTo>
                  <a:pt x="0" y="34274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596517" y="2466021"/>
            <a:ext cx="8011795" cy="4368165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355600" marR="740410" indent="-342900">
              <a:lnSpc>
                <a:spcPts val="2880"/>
              </a:lnSpc>
              <a:spcBef>
                <a:spcPts val="79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dirty="0">
                <a:latin typeface="Calibri"/>
                <a:cs typeface="Calibri"/>
              </a:rPr>
              <a:t>OS </a:t>
            </a:r>
            <a:r>
              <a:rPr sz="3000" spc="-10" dirty="0">
                <a:latin typeface="Calibri"/>
                <a:cs typeface="Calibri"/>
              </a:rPr>
              <a:t>maintains </a:t>
            </a:r>
            <a:r>
              <a:rPr sz="3000" dirty="0">
                <a:latin typeface="Calibri"/>
                <a:cs typeface="Calibri"/>
              </a:rPr>
              <a:t>a </a:t>
            </a:r>
            <a:r>
              <a:rPr sz="3000" spc="-20" dirty="0">
                <a:latin typeface="Calibri"/>
                <a:cs typeface="Calibri"/>
              </a:rPr>
              <a:t>data </a:t>
            </a:r>
            <a:r>
              <a:rPr sz="3000" spc="-10" dirty="0">
                <a:latin typeface="Calibri"/>
                <a:cs typeface="Calibri"/>
              </a:rPr>
              <a:t>structure </a:t>
            </a:r>
            <a:r>
              <a:rPr sz="3000" dirty="0">
                <a:latin typeface="Calibri"/>
                <a:cs typeface="Calibri"/>
              </a:rPr>
              <a:t>(e.g., </a:t>
            </a:r>
            <a:r>
              <a:rPr sz="3000" spc="-10" dirty="0">
                <a:latin typeface="Calibri"/>
                <a:cs typeface="Calibri"/>
              </a:rPr>
              <a:t>list) </a:t>
            </a:r>
            <a:r>
              <a:rPr sz="3000" spc="-5" dirty="0">
                <a:latin typeface="Calibri"/>
                <a:cs typeface="Calibri"/>
              </a:rPr>
              <a:t>of</a:t>
            </a:r>
            <a:r>
              <a:rPr sz="3000" spc="-10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all  active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processes</a:t>
            </a:r>
            <a:endParaRPr sz="3000" dirty="0">
              <a:latin typeface="Calibri"/>
              <a:cs typeface="Calibri"/>
            </a:endParaRPr>
          </a:p>
          <a:p>
            <a:pPr marL="355600" marR="706755" indent="-342900">
              <a:lnSpc>
                <a:spcPct val="80000"/>
              </a:lnSpc>
              <a:spcBef>
                <a:spcPts val="74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spc="-15" dirty="0">
                <a:latin typeface="Calibri"/>
                <a:cs typeface="Calibri"/>
              </a:rPr>
              <a:t>Information </a:t>
            </a:r>
            <a:r>
              <a:rPr sz="3000" spc="-5" dirty="0">
                <a:latin typeface="Calibri"/>
                <a:cs typeface="Calibri"/>
              </a:rPr>
              <a:t>about each </a:t>
            </a:r>
            <a:r>
              <a:rPr sz="3000" spc="-10" dirty="0">
                <a:latin typeface="Calibri"/>
                <a:cs typeface="Calibri"/>
              </a:rPr>
              <a:t>process </a:t>
            </a:r>
            <a:r>
              <a:rPr sz="3000" spc="-5" dirty="0">
                <a:latin typeface="Calibri"/>
                <a:cs typeface="Calibri"/>
              </a:rPr>
              <a:t>is </a:t>
            </a:r>
            <a:r>
              <a:rPr sz="3000" spc="-20" dirty="0">
                <a:latin typeface="Calibri"/>
                <a:cs typeface="Calibri"/>
              </a:rPr>
              <a:t>stored </a:t>
            </a:r>
            <a:r>
              <a:rPr sz="3000" spc="-5" dirty="0">
                <a:latin typeface="Calibri"/>
                <a:cs typeface="Calibri"/>
              </a:rPr>
              <a:t>in </a:t>
            </a:r>
            <a:r>
              <a:rPr sz="3000" dirty="0">
                <a:latin typeface="Calibri"/>
                <a:cs typeface="Calibri"/>
              </a:rPr>
              <a:t>a  </a:t>
            </a:r>
            <a:r>
              <a:rPr sz="3000" spc="-10" dirty="0">
                <a:latin typeface="Calibri"/>
                <a:cs typeface="Calibri"/>
              </a:rPr>
              <a:t>process </a:t>
            </a:r>
            <a:r>
              <a:rPr sz="3000" spc="-20" dirty="0">
                <a:latin typeface="Calibri"/>
                <a:cs typeface="Calibri"/>
              </a:rPr>
              <a:t>control </a:t>
            </a:r>
            <a:r>
              <a:rPr sz="3000" spc="-5" dirty="0">
                <a:latin typeface="Calibri"/>
                <a:cs typeface="Calibri"/>
              </a:rPr>
              <a:t>block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(PCB)</a:t>
            </a:r>
            <a:endParaRPr sz="30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15"/>
              </a:spcBef>
              <a:buFont typeface="Arial"/>
              <a:buChar char="–"/>
              <a:tabLst>
                <a:tab pos="756920" algn="l"/>
              </a:tabLst>
            </a:pPr>
            <a:r>
              <a:rPr sz="2600" spc="-10" dirty="0">
                <a:latin typeface="Calibri"/>
                <a:cs typeface="Calibri"/>
              </a:rPr>
              <a:t>Process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identifier</a:t>
            </a:r>
            <a:endParaRPr sz="26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buFont typeface="Arial"/>
              <a:buChar char="–"/>
              <a:tabLst>
                <a:tab pos="756920" algn="l"/>
              </a:tabLst>
            </a:pPr>
            <a:r>
              <a:rPr sz="2600" spc="-10" dirty="0">
                <a:latin typeface="Calibri"/>
                <a:cs typeface="Calibri"/>
              </a:rPr>
              <a:t>Process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state</a:t>
            </a:r>
            <a:endParaRPr sz="26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buFont typeface="Arial"/>
              <a:buChar char="–"/>
              <a:tabLst>
                <a:tab pos="756920" algn="l"/>
              </a:tabLst>
            </a:pPr>
            <a:r>
              <a:rPr sz="2600" spc="-20" dirty="0">
                <a:latin typeface="Calibri"/>
                <a:cs typeface="Calibri"/>
              </a:rPr>
              <a:t>Pointers </a:t>
            </a:r>
            <a:r>
              <a:rPr sz="2600" spc="-15" dirty="0">
                <a:latin typeface="Calibri"/>
                <a:cs typeface="Calibri"/>
              </a:rPr>
              <a:t>to </a:t>
            </a:r>
            <a:r>
              <a:rPr sz="2600" spc="-5" dirty="0">
                <a:latin typeface="Calibri"/>
                <a:cs typeface="Calibri"/>
              </a:rPr>
              <a:t>other </a:t>
            </a:r>
            <a:r>
              <a:rPr sz="2600" spc="-15" dirty="0">
                <a:latin typeface="Calibri"/>
                <a:cs typeface="Calibri"/>
              </a:rPr>
              <a:t>related </a:t>
            </a:r>
            <a:r>
              <a:rPr sz="2600" spc="-10" dirty="0">
                <a:latin typeface="Calibri"/>
                <a:cs typeface="Calibri"/>
              </a:rPr>
              <a:t>processes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(parent)</a:t>
            </a:r>
            <a:endParaRPr sz="2600" dirty="0">
              <a:latin typeface="Calibri"/>
              <a:cs typeface="Calibri"/>
            </a:endParaRPr>
          </a:p>
          <a:p>
            <a:pPr marL="756285" marR="5080" lvl="1" indent="-287020">
              <a:lnSpc>
                <a:spcPct val="80000"/>
              </a:lnSpc>
              <a:spcBef>
                <a:spcPts val="625"/>
              </a:spcBef>
              <a:buFont typeface="Arial"/>
              <a:buChar char="–"/>
              <a:tabLst>
                <a:tab pos="756920" algn="l"/>
              </a:tabLst>
            </a:pPr>
            <a:r>
              <a:rPr sz="2600" dirty="0">
                <a:latin typeface="Calibri"/>
                <a:cs typeface="Calibri"/>
              </a:rPr>
              <a:t>CPU </a:t>
            </a:r>
            <a:r>
              <a:rPr sz="2600" spc="-15" dirty="0">
                <a:latin typeface="Calibri"/>
                <a:cs typeface="Calibri"/>
              </a:rPr>
              <a:t>context </a:t>
            </a:r>
            <a:r>
              <a:rPr sz="2600" spc="-5" dirty="0">
                <a:latin typeface="Calibri"/>
                <a:cs typeface="Calibri"/>
              </a:rPr>
              <a:t>of </a:t>
            </a:r>
            <a:r>
              <a:rPr sz="2600" dirty="0">
                <a:latin typeface="Calibri"/>
                <a:cs typeface="Calibri"/>
              </a:rPr>
              <a:t>the </a:t>
            </a:r>
            <a:r>
              <a:rPr sz="2600" spc="-10" dirty="0">
                <a:latin typeface="Calibri"/>
                <a:cs typeface="Calibri"/>
              </a:rPr>
              <a:t>process </a:t>
            </a:r>
            <a:r>
              <a:rPr sz="2600" spc="-15" dirty="0">
                <a:latin typeface="Calibri"/>
                <a:cs typeface="Calibri"/>
              </a:rPr>
              <a:t>(saved </a:t>
            </a:r>
            <a:r>
              <a:rPr sz="2600" spc="-5" dirty="0">
                <a:latin typeface="Calibri"/>
                <a:cs typeface="Calibri"/>
              </a:rPr>
              <a:t>when </a:t>
            </a:r>
            <a:r>
              <a:rPr sz="2600" dirty="0">
                <a:latin typeface="Calibri"/>
                <a:cs typeface="Calibri"/>
              </a:rPr>
              <a:t>the </a:t>
            </a:r>
            <a:r>
              <a:rPr sz="2600" spc="-10" dirty="0">
                <a:latin typeface="Calibri"/>
                <a:cs typeface="Calibri"/>
              </a:rPr>
              <a:t>process</a:t>
            </a:r>
            <a:r>
              <a:rPr sz="2600" spc="-19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is  suspended)</a:t>
            </a:r>
            <a:endParaRPr sz="26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buFont typeface="Arial"/>
              <a:buChar char="–"/>
              <a:tabLst>
                <a:tab pos="756920" algn="l"/>
              </a:tabLst>
            </a:pPr>
            <a:r>
              <a:rPr sz="2600" spc="-20" dirty="0">
                <a:latin typeface="Calibri"/>
                <a:cs typeface="Calibri"/>
              </a:rPr>
              <a:t>Pointers </a:t>
            </a:r>
            <a:r>
              <a:rPr sz="2600" spc="-15" dirty="0">
                <a:latin typeface="Calibri"/>
                <a:cs typeface="Calibri"/>
              </a:rPr>
              <a:t>to </a:t>
            </a:r>
            <a:r>
              <a:rPr sz="2600" dirty="0">
                <a:latin typeface="Calibri"/>
                <a:cs typeface="Calibri"/>
              </a:rPr>
              <a:t>memory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locations</a:t>
            </a:r>
            <a:endParaRPr sz="26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buFont typeface="Arial"/>
              <a:buChar char="–"/>
              <a:tabLst>
                <a:tab pos="756920" algn="l"/>
              </a:tabLst>
            </a:pPr>
            <a:r>
              <a:rPr sz="2600" spc="-20" dirty="0">
                <a:latin typeface="Calibri"/>
                <a:cs typeface="Calibri"/>
              </a:rPr>
              <a:t>Pointers </a:t>
            </a:r>
            <a:r>
              <a:rPr sz="2600" spc="-15" dirty="0">
                <a:latin typeface="Calibri"/>
                <a:cs typeface="Calibri"/>
              </a:rPr>
              <a:t>to </a:t>
            </a:r>
            <a:r>
              <a:rPr sz="2600" spc="-5" dirty="0">
                <a:latin typeface="Calibri"/>
                <a:cs typeface="Calibri"/>
              </a:rPr>
              <a:t>open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files</a:t>
            </a:r>
            <a:endParaRPr sz="2600" dirty="0">
              <a:latin typeface="Calibri"/>
              <a:cs typeface="Calibri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dirty="0"/>
              <a:t>8</a:t>
            </a:fld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138</TotalTime>
  <Words>292</Words>
  <Application>Microsoft Office PowerPoint</Application>
  <PresentationFormat>Custom</PresentationFormat>
  <Paragraphs>54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The Process  Abstraction</vt:lpstr>
      <vt:lpstr>OS provides process abstraction</vt:lpstr>
      <vt:lpstr>What constitutes a process?</vt:lpstr>
      <vt:lpstr>How does OS create a process?</vt:lpstr>
      <vt:lpstr>States of a process</vt:lpstr>
      <vt:lpstr>Process State Transitions</vt:lpstr>
      <vt:lpstr>Example: Process States</vt:lpstr>
      <vt:lpstr>OS data structures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2: The Process  Abstraction</dc:title>
  <cp:lastModifiedBy>Admin</cp:lastModifiedBy>
  <cp:revision>2</cp:revision>
  <dcterms:created xsi:type="dcterms:W3CDTF">2019-07-15T06:22:35Z</dcterms:created>
  <dcterms:modified xsi:type="dcterms:W3CDTF">2020-07-28T10:07:32Z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2018-02-27T00:00:00Z</vt:filetime>
  </property>
  <property fmtid="{D5CDD505-2E9C-101B-9397-08002B2CF9AE}" pid="3" name="Creator">
    <vt:lpwstr>Nitro Pro 7  (7. 4. 1. 4)</vt:lpwstr>
  </property>
  <property fmtid="{D5CDD505-2E9C-101B-9397-08002B2CF9AE}" pid="4" name="LastSaved">
    <vt:filetime>2019-07-15T00:00:00Z</vt:filetime>
  </property>
</Properties>
</file>