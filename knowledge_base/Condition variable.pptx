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1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79956" y="2938081"/>
            <a:ext cx="7098487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3322" y="918781"/>
            <a:ext cx="819175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2015744"/>
            <a:ext cx="8072120" cy="4220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47911" y="6920928"/>
            <a:ext cx="1282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6095" y="2938081"/>
            <a:ext cx="7088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65" dirty="0" smtClean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00" spc="-135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Condition</a:t>
            </a:r>
            <a:r>
              <a:rPr sz="4400" spc="-39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00" spc="-235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Variables</a:t>
            </a:r>
            <a:endParaRPr sz="44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9580" y="918781"/>
            <a:ext cx="70148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Another </a:t>
            </a:r>
            <a:r>
              <a:rPr spc="-90" dirty="0"/>
              <a:t>type </a:t>
            </a:r>
            <a:r>
              <a:rPr spc="-5" dirty="0"/>
              <a:t>of</a:t>
            </a:r>
            <a:r>
              <a:rPr spc="-555" dirty="0"/>
              <a:t> </a:t>
            </a:r>
            <a:r>
              <a:rPr spc="-175" dirty="0"/>
              <a:t>sychronization</a:t>
            </a:r>
            <a:endParaRPr spc="-175" dirty="0"/>
          </a:p>
        </p:txBody>
      </p:sp>
      <p:sp>
        <p:nvSpPr>
          <p:cNvPr id="6" name="object 6"/>
          <p:cNvSpPr txBox="1"/>
          <p:nvPr/>
        </p:nvSpPr>
        <p:spPr>
          <a:xfrm>
            <a:off x="993139" y="2199640"/>
            <a:ext cx="7938770" cy="442976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45" dirty="0">
                <a:latin typeface="Arial" panose="020B0604020202020204"/>
                <a:cs typeface="Arial" panose="020B0604020202020204"/>
              </a:rPr>
              <a:t>Locks </a:t>
            </a:r>
            <a:r>
              <a:rPr sz="3000" spc="-65" dirty="0">
                <a:latin typeface="Arial" panose="020B0604020202020204"/>
                <a:cs typeface="Arial" panose="020B0604020202020204"/>
              </a:rPr>
              <a:t>allow </a:t>
            </a:r>
            <a:r>
              <a:rPr sz="3000" spc="-125" dirty="0">
                <a:latin typeface="Arial" panose="020B0604020202020204"/>
                <a:cs typeface="Arial" panose="020B0604020202020204"/>
              </a:rPr>
              <a:t>one </a:t>
            </a:r>
            <a:r>
              <a:rPr sz="3000" spc="-65" dirty="0">
                <a:latin typeface="Arial" panose="020B0604020202020204"/>
                <a:cs typeface="Arial" panose="020B0604020202020204"/>
              </a:rPr>
              <a:t>type </a:t>
            </a:r>
            <a:r>
              <a:rPr sz="3000" spc="-5" dirty="0">
                <a:latin typeface="Arial" panose="020B0604020202020204"/>
                <a:cs typeface="Arial" panose="020B0604020202020204"/>
              </a:rPr>
              <a:t>of </a:t>
            </a:r>
            <a:r>
              <a:rPr sz="3000" spc="-120" dirty="0">
                <a:latin typeface="Arial" panose="020B0604020202020204"/>
                <a:cs typeface="Arial" panose="020B0604020202020204"/>
              </a:rPr>
              <a:t>synchronization</a:t>
            </a:r>
            <a:r>
              <a:rPr sz="3000" spc="-49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90" dirty="0">
                <a:latin typeface="Arial" panose="020B0604020202020204"/>
                <a:cs typeface="Arial" panose="020B0604020202020204"/>
              </a:rPr>
              <a:t>between  </a:t>
            </a:r>
            <a:r>
              <a:rPr sz="3000" spc="-110" dirty="0">
                <a:latin typeface="Arial" panose="020B0604020202020204"/>
                <a:cs typeface="Arial" panose="020B0604020202020204"/>
              </a:rPr>
              <a:t>threads </a:t>
            </a:r>
            <a:r>
              <a:rPr sz="3000" spc="-175" dirty="0">
                <a:latin typeface="Arial" panose="020B0604020202020204"/>
                <a:cs typeface="Arial" panose="020B0604020202020204"/>
              </a:rPr>
              <a:t>– </a:t>
            </a:r>
            <a:r>
              <a:rPr sz="3000" spc="-60" dirty="0">
                <a:latin typeface="Arial" panose="020B0604020202020204"/>
                <a:cs typeface="Arial" panose="020B0604020202020204"/>
              </a:rPr>
              <a:t>mutual</a:t>
            </a:r>
            <a:r>
              <a:rPr sz="3000" spc="-21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50" dirty="0">
                <a:latin typeface="Arial" panose="020B0604020202020204"/>
                <a:cs typeface="Arial" panose="020B0604020202020204"/>
              </a:rPr>
              <a:t>exclusion</a:t>
            </a:r>
            <a:endParaRPr sz="3000" dirty="0">
              <a:latin typeface="Arial" panose="020B0604020202020204"/>
              <a:cs typeface="Arial" panose="020B0604020202020204"/>
            </a:endParaRPr>
          </a:p>
          <a:p>
            <a:pPr marL="355600" marR="26670" indent="-342900">
              <a:lnSpc>
                <a:spcPts val="324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75" dirty="0">
                <a:latin typeface="Arial" panose="020B0604020202020204"/>
                <a:cs typeface="Arial" panose="020B0604020202020204"/>
              </a:rPr>
              <a:t>Another </a:t>
            </a:r>
            <a:r>
              <a:rPr sz="3000" spc="-125" dirty="0">
                <a:latin typeface="Arial" panose="020B0604020202020204"/>
                <a:cs typeface="Arial" panose="020B0604020202020204"/>
              </a:rPr>
              <a:t>common </a:t>
            </a:r>
            <a:r>
              <a:rPr sz="3000" spc="-70" dirty="0">
                <a:latin typeface="Arial" panose="020B0604020202020204"/>
                <a:cs typeface="Arial" panose="020B0604020202020204"/>
              </a:rPr>
              <a:t>requirement </a:t>
            </a:r>
            <a:r>
              <a:rPr sz="3000" spc="-40" dirty="0">
                <a:latin typeface="Arial" panose="020B0604020202020204"/>
                <a:cs typeface="Arial" panose="020B0604020202020204"/>
              </a:rPr>
              <a:t>in</a:t>
            </a:r>
            <a:r>
              <a:rPr sz="3000" spc="-42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55" dirty="0">
                <a:latin typeface="Arial" panose="020B0604020202020204"/>
                <a:cs typeface="Arial" panose="020B0604020202020204"/>
              </a:rPr>
              <a:t>multi-threaded  </a:t>
            </a:r>
            <a:r>
              <a:rPr sz="3000" spc="-105" dirty="0">
                <a:latin typeface="Arial" panose="020B0604020202020204"/>
                <a:cs typeface="Arial" panose="020B0604020202020204"/>
              </a:rPr>
              <a:t>applications </a:t>
            </a:r>
            <a:r>
              <a:rPr sz="3000" spc="-175" dirty="0">
                <a:latin typeface="Arial" panose="020B0604020202020204"/>
                <a:cs typeface="Arial" panose="020B0604020202020204"/>
              </a:rPr>
              <a:t>– </a:t>
            </a:r>
            <a:r>
              <a:rPr sz="3000" spc="-65" dirty="0">
                <a:latin typeface="Arial" panose="020B0604020202020204"/>
                <a:cs typeface="Arial" panose="020B0604020202020204"/>
              </a:rPr>
              <a:t>waiting </a:t>
            </a:r>
            <a:r>
              <a:rPr sz="3000" spc="-145" dirty="0">
                <a:latin typeface="Arial" panose="020B0604020202020204"/>
                <a:cs typeface="Arial" panose="020B0604020202020204"/>
              </a:rPr>
              <a:t>and</a:t>
            </a:r>
            <a:r>
              <a:rPr sz="3000" spc="-30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40" dirty="0">
                <a:latin typeface="Arial" panose="020B0604020202020204"/>
                <a:cs typeface="Arial" panose="020B0604020202020204"/>
              </a:rPr>
              <a:t>signaling</a:t>
            </a:r>
            <a:endParaRPr sz="3000" dirty="0">
              <a:latin typeface="Arial" panose="020B0604020202020204"/>
              <a:cs typeface="Arial" panose="020B0604020202020204"/>
            </a:endParaRPr>
          </a:p>
          <a:p>
            <a:pPr marL="756285" marR="403860" indent="-287020">
              <a:lnSpc>
                <a:spcPts val="2810"/>
              </a:lnSpc>
              <a:spcBef>
                <a:spcPts val="645"/>
              </a:spcBef>
            </a:pPr>
            <a:r>
              <a:rPr sz="2600" dirty="0">
                <a:latin typeface="Arial" panose="020B0604020202020204"/>
                <a:cs typeface="Arial" panose="020B0604020202020204"/>
              </a:rPr>
              <a:t>– </a:t>
            </a:r>
            <a:r>
              <a:rPr sz="2600" spc="-175" dirty="0">
                <a:latin typeface="Arial" panose="020B0604020202020204"/>
                <a:cs typeface="Arial" panose="020B0604020202020204"/>
              </a:rPr>
              <a:t>E.g., </a:t>
            </a:r>
            <a:r>
              <a:rPr sz="2600" spc="-140" dirty="0">
                <a:latin typeface="Arial" panose="020B0604020202020204"/>
                <a:cs typeface="Arial" panose="020B0604020202020204"/>
              </a:rPr>
              <a:t>Thread </a:t>
            </a:r>
            <a:r>
              <a:rPr sz="2600" spc="-225" dirty="0">
                <a:latin typeface="Arial" panose="020B0604020202020204"/>
                <a:cs typeface="Arial" panose="020B0604020202020204"/>
              </a:rPr>
              <a:t>T1 </a:t>
            </a:r>
            <a:r>
              <a:rPr sz="2600" spc="-100" dirty="0">
                <a:latin typeface="Arial" panose="020B0604020202020204"/>
                <a:cs typeface="Arial" panose="020B0604020202020204"/>
              </a:rPr>
              <a:t>wants </a:t>
            </a:r>
            <a:r>
              <a:rPr sz="2600" spc="25" dirty="0">
                <a:latin typeface="Arial" panose="020B0604020202020204"/>
                <a:cs typeface="Arial" panose="020B0604020202020204"/>
              </a:rPr>
              <a:t>to </a:t>
            </a:r>
            <a:r>
              <a:rPr sz="2600" spc="-70" dirty="0">
                <a:latin typeface="Arial" panose="020B0604020202020204"/>
                <a:cs typeface="Arial" panose="020B0604020202020204"/>
              </a:rPr>
              <a:t>continue only </a:t>
            </a:r>
            <a:r>
              <a:rPr sz="2600" spc="-30" dirty="0">
                <a:latin typeface="Arial" panose="020B0604020202020204"/>
                <a:cs typeface="Arial" panose="020B0604020202020204"/>
              </a:rPr>
              <a:t>after </a:t>
            </a:r>
            <a:r>
              <a:rPr sz="2600" spc="-225" dirty="0">
                <a:latin typeface="Arial" panose="020B0604020202020204"/>
                <a:cs typeface="Arial" panose="020B0604020202020204"/>
              </a:rPr>
              <a:t>T2</a:t>
            </a:r>
            <a:r>
              <a:rPr sz="2600" spc="-495" dirty="0">
                <a:latin typeface="Arial" panose="020B0604020202020204"/>
                <a:cs typeface="Arial" panose="020B0604020202020204"/>
              </a:rPr>
              <a:t> </a:t>
            </a:r>
            <a:r>
              <a:rPr sz="2600" spc="-195" dirty="0">
                <a:latin typeface="Arial" panose="020B0604020202020204"/>
                <a:cs typeface="Arial" panose="020B0604020202020204"/>
              </a:rPr>
              <a:t>has  </a:t>
            </a:r>
            <a:r>
              <a:rPr sz="2600" spc="-75" dirty="0">
                <a:latin typeface="Arial" panose="020B0604020202020204"/>
                <a:cs typeface="Arial" panose="020B0604020202020204"/>
              </a:rPr>
              <a:t>finished </a:t>
            </a:r>
            <a:r>
              <a:rPr sz="2600" spc="-155" dirty="0">
                <a:latin typeface="Arial" panose="020B0604020202020204"/>
                <a:cs typeface="Arial" panose="020B0604020202020204"/>
              </a:rPr>
              <a:t>some</a:t>
            </a:r>
            <a:r>
              <a:rPr sz="2600" spc="-265" dirty="0">
                <a:latin typeface="Arial" panose="020B0604020202020204"/>
                <a:cs typeface="Arial" panose="020B0604020202020204"/>
              </a:rPr>
              <a:t> </a:t>
            </a:r>
            <a:r>
              <a:rPr sz="2600" spc="-125" dirty="0">
                <a:latin typeface="Arial" panose="020B0604020202020204"/>
                <a:cs typeface="Arial" panose="020B0604020202020204"/>
              </a:rPr>
              <a:t>task</a:t>
            </a:r>
            <a:endParaRPr sz="2600" dirty="0">
              <a:latin typeface="Arial" panose="020B0604020202020204"/>
              <a:cs typeface="Arial" panose="020B0604020202020204"/>
            </a:endParaRPr>
          </a:p>
          <a:p>
            <a:pPr marL="355600" marR="602615" indent="-342900">
              <a:lnSpc>
                <a:spcPts val="324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300" dirty="0">
                <a:latin typeface="Arial" panose="020B0604020202020204"/>
                <a:cs typeface="Arial" panose="020B0604020202020204"/>
              </a:rPr>
              <a:t>Can </a:t>
            </a:r>
            <a:r>
              <a:rPr sz="3000" spc="-145" dirty="0">
                <a:latin typeface="Arial" panose="020B0604020202020204"/>
                <a:cs typeface="Arial" panose="020B0604020202020204"/>
              </a:rPr>
              <a:t>accomplish </a:t>
            </a:r>
            <a:r>
              <a:rPr sz="3000" spc="-60" dirty="0">
                <a:latin typeface="Arial" panose="020B0604020202020204"/>
                <a:cs typeface="Arial" panose="020B0604020202020204"/>
              </a:rPr>
              <a:t>this </a:t>
            </a:r>
            <a:r>
              <a:rPr sz="3000" spc="-130" dirty="0">
                <a:latin typeface="Arial" panose="020B0604020202020204"/>
                <a:cs typeface="Arial" panose="020B0604020202020204"/>
              </a:rPr>
              <a:t>by </a:t>
            </a:r>
            <a:r>
              <a:rPr sz="3000" spc="-105" dirty="0">
                <a:latin typeface="Arial" panose="020B0604020202020204"/>
                <a:cs typeface="Arial" panose="020B0604020202020204"/>
              </a:rPr>
              <a:t>busy-waiting </a:t>
            </a:r>
            <a:r>
              <a:rPr sz="3000" spc="-95" dirty="0">
                <a:latin typeface="Arial" panose="020B0604020202020204"/>
                <a:cs typeface="Arial" panose="020B0604020202020204"/>
              </a:rPr>
              <a:t>on</a:t>
            </a:r>
            <a:r>
              <a:rPr sz="3000" spc="-21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80" dirty="0">
                <a:latin typeface="Arial" panose="020B0604020202020204"/>
                <a:cs typeface="Arial" panose="020B0604020202020204"/>
              </a:rPr>
              <a:t>some  </a:t>
            </a:r>
            <a:r>
              <a:rPr sz="3000" spc="-105" dirty="0">
                <a:latin typeface="Arial" panose="020B0604020202020204"/>
                <a:cs typeface="Arial" panose="020B0604020202020204"/>
              </a:rPr>
              <a:t>variable, </a:t>
            </a:r>
            <a:r>
              <a:rPr sz="3000" spc="-10" dirty="0">
                <a:latin typeface="Arial" panose="020B0604020202020204"/>
                <a:cs typeface="Arial" panose="020B0604020202020204"/>
              </a:rPr>
              <a:t>but</a:t>
            </a:r>
            <a:r>
              <a:rPr sz="3000" spc="-22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45" dirty="0">
                <a:latin typeface="Arial" panose="020B0604020202020204"/>
                <a:cs typeface="Arial" panose="020B0604020202020204"/>
              </a:rPr>
              <a:t>inefficient</a:t>
            </a:r>
            <a:endParaRPr sz="3000" dirty="0">
              <a:latin typeface="Arial" panose="020B0604020202020204"/>
              <a:cs typeface="Arial" panose="020B0604020202020204"/>
            </a:endParaRPr>
          </a:p>
          <a:p>
            <a:pPr marL="355600" marR="107315" indent="-342900">
              <a:lnSpc>
                <a:spcPts val="324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75" dirty="0">
                <a:latin typeface="Arial" panose="020B0604020202020204"/>
                <a:cs typeface="Arial" panose="020B0604020202020204"/>
              </a:rPr>
              <a:t>Need </a:t>
            </a:r>
            <a:r>
              <a:rPr sz="3000" spc="-235" dirty="0">
                <a:latin typeface="Arial" panose="020B0604020202020204"/>
                <a:cs typeface="Arial" panose="020B0604020202020204"/>
              </a:rPr>
              <a:t>a </a:t>
            </a:r>
            <a:r>
              <a:rPr sz="3000" spc="-105" dirty="0">
                <a:latin typeface="Arial" panose="020B0604020202020204"/>
                <a:cs typeface="Arial" panose="020B0604020202020204"/>
              </a:rPr>
              <a:t>new </a:t>
            </a:r>
            <a:r>
              <a:rPr sz="3000" spc="-120" dirty="0">
                <a:latin typeface="Arial" panose="020B0604020202020204"/>
                <a:cs typeface="Arial" panose="020B0604020202020204"/>
              </a:rPr>
              <a:t>synchronization </a:t>
            </a:r>
            <a:r>
              <a:rPr sz="3000" spc="-35" dirty="0">
                <a:latin typeface="Arial" panose="020B0604020202020204"/>
                <a:cs typeface="Arial" panose="020B0604020202020204"/>
              </a:rPr>
              <a:t>primitive:</a:t>
            </a:r>
            <a:r>
              <a:rPr sz="3000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60" dirty="0">
                <a:latin typeface="Arial" panose="020B0604020202020204"/>
                <a:cs typeface="Arial" panose="020B0604020202020204"/>
              </a:rPr>
              <a:t>condition  </a:t>
            </a:r>
            <a:r>
              <a:rPr sz="3000" spc="-135" dirty="0">
                <a:latin typeface="Arial" panose="020B0604020202020204"/>
                <a:cs typeface="Arial" panose="020B0604020202020204"/>
              </a:rPr>
              <a:t>variables</a:t>
            </a:r>
            <a:endParaRPr sz="3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3430" y="918781"/>
            <a:ext cx="44278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Condition</a:t>
            </a:r>
            <a:r>
              <a:rPr spc="-295" dirty="0"/>
              <a:t> </a:t>
            </a:r>
            <a:r>
              <a:rPr spc="-235" dirty="0"/>
              <a:t>Variables</a:t>
            </a:r>
            <a:endParaRPr spc="-235" dirty="0"/>
          </a:p>
        </p:txBody>
      </p:sp>
      <p:sp>
        <p:nvSpPr>
          <p:cNvPr id="5" name="object 5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73847" y="2188273"/>
            <a:ext cx="7907020" cy="47326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39445" indent="-342900" algn="just">
              <a:lnSpc>
                <a:spcPts val="3460"/>
              </a:lnSpc>
              <a:spcBef>
                <a:spcPts val="535"/>
              </a:spcBef>
              <a:buChar char="•"/>
              <a:tabLst>
                <a:tab pos="355600" algn="l"/>
              </a:tabLst>
            </a:pPr>
            <a:r>
              <a:rPr sz="3200" spc="-28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condition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variable </a:t>
            </a:r>
            <a:r>
              <a:rPr sz="3200" spc="-285" dirty="0">
                <a:latin typeface="Arial" panose="020B0604020202020204"/>
                <a:cs typeface="Arial" panose="020B0604020202020204"/>
              </a:rPr>
              <a:t>(CV) </a:t>
            </a:r>
            <a:r>
              <a:rPr sz="3200" spc="-165" dirty="0">
                <a:latin typeface="Arial" panose="020B0604020202020204"/>
                <a:cs typeface="Arial" panose="020B0604020202020204"/>
              </a:rPr>
              <a:t>is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140" dirty="0">
                <a:latin typeface="Arial" panose="020B0604020202020204"/>
                <a:cs typeface="Arial" panose="020B0604020202020204"/>
              </a:rPr>
              <a:t>queue </a:t>
            </a:r>
            <a:r>
              <a:rPr sz="3200" spc="-5" dirty="0">
                <a:latin typeface="Arial" panose="020B0604020202020204"/>
                <a:cs typeface="Arial" panose="020B0604020202020204"/>
              </a:rPr>
              <a:t>that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 </a:t>
            </a:r>
            <a:r>
              <a:rPr sz="3200" spc="-80" dirty="0">
                <a:latin typeface="Arial" panose="020B0604020202020204"/>
                <a:cs typeface="Arial" panose="020B0604020202020204"/>
              </a:rPr>
              <a:t>thread </a:t>
            </a:r>
            <a:r>
              <a:rPr sz="3200" spc="-210" dirty="0">
                <a:latin typeface="Arial" panose="020B0604020202020204"/>
                <a:cs typeface="Arial" panose="020B0604020202020204"/>
              </a:rPr>
              <a:t>can </a:t>
            </a:r>
            <a:r>
              <a:rPr sz="3200" spc="-10" dirty="0">
                <a:latin typeface="Arial" panose="020B0604020202020204"/>
                <a:cs typeface="Arial" panose="020B0604020202020204"/>
              </a:rPr>
              <a:t>put </a:t>
            </a:r>
            <a:r>
              <a:rPr sz="3200" spc="-45" dirty="0">
                <a:latin typeface="Arial" panose="020B0604020202020204"/>
                <a:cs typeface="Arial" panose="020B0604020202020204"/>
              </a:rPr>
              <a:t>itself </a:t>
            </a:r>
            <a:r>
              <a:rPr sz="3200" spc="-15" dirty="0">
                <a:latin typeface="Arial" panose="020B0604020202020204"/>
                <a:cs typeface="Arial" panose="020B0604020202020204"/>
              </a:rPr>
              <a:t>into </a:t>
            </a:r>
            <a:r>
              <a:rPr sz="3200" spc="-105" dirty="0">
                <a:latin typeface="Arial" panose="020B0604020202020204"/>
                <a:cs typeface="Arial" panose="020B0604020202020204"/>
              </a:rPr>
              <a:t>when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waiting</a:t>
            </a:r>
            <a:r>
              <a:rPr sz="3200" spc="-64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on  </a:t>
            </a:r>
            <a:r>
              <a:rPr sz="3200" spc="-190" dirty="0">
                <a:latin typeface="Arial" panose="020B0604020202020204"/>
                <a:cs typeface="Arial" panose="020B0604020202020204"/>
              </a:rPr>
              <a:t>some 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condition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355600" marR="5080" indent="-342900">
              <a:lnSpc>
                <a:spcPts val="346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80" dirty="0">
                <a:latin typeface="Arial" panose="020B0604020202020204"/>
                <a:cs typeface="Arial" panose="020B0604020202020204"/>
              </a:rPr>
              <a:t>Another thread </a:t>
            </a:r>
            <a:r>
              <a:rPr sz="3200" spc="-5" dirty="0">
                <a:latin typeface="Arial" panose="020B0604020202020204"/>
                <a:cs typeface="Arial" panose="020B0604020202020204"/>
              </a:rPr>
              <a:t>that </a:t>
            </a:r>
            <a:r>
              <a:rPr sz="3200" spc="-235" dirty="0">
                <a:latin typeface="Arial" panose="020B0604020202020204"/>
                <a:cs typeface="Arial" panose="020B0604020202020204"/>
              </a:rPr>
              <a:t>makes </a:t>
            </a:r>
            <a:r>
              <a:rPr sz="3200" spc="-40" dirty="0">
                <a:latin typeface="Arial" panose="020B0604020202020204"/>
                <a:cs typeface="Arial" panose="020B0604020202020204"/>
              </a:rPr>
              <a:t>the 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condition</a:t>
            </a:r>
            <a:r>
              <a:rPr sz="3200" spc="-52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20" dirty="0">
                <a:latin typeface="Arial" panose="020B0604020202020204"/>
                <a:cs typeface="Arial" panose="020B0604020202020204"/>
              </a:rPr>
              <a:t>true  </a:t>
            </a:r>
            <a:r>
              <a:rPr sz="3200" spc="-210" dirty="0">
                <a:latin typeface="Arial" panose="020B0604020202020204"/>
                <a:cs typeface="Arial" panose="020B0604020202020204"/>
              </a:rPr>
              <a:t>can </a:t>
            </a:r>
            <a:r>
              <a:rPr sz="3200" spc="-155" dirty="0">
                <a:latin typeface="Arial" panose="020B0604020202020204"/>
                <a:cs typeface="Arial" panose="020B0604020202020204"/>
              </a:rPr>
              <a:t>signal </a:t>
            </a:r>
            <a:r>
              <a:rPr sz="3200" spc="-40" dirty="0">
                <a:latin typeface="Arial" panose="020B0604020202020204"/>
                <a:cs typeface="Arial" panose="020B0604020202020204"/>
              </a:rPr>
              <a:t>the </a:t>
            </a:r>
            <a:r>
              <a:rPr sz="3200" spc="-465" dirty="0">
                <a:latin typeface="Arial" panose="020B0604020202020204"/>
                <a:cs typeface="Arial" panose="020B0604020202020204"/>
              </a:rPr>
              <a:t>CV </a:t>
            </a:r>
            <a:r>
              <a:rPr sz="3200" spc="20" dirty="0">
                <a:latin typeface="Arial" panose="020B0604020202020204"/>
                <a:cs typeface="Arial" panose="020B0604020202020204"/>
              </a:rPr>
              <a:t>to </a:t>
            </a:r>
            <a:r>
              <a:rPr sz="3200" spc="-190" dirty="0">
                <a:latin typeface="Arial" panose="020B0604020202020204"/>
                <a:cs typeface="Arial" panose="020B0604020202020204"/>
              </a:rPr>
              <a:t>wake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up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waiting</a:t>
            </a:r>
            <a:r>
              <a:rPr sz="3200" spc="-50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80" dirty="0">
                <a:latin typeface="Arial" panose="020B0604020202020204"/>
                <a:cs typeface="Arial" panose="020B0604020202020204"/>
              </a:rPr>
              <a:t>thread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60" dirty="0">
                <a:latin typeface="Arial" panose="020B0604020202020204"/>
                <a:cs typeface="Arial" panose="020B0604020202020204"/>
              </a:rPr>
              <a:t>Pthreads </a:t>
            </a:r>
            <a:r>
              <a:rPr sz="3200" spc="-125" dirty="0">
                <a:latin typeface="Arial" panose="020B0604020202020204"/>
                <a:cs typeface="Arial" panose="020B0604020202020204"/>
              </a:rPr>
              <a:t>provides </a:t>
            </a:r>
            <a:r>
              <a:rPr sz="3200" spc="-465" dirty="0">
                <a:latin typeface="Arial" panose="020B0604020202020204"/>
                <a:cs typeface="Arial" panose="020B0604020202020204"/>
              </a:rPr>
              <a:t>CV </a:t>
            </a:r>
            <a:r>
              <a:rPr sz="3200" spc="-15" dirty="0">
                <a:latin typeface="Arial" panose="020B0604020202020204"/>
                <a:cs typeface="Arial" panose="020B0604020202020204"/>
              </a:rPr>
              <a:t>for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user</a:t>
            </a:r>
            <a:r>
              <a:rPr sz="3200" spc="-52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programs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756285" marR="454025" indent="-287020">
              <a:lnSpc>
                <a:spcPts val="3020"/>
              </a:lnSpc>
              <a:spcBef>
                <a:spcPts val="735"/>
              </a:spcBef>
            </a:pPr>
            <a:r>
              <a:rPr sz="2800" spc="-5" dirty="0">
                <a:latin typeface="Arial" panose="020B0604020202020204"/>
                <a:cs typeface="Arial" panose="020B0604020202020204"/>
              </a:rPr>
              <a:t>– </a:t>
            </a:r>
            <a:r>
              <a:rPr sz="2800" spc="-459" dirty="0">
                <a:latin typeface="Arial" panose="020B0604020202020204"/>
                <a:cs typeface="Arial" panose="020B0604020202020204"/>
              </a:rPr>
              <a:t>OS </a:t>
            </a:r>
            <a:r>
              <a:rPr sz="2800" spc="-210" dirty="0">
                <a:latin typeface="Arial" panose="020B0604020202020204"/>
                <a:cs typeface="Arial" panose="020B0604020202020204"/>
              </a:rPr>
              <a:t>has </a:t>
            </a:r>
            <a:r>
              <a:rPr sz="2800" spc="-220" dirty="0">
                <a:latin typeface="Arial" panose="020B0604020202020204"/>
                <a:cs typeface="Arial" panose="020B0604020202020204"/>
              </a:rPr>
              <a:t>a </a:t>
            </a:r>
            <a:r>
              <a:rPr sz="2800" spc="-85" dirty="0">
                <a:latin typeface="Arial" panose="020B0604020202020204"/>
                <a:cs typeface="Arial" panose="020B0604020202020204"/>
              </a:rPr>
              <a:t>similar </a:t>
            </a:r>
            <a:r>
              <a:rPr sz="2800" spc="-45" dirty="0">
                <a:latin typeface="Arial" panose="020B0604020202020204"/>
                <a:cs typeface="Arial" panose="020B0604020202020204"/>
              </a:rPr>
              <a:t>functionality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of </a:t>
            </a:r>
            <a:r>
              <a:rPr sz="2800" spc="-65" dirty="0">
                <a:latin typeface="Arial" panose="020B0604020202020204"/>
                <a:cs typeface="Arial" panose="020B0604020202020204"/>
              </a:rPr>
              <a:t>wait/signal</a:t>
            </a:r>
            <a:r>
              <a:rPr sz="2800" spc="-295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5" dirty="0">
                <a:latin typeface="Arial" panose="020B0604020202020204"/>
                <a:cs typeface="Arial" panose="020B0604020202020204"/>
              </a:rPr>
              <a:t>for  </a:t>
            </a:r>
            <a:r>
              <a:rPr sz="2800" spc="-100" dirty="0">
                <a:latin typeface="Arial" panose="020B0604020202020204"/>
                <a:cs typeface="Arial" panose="020B0604020202020204"/>
              </a:rPr>
              <a:t>kernel</a:t>
            </a:r>
            <a:r>
              <a:rPr sz="28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05" dirty="0">
                <a:latin typeface="Arial" panose="020B0604020202020204"/>
                <a:cs typeface="Arial" panose="020B0604020202020204"/>
              </a:rPr>
              <a:t>threads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 marL="355600" marR="177800" indent="-342900">
              <a:lnSpc>
                <a:spcPts val="346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10" dirty="0">
                <a:latin typeface="Arial" panose="020B0604020202020204"/>
                <a:cs typeface="Arial" panose="020B0604020202020204"/>
              </a:rPr>
              <a:t>Signal </a:t>
            </a:r>
            <a:r>
              <a:rPr sz="3200" spc="-220" dirty="0">
                <a:latin typeface="Arial" panose="020B0604020202020204"/>
                <a:cs typeface="Arial" panose="020B0604020202020204"/>
              </a:rPr>
              <a:t>wakes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up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one </a:t>
            </a:r>
            <a:r>
              <a:rPr sz="3200" spc="-80" dirty="0">
                <a:latin typeface="Arial" panose="020B0604020202020204"/>
                <a:cs typeface="Arial" panose="020B0604020202020204"/>
              </a:rPr>
              <a:t>thread, </a:t>
            </a:r>
            <a:r>
              <a:rPr sz="3200" spc="-155" dirty="0">
                <a:latin typeface="Arial" panose="020B0604020202020204"/>
                <a:cs typeface="Arial" panose="020B0604020202020204"/>
              </a:rPr>
              <a:t>signal</a:t>
            </a:r>
            <a:r>
              <a:rPr sz="3200" spc="-26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45" dirty="0">
                <a:latin typeface="Arial" panose="020B0604020202020204"/>
                <a:cs typeface="Arial" panose="020B0604020202020204"/>
              </a:rPr>
              <a:t>broadcast  </a:t>
            </a:r>
            <a:r>
              <a:rPr sz="3200" spc="-220" dirty="0">
                <a:latin typeface="Arial" panose="020B0604020202020204"/>
                <a:cs typeface="Arial" panose="020B0604020202020204"/>
              </a:rPr>
              <a:t>wakes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up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all waiting</a:t>
            </a:r>
            <a:r>
              <a:rPr sz="3200" spc="-27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threads</a:t>
            </a:r>
            <a:endParaRPr sz="3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3458" y="644144"/>
            <a:ext cx="70250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Example: </a:t>
            </a:r>
            <a:r>
              <a:rPr spc="-110" dirty="0"/>
              <a:t>parent </a:t>
            </a:r>
            <a:r>
              <a:rPr spc="-125" dirty="0"/>
              <a:t>waits </a:t>
            </a:r>
            <a:r>
              <a:rPr spc="-10" dirty="0"/>
              <a:t>for</a:t>
            </a:r>
            <a:r>
              <a:rPr spc="-484" dirty="0"/>
              <a:t> </a:t>
            </a:r>
            <a:r>
              <a:rPr spc="-114" dirty="0"/>
              <a:t>child</a:t>
            </a:r>
            <a:endParaRPr spc="-114" dirty="0"/>
          </a:p>
        </p:txBody>
      </p:sp>
      <p:sp>
        <p:nvSpPr>
          <p:cNvPr id="3" name="object 3"/>
          <p:cNvSpPr/>
          <p:nvPr/>
        </p:nvSpPr>
        <p:spPr>
          <a:xfrm>
            <a:off x="1776983" y="1333500"/>
            <a:ext cx="6504432" cy="25542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76983" y="3886200"/>
            <a:ext cx="6409198" cy="3351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Why </a:t>
            </a:r>
            <a:r>
              <a:rPr spc="-260" dirty="0"/>
              <a:t>check </a:t>
            </a:r>
            <a:r>
              <a:rPr spc="-85" dirty="0"/>
              <a:t>condition </a:t>
            </a:r>
            <a:r>
              <a:rPr spc="-55" dirty="0"/>
              <a:t>in </a:t>
            </a:r>
            <a:r>
              <a:rPr spc="-75" dirty="0"/>
              <a:t>while</a:t>
            </a:r>
            <a:r>
              <a:rPr spc="-610" dirty="0"/>
              <a:t> </a:t>
            </a:r>
            <a:r>
              <a:rPr spc="-155" dirty="0"/>
              <a:t>loop?</a:t>
            </a:r>
            <a:endParaRPr spc="-155" dirty="0"/>
          </a:p>
        </p:txBody>
      </p:sp>
      <p:sp>
        <p:nvSpPr>
          <p:cNvPr id="5" name="object 5"/>
          <p:cNvSpPr txBox="1"/>
          <p:nvPr/>
        </p:nvSpPr>
        <p:spPr>
          <a:xfrm>
            <a:off x="993139" y="1823085"/>
            <a:ext cx="8056880" cy="30537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962025" indent="-342900">
              <a:lnSpc>
                <a:spcPts val="2920"/>
              </a:lnSpc>
              <a:spcBef>
                <a:spcPts val="460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80" dirty="0">
                <a:latin typeface="Arial" panose="020B0604020202020204"/>
                <a:cs typeface="Arial" panose="020B0604020202020204"/>
              </a:rPr>
              <a:t>In </a:t>
            </a:r>
            <a:r>
              <a:rPr sz="2700" spc="-35" dirty="0">
                <a:latin typeface="Arial" panose="020B0604020202020204"/>
                <a:cs typeface="Arial" panose="020B0604020202020204"/>
              </a:rPr>
              <a:t>the </a:t>
            </a:r>
            <a:r>
              <a:rPr sz="2700" spc="-140" dirty="0">
                <a:latin typeface="Arial" panose="020B0604020202020204"/>
                <a:cs typeface="Arial" panose="020B0604020202020204"/>
              </a:rPr>
              <a:t>example </a:t>
            </a:r>
            <a:r>
              <a:rPr sz="2700" spc="-130" dirty="0">
                <a:latin typeface="Arial" panose="020B0604020202020204"/>
                <a:cs typeface="Arial" panose="020B0604020202020204"/>
              </a:rPr>
              <a:t>code, </a:t>
            </a:r>
            <a:r>
              <a:rPr sz="2700" spc="-100" dirty="0">
                <a:latin typeface="Arial" panose="020B0604020202020204"/>
                <a:cs typeface="Arial" panose="020B0604020202020204"/>
              </a:rPr>
              <a:t>why </a:t>
            </a:r>
            <a:r>
              <a:rPr sz="2700" spc="-85" dirty="0">
                <a:latin typeface="Arial" panose="020B0604020202020204"/>
                <a:cs typeface="Arial" panose="020B0604020202020204"/>
              </a:rPr>
              <a:t>do </a:t>
            </a:r>
            <a:r>
              <a:rPr sz="2700" spc="-105" dirty="0">
                <a:latin typeface="Arial" panose="020B0604020202020204"/>
                <a:cs typeface="Arial" panose="020B0604020202020204"/>
              </a:rPr>
              <a:t>we </a:t>
            </a:r>
            <a:r>
              <a:rPr sz="2700" spc="-165" dirty="0">
                <a:latin typeface="Arial" panose="020B0604020202020204"/>
                <a:cs typeface="Arial" panose="020B0604020202020204"/>
              </a:rPr>
              <a:t>check</a:t>
            </a:r>
            <a:r>
              <a:rPr sz="2700" spc="-57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55" dirty="0">
                <a:latin typeface="Arial" panose="020B0604020202020204"/>
                <a:cs typeface="Arial" panose="020B0604020202020204"/>
              </a:rPr>
              <a:t>condition  </a:t>
            </a:r>
            <a:r>
              <a:rPr sz="2700" spc="-85" dirty="0">
                <a:latin typeface="Arial" panose="020B0604020202020204"/>
                <a:cs typeface="Arial" panose="020B0604020202020204"/>
              </a:rPr>
              <a:t>before </a:t>
            </a:r>
            <a:r>
              <a:rPr sz="2700" spc="-105" dirty="0">
                <a:latin typeface="Arial" panose="020B0604020202020204"/>
                <a:cs typeface="Arial" panose="020B0604020202020204"/>
              </a:rPr>
              <a:t>calling</a:t>
            </a:r>
            <a:r>
              <a:rPr sz="2700" spc="-24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70" dirty="0">
                <a:latin typeface="Arial" panose="020B0604020202020204"/>
                <a:cs typeface="Arial" panose="020B0604020202020204"/>
              </a:rPr>
              <a:t>wait?</a:t>
            </a:r>
            <a:endParaRPr sz="2700" dirty="0">
              <a:latin typeface="Arial" panose="020B0604020202020204"/>
              <a:cs typeface="Arial" panose="020B0604020202020204"/>
            </a:endParaRPr>
          </a:p>
          <a:p>
            <a:pPr marL="756285" marR="150495" lvl="1" indent="-286385">
              <a:lnSpc>
                <a:spcPts val="259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75" dirty="0">
                <a:latin typeface="Arial" panose="020B0604020202020204"/>
                <a:cs typeface="Arial" panose="020B0604020202020204"/>
              </a:rPr>
              <a:t>In</a:t>
            </a:r>
            <a:r>
              <a:rPr sz="24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00" dirty="0">
                <a:latin typeface="Arial" panose="020B0604020202020204"/>
                <a:cs typeface="Arial" panose="020B0604020202020204"/>
              </a:rPr>
              <a:t>case</a:t>
            </a:r>
            <a:r>
              <a:rPr sz="2400" spc="-14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30" dirty="0">
                <a:latin typeface="Arial" panose="020B0604020202020204"/>
                <a:cs typeface="Arial" panose="020B0604020202020204"/>
              </a:rPr>
              <a:t>the</a:t>
            </a:r>
            <a:r>
              <a:rPr sz="24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65" dirty="0">
                <a:latin typeface="Arial" panose="020B0604020202020204"/>
                <a:cs typeface="Arial" panose="020B0604020202020204"/>
              </a:rPr>
              <a:t>child</a:t>
            </a:r>
            <a:r>
              <a:rPr sz="24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80" dirty="0">
                <a:latin typeface="Arial" panose="020B0604020202020204"/>
                <a:cs typeface="Arial" panose="020B0604020202020204"/>
              </a:rPr>
              <a:t>has</a:t>
            </a:r>
            <a:r>
              <a:rPr sz="24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0" dirty="0">
                <a:latin typeface="Arial" panose="020B0604020202020204"/>
                <a:cs typeface="Arial" panose="020B0604020202020204"/>
              </a:rPr>
              <a:t>already</a:t>
            </a:r>
            <a:r>
              <a:rPr sz="24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0" dirty="0">
                <a:latin typeface="Arial" panose="020B0604020202020204"/>
                <a:cs typeface="Arial" panose="020B0604020202020204"/>
              </a:rPr>
              <a:t>run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14" dirty="0">
                <a:latin typeface="Arial" panose="020B0604020202020204"/>
                <a:cs typeface="Arial" panose="020B0604020202020204"/>
              </a:rPr>
              <a:t>and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95" dirty="0">
                <a:latin typeface="Arial" panose="020B0604020202020204"/>
                <a:cs typeface="Arial" panose="020B0604020202020204"/>
              </a:rPr>
              <a:t>done</a:t>
            </a:r>
            <a:r>
              <a:rPr sz="2400" spc="-125" dirty="0">
                <a:latin typeface="Arial" panose="020B0604020202020204"/>
                <a:cs typeface="Arial" panose="020B0604020202020204"/>
              </a:rPr>
              <a:t> is</a:t>
            </a:r>
            <a:r>
              <a:rPr sz="24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latin typeface="Arial" panose="020B0604020202020204"/>
                <a:cs typeface="Arial" panose="020B0604020202020204"/>
              </a:rPr>
              <a:t>true,</a:t>
            </a:r>
            <a:r>
              <a:rPr sz="2400" spc="-14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5" dirty="0">
                <a:latin typeface="Arial" panose="020B0604020202020204"/>
                <a:cs typeface="Arial" panose="020B0604020202020204"/>
              </a:rPr>
              <a:t>then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80" dirty="0">
                <a:latin typeface="Arial" panose="020B0604020202020204"/>
                <a:cs typeface="Arial" panose="020B0604020202020204"/>
              </a:rPr>
              <a:t>no  </a:t>
            </a:r>
            <a:r>
              <a:rPr sz="2400" spc="-110" dirty="0">
                <a:latin typeface="Arial" panose="020B0604020202020204"/>
                <a:cs typeface="Arial" panose="020B0604020202020204"/>
              </a:rPr>
              <a:t>need </a:t>
            </a:r>
            <a:r>
              <a:rPr sz="2400" spc="20" dirty="0">
                <a:latin typeface="Arial" panose="020B0604020202020204"/>
                <a:cs typeface="Arial" panose="020B0604020202020204"/>
              </a:rPr>
              <a:t>to</a:t>
            </a:r>
            <a:r>
              <a:rPr sz="2400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latin typeface="Arial" panose="020B0604020202020204"/>
                <a:cs typeface="Arial" panose="020B0604020202020204"/>
              </a:rPr>
              <a:t>wait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355600" indent="-342900">
              <a:lnSpc>
                <a:spcPct val="100000"/>
              </a:lnSpc>
              <a:spcBef>
                <a:spcPts val="280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140" dirty="0">
                <a:latin typeface="Arial" panose="020B0604020202020204"/>
                <a:cs typeface="Arial" panose="020B0604020202020204"/>
              </a:rPr>
              <a:t>Why</a:t>
            </a:r>
            <a:r>
              <a:rPr sz="2700" spc="-16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165" dirty="0">
                <a:latin typeface="Arial" panose="020B0604020202020204"/>
                <a:cs typeface="Arial" panose="020B0604020202020204"/>
              </a:rPr>
              <a:t>check</a:t>
            </a:r>
            <a:r>
              <a:rPr sz="2700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55" dirty="0">
                <a:latin typeface="Arial" panose="020B0604020202020204"/>
                <a:cs typeface="Arial" panose="020B0604020202020204"/>
              </a:rPr>
              <a:t>condition</a:t>
            </a:r>
            <a:r>
              <a:rPr sz="27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10" dirty="0">
                <a:latin typeface="Arial" panose="020B0604020202020204"/>
                <a:cs typeface="Arial" panose="020B0604020202020204"/>
              </a:rPr>
              <a:t>with</a:t>
            </a:r>
            <a:r>
              <a:rPr sz="27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30" dirty="0">
                <a:latin typeface="Arial" panose="020B0604020202020204"/>
                <a:cs typeface="Arial" panose="020B0604020202020204"/>
              </a:rPr>
              <a:t>“while”</a:t>
            </a:r>
            <a:r>
              <a:rPr sz="27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55" dirty="0">
                <a:latin typeface="Arial" panose="020B0604020202020204"/>
                <a:cs typeface="Arial" panose="020B0604020202020204"/>
              </a:rPr>
              <a:t>loop</a:t>
            </a:r>
            <a:r>
              <a:rPr sz="2700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125" dirty="0">
                <a:latin typeface="Arial" panose="020B0604020202020204"/>
                <a:cs typeface="Arial" panose="020B0604020202020204"/>
              </a:rPr>
              <a:t>and</a:t>
            </a:r>
            <a:r>
              <a:rPr sz="2700" spc="-15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5" dirty="0">
                <a:latin typeface="Arial" panose="020B0604020202020204"/>
                <a:cs typeface="Arial" panose="020B0604020202020204"/>
              </a:rPr>
              <a:t>not</a:t>
            </a:r>
            <a:r>
              <a:rPr sz="2700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85" dirty="0">
                <a:latin typeface="Arial" panose="020B0604020202020204"/>
                <a:cs typeface="Arial" panose="020B0604020202020204"/>
              </a:rPr>
              <a:t>“if”?</a:t>
            </a:r>
            <a:endParaRPr sz="2700" dirty="0">
              <a:latin typeface="Arial" panose="020B0604020202020204"/>
              <a:cs typeface="Arial" panose="020B0604020202020204"/>
            </a:endParaRPr>
          </a:p>
          <a:p>
            <a:pPr marL="756285" marR="5080" lvl="1" indent="-286385">
              <a:lnSpc>
                <a:spcPts val="2590"/>
              </a:lnSpc>
              <a:spcBef>
                <a:spcPts val="625"/>
              </a:spcBef>
              <a:buChar char="–"/>
              <a:tabLst>
                <a:tab pos="756920" algn="l"/>
              </a:tabLst>
            </a:pPr>
            <a:r>
              <a:rPr sz="2400" spc="-300" dirty="0">
                <a:latin typeface="Arial" panose="020B0604020202020204"/>
                <a:cs typeface="Arial" panose="020B0604020202020204"/>
              </a:rPr>
              <a:t>To </a:t>
            </a:r>
            <a:r>
              <a:rPr sz="2400" spc="-105" dirty="0">
                <a:latin typeface="Arial" panose="020B0604020202020204"/>
                <a:cs typeface="Arial" panose="020B0604020202020204"/>
              </a:rPr>
              <a:t>avoid </a:t>
            </a:r>
            <a:r>
              <a:rPr sz="2400" spc="-75" dirty="0">
                <a:latin typeface="Arial" panose="020B0604020202020204"/>
                <a:cs typeface="Arial" panose="020B0604020202020204"/>
              </a:rPr>
              <a:t>corner </a:t>
            </a:r>
            <a:r>
              <a:rPr sz="2400" spc="-215" dirty="0">
                <a:latin typeface="Arial" panose="020B0604020202020204"/>
                <a:cs typeface="Arial" panose="020B0604020202020204"/>
              </a:rPr>
              <a:t>cases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of </a:t>
            </a:r>
            <a:r>
              <a:rPr sz="2400" spc="-60" dirty="0">
                <a:latin typeface="Arial" panose="020B0604020202020204"/>
                <a:cs typeface="Arial" panose="020B0604020202020204"/>
              </a:rPr>
              <a:t>thread </a:t>
            </a:r>
            <a:r>
              <a:rPr sz="2400" spc="-100" dirty="0">
                <a:latin typeface="Arial" panose="020B0604020202020204"/>
                <a:cs typeface="Arial" panose="020B0604020202020204"/>
              </a:rPr>
              <a:t>being </a:t>
            </a:r>
            <a:r>
              <a:rPr sz="2400" spc="-105" dirty="0">
                <a:latin typeface="Arial" panose="020B0604020202020204"/>
                <a:cs typeface="Arial" panose="020B0604020202020204"/>
              </a:rPr>
              <a:t>woken </a:t>
            </a:r>
            <a:r>
              <a:rPr sz="2400" spc="-80" dirty="0">
                <a:latin typeface="Arial" panose="020B0604020202020204"/>
                <a:cs typeface="Arial" panose="020B0604020202020204"/>
              </a:rPr>
              <a:t>up 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even </a:t>
            </a:r>
            <a:r>
              <a:rPr sz="2400" spc="-80" dirty="0">
                <a:latin typeface="Arial" panose="020B0604020202020204"/>
                <a:cs typeface="Arial" panose="020B0604020202020204"/>
              </a:rPr>
              <a:t>when  </a:t>
            </a:r>
            <a:r>
              <a:rPr sz="2400" spc="-50" dirty="0">
                <a:latin typeface="Arial" panose="020B0604020202020204"/>
                <a:cs typeface="Arial" panose="020B0604020202020204"/>
              </a:rPr>
              <a:t>condition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not 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true 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(may </a:t>
            </a:r>
            <a:r>
              <a:rPr sz="2400" spc="-110" dirty="0">
                <a:latin typeface="Arial" panose="020B0604020202020204"/>
                <a:cs typeface="Arial" panose="020B0604020202020204"/>
              </a:rPr>
              <a:t>be 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an </a:t>
            </a:r>
            <a:r>
              <a:rPr sz="2400" spc="-150" dirty="0">
                <a:latin typeface="Arial" panose="020B0604020202020204"/>
                <a:cs typeface="Arial" panose="020B0604020202020204"/>
              </a:rPr>
              <a:t>issue </a:t>
            </a:r>
            <a:r>
              <a:rPr sz="2400" spc="10" dirty="0">
                <a:latin typeface="Arial" panose="020B0604020202020204"/>
                <a:cs typeface="Arial" panose="020B0604020202020204"/>
              </a:rPr>
              <a:t>with </a:t>
            </a:r>
            <a:r>
              <a:rPr sz="2400" spc="-145" dirty="0">
                <a:latin typeface="Arial" panose="020B0604020202020204"/>
                <a:cs typeface="Arial" panose="020B0604020202020204"/>
              </a:rPr>
              <a:t>some  </a:t>
            </a:r>
            <a:r>
              <a:rPr sz="2400" spc="-70" dirty="0">
                <a:latin typeface="Arial" panose="020B0604020202020204"/>
                <a:cs typeface="Arial" panose="020B0604020202020204"/>
              </a:rPr>
              <a:t>implementations)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73311" y="693362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898989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5095779"/>
            <a:ext cx="9145524" cy="206554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011" y="918781"/>
            <a:ext cx="73342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Why </a:t>
            </a:r>
            <a:r>
              <a:rPr spc="-295" dirty="0"/>
              <a:t>use </a:t>
            </a:r>
            <a:r>
              <a:rPr spc="-165" dirty="0"/>
              <a:t>lock </a:t>
            </a:r>
            <a:r>
              <a:rPr spc="-145" dirty="0"/>
              <a:t>when </a:t>
            </a:r>
            <a:r>
              <a:rPr spc="-165" dirty="0"/>
              <a:t>calling</a:t>
            </a:r>
            <a:r>
              <a:rPr spc="-370" dirty="0"/>
              <a:t> </a:t>
            </a:r>
            <a:r>
              <a:rPr spc="-110" dirty="0"/>
              <a:t>wait?</a:t>
            </a:r>
            <a:endParaRPr spc="-110" dirty="0"/>
          </a:p>
        </p:txBody>
      </p:sp>
      <p:sp>
        <p:nvSpPr>
          <p:cNvPr id="3" name="object 3"/>
          <p:cNvSpPr/>
          <p:nvPr/>
        </p:nvSpPr>
        <p:spPr>
          <a:xfrm>
            <a:off x="5400623" y="1819200"/>
            <a:ext cx="4122852" cy="205633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64540" y="2338070"/>
            <a:ext cx="8215630" cy="429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35400" indent="-342900">
              <a:lnSpc>
                <a:spcPct val="100000"/>
              </a:lnSpc>
              <a:spcBef>
                <a:spcPts val="100"/>
              </a:spcBef>
            </a:pPr>
            <a:r>
              <a:rPr sz="3000" spc="-90" dirty="0">
                <a:latin typeface="Arial" panose="020B0604020202020204"/>
                <a:cs typeface="Arial" panose="020B0604020202020204"/>
              </a:rPr>
              <a:t>What </a:t>
            </a:r>
            <a:r>
              <a:rPr sz="3000" spc="45" dirty="0">
                <a:latin typeface="Arial" panose="020B0604020202020204"/>
                <a:cs typeface="Arial" panose="020B0604020202020204"/>
              </a:rPr>
              <a:t>if </a:t>
            </a:r>
            <a:r>
              <a:rPr sz="3000" spc="-95" dirty="0">
                <a:latin typeface="Arial" panose="020B0604020202020204"/>
                <a:cs typeface="Arial" panose="020B0604020202020204"/>
              </a:rPr>
              <a:t>no </a:t>
            </a:r>
            <a:r>
              <a:rPr sz="3000" spc="-114" dirty="0">
                <a:latin typeface="Arial" panose="020B0604020202020204"/>
                <a:cs typeface="Arial" panose="020B0604020202020204"/>
              </a:rPr>
              <a:t>lock </a:t>
            </a:r>
            <a:r>
              <a:rPr sz="3000" spc="-155" dirty="0">
                <a:latin typeface="Arial" panose="020B0604020202020204"/>
                <a:cs typeface="Arial" panose="020B0604020202020204"/>
              </a:rPr>
              <a:t>is </a:t>
            </a:r>
            <a:r>
              <a:rPr sz="3000" spc="-90" dirty="0">
                <a:latin typeface="Arial" panose="020B0604020202020204"/>
                <a:cs typeface="Arial" panose="020B0604020202020204"/>
              </a:rPr>
              <a:t>held</a:t>
            </a:r>
            <a:r>
              <a:rPr sz="3000" spc="-59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00" dirty="0">
                <a:latin typeface="Arial" panose="020B0604020202020204"/>
                <a:cs typeface="Arial" panose="020B0604020202020204"/>
              </a:rPr>
              <a:t>when  </a:t>
            </a:r>
            <a:r>
              <a:rPr sz="3000" spc="-114" dirty="0">
                <a:latin typeface="Arial" panose="020B0604020202020204"/>
                <a:cs typeface="Arial" panose="020B0604020202020204"/>
              </a:rPr>
              <a:t>calling</a:t>
            </a:r>
            <a:r>
              <a:rPr sz="3000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85" dirty="0">
                <a:latin typeface="Arial" panose="020B0604020202020204"/>
                <a:cs typeface="Arial" panose="020B0604020202020204"/>
              </a:rPr>
              <a:t>wait/signal?</a:t>
            </a:r>
            <a:endParaRPr sz="30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3000" dirty="0">
              <a:latin typeface="Times New Roman" panose="02020603050405020304"/>
              <a:cs typeface="Times New Roman" panose="02020603050405020304"/>
            </a:endParaRPr>
          </a:p>
          <a:p>
            <a:pPr marL="584200" indent="-342900">
              <a:lnSpc>
                <a:spcPct val="100000"/>
              </a:lnSpc>
              <a:spcBef>
                <a:spcPts val="1985"/>
              </a:spcBef>
              <a:buChar char="•"/>
              <a:tabLst>
                <a:tab pos="583565" algn="l"/>
                <a:tab pos="584200" algn="l"/>
              </a:tabLst>
            </a:pPr>
            <a:r>
              <a:rPr sz="2700" spc="-275" dirty="0">
                <a:latin typeface="Arial" panose="020B0604020202020204"/>
                <a:cs typeface="Arial" panose="020B0604020202020204"/>
              </a:rPr>
              <a:t>Race </a:t>
            </a:r>
            <a:r>
              <a:rPr sz="2700" spc="-55" dirty="0">
                <a:latin typeface="Arial" panose="020B0604020202020204"/>
                <a:cs typeface="Arial" panose="020B0604020202020204"/>
              </a:rPr>
              <a:t>condition: </a:t>
            </a:r>
            <a:r>
              <a:rPr sz="2700" spc="-155" dirty="0">
                <a:latin typeface="Arial" panose="020B0604020202020204"/>
                <a:cs typeface="Arial" panose="020B0604020202020204"/>
              </a:rPr>
              <a:t>missed</a:t>
            </a:r>
            <a:r>
              <a:rPr sz="27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140" dirty="0">
                <a:latin typeface="Arial" panose="020B0604020202020204"/>
                <a:cs typeface="Arial" panose="020B0604020202020204"/>
              </a:rPr>
              <a:t>wakeup</a:t>
            </a:r>
            <a:endParaRPr sz="2700" dirty="0">
              <a:latin typeface="Arial" panose="020B0604020202020204"/>
              <a:cs typeface="Arial" panose="020B0604020202020204"/>
            </a:endParaRPr>
          </a:p>
          <a:p>
            <a:pPr marL="984885" lvl="1" indent="-286385">
              <a:lnSpc>
                <a:spcPct val="100000"/>
              </a:lnSpc>
              <a:spcBef>
                <a:spcPts val="10"/>
              </a:spcBef>
              <a:buChar char="–"/>
              <a:tabLst>
                <a:tab pos="984885" algn="l"/>
              </a:tabLst>
            </a:pPr>
            <a:r>
              <a:rPr sz="2400" spc="-120" dirty="0">
                <a:latin typeface="Arial" panose="020B0604020202020204"/>
                <a:cs typeface="Arial" panose="020B0604020202020204"/>
              </a:rPr>
              <a:t>Parent </a:t>
            </a:r>
            <a:r>
              <a:rPr sz="2400" spc="-165" dirty="0">
                <a:latin typeface="Arial" panose="020B0604020202020204"/>
                <a:cs typeface="Arial" panose="020B0604020202020204"/>
              </a:rPr>
              <a:t>checks </a:t>
            </a:r>
            <a:r>
              <a:rPr sz="2400" spc="-95" dirty="0">
                <a:latin typeface="Arial" panose="020B0604020202020204"/>
                <a:cs typeface="Arial" panose="020B0604020202020204"/>
              </a:rPr>
              <a:t>done </a:t>
            </a:r>
            <a:r>
              <a:rPr sz="2400" spc="20" dirty="0">
                <a:latin typeface="Arial" panose="020B0604020202020204"/>
                <a:cs typeface="Arial" panose="020B0604020202020204"/>
              </a:rPr>
              <a:t>to </a:t>
            </a:r>
            <a:r>
              <a:rPr sz="2400" spc="-110" dirty="0">
                <a:latin typeface="Arial" panose="020B0604020202020204"/>
                <a:cs typeface="Arial" panose="020B0604020202020204"/>
              </a:rPr>
              <a:t>be </a:t>
            </a:r>
            <a:r>
              <a:rPr sz="2400" spc="-100" dirty="0">
                <a:latin typeface="Arial" panose="020B0604020202020204"/>
                <a:cs typeface="Arial" panose="020B0604020202020204"/>
              </a:rPr>
              <a:t>0, </a:t>
            </a:r>
            <a:r>
              <a:rPr sz="2400" spc="-125" dirty="0">
                <a:latin typeface="Arial" panose="020B0604020202020204"/>
                <a:cs typeface="Arial" panose="020B0604020202020204"/>
              </a:rPr>
              <a:t>decides </a:t>
            </a:r>
            <a:r>
              <a:rPr sz="2400" spc="20" dirty="0">
                <a:latin typeface="Arial" panose="020B0604020202020204"/>
                <a:cs typeface="Arial" panose="020B0604020202020204"/>
              </a:rPr>
              <a:t>to</a:t>
            </a:r>
            <a:r>
              <a:rPr sz="2400" spc="-434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14" dirty="0">
                <a:latin typeface="Arial" panose="020B0604020202020204"/>
                <a:cs typeface="Arial" panose="020B0604020202020204"/>
              </a:rPr>
              <a:t>sleep, </a:t>
            </a:r>
            <a:r>
              <a:rPr sz="2400" spc="-30" dirty="0">
                <a:latin typeface="Arial" panose="020B0604020202020204"/>
                <a:cs typeface="Arial" panose="020B0604020202020204"/>
              </a:rPr>
              <a:t>interrupted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984885" lvl="1" indent="-286385">
              <a:lnSpc>
                <a:spcPct val="100000"/>
              </a:lnSpc>
              <a:buChar char="–"/>
              <a:tabLst>
                <a:tab pos="984885" algn="l"/>
              </a:tabLst>
            </a:pPr>
            <a:r>
              <a:rPr sz="2400" spc="-120" dirty="0">
                <a:latin typeface="Arial" panose="020B0604020202020204"/>
                <a:cs typeface="Arial" panose="020B0604020202020204"/>
              </a:rPr>
              <a:t>Child </a:t>
            </a:r>
            <a:r>
              <a:rPr sz="2400" spc="-95" dirty="0">
                <a:latin typeface="Arial" panose="020B0604020202020204"/>
                <a:cs typeface="Arial" panose="020B0604020202020204"/>
              </a:rPr>
              <a:t>runs, </a:t>
            </a:r>
            <a:r>
              <a:rPr sz="2400" spc="-140" dirty="0">
                <a:latin typeface="Arial" panose="020B0604020202020204"/>
                <a:cs typeface="Arial" panose="020B0604020202020204"/>
              </a:rPr>
              <a:t>sets </a:t>
            </a:r>
            <a:r>
              <a:rPr sz="2400" spc="-95" dirty="0">
                <a:latin typeface="Arial" panose="020B0604020202020204"/>
                <a:cs typeface="Arial" panose="020B0604020202020204"/>
              </a:rPr>
              <a:t>done </a:t>
            </a:r>
            <a:r>
              <a:rPr sz="2400" spc="20" dirty="0">
                <a:latin typeface="Arial" panose="020B0604020202020204"/>
                <a:cs typeface="Arial" panose="020B0604020202020204"/>
              </a:rPr>
              <a:t>to </a:t>
            </a:r>
            <a:r>
              <a:rPr sz="2400" spc="-100" dirty="0">
                <a:latin typeface="Arial" panose="020B0604020202020204"/>
                <a:cs typeface="Arial" panose="020B0604020202020204"/>
              </a:rPr>
              <a:t>0, </a:t>
            </a:r>
            <a:r>
              <a:rPr sz="2400" spc="-135" dirty="0">
                <a:latin typeface="Arial" panose="020B0604020202020204"/>
                <a:cs typeface="Arial" panose="020B0604020202020204"/>
              </a:rPr>
              <a:t>signals,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but</a:t>
            </a:r>
            <a:r>
              <a:rPr sz="2400" spc="-49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75" dirty="0">
                <a:latin typeface="Arial" panose="020B0604020202020204"/>
                <a:cs typeface="Arial" panose="020B0604020202020204"/>
              </a:rPr>
              <a:t>no </a:t>
            </a:r>
            <a:r>
              <a:rPr sz="2400" spc="-100" dirty="0">
                <a:latin typeface="Arial" panose="020B0604020202020204"/>
                <a:cs typeface="Arial" panose="020B0604020202020204"/>
              </a:rPr>
              <a:t>one </a:t>
            </a:r>
            <a:r>
              <a:rPr sz="2400" spc="-114" dirty="0">
                <a:latin typeface="Arial" panose="020B0604020202020204"/>
                <a:cs typeface="Arial" panose="020B0604020202020204"/>
              </a:rPr>
              <a:t>sleeping </a:t>
            </a:r>
            <a:r>
              <a:rPr sz="2400" spc="-50" dirty="0">
                <a:latin typeface="Arial" panose="020B0604020202020204"/>
                <a:cs typeface="Arial" panose="020B0604020202020204"/>
              </a:rPr>
              <a:t>yet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984885" lvl="1" indent="-286385">
              <a:lnSpc>
                <a:spcPts val="2875"/>
              </a:lnSpc>
              <a:buChar char="–"/>
              <a:tabLst>
                <a:tab pos="984885" algn="l"/>
              </a:tabLst>
            </a:pPr>
            <a:r>
              <a:rPr sz="2400" spc="-120" dirty="0">
                <a:latin typeface="Arial" panose="020B0604020202020204"/>
                <a:cs typeface="Arial" panose="020B0604020202020204"/>
              </a:rPr>
              <a:t>Parent </a:t>
            </a:r>
            <a:r>
              <a:rPr sz="2400" spc="-65" dirty="0">
                <a:latin typeface="Arial" panose="020B0604020202020204"/>
                <a:cs typeface="Arial" panose="020B0604020202020204"/>
              </a:rPr>
              <a:t>now </a:t>
            </a:r>
            <a:r>
              <a:rPr sz="2400" spc="-140" dirty="0">
                <a:latin typeface="Arial" panose="020B0604020202020204"/>
                <a:cs typeface="Arial" panose="020B0604020202020204"/>
              </a:rPr>
              <a:t>resumes </a:t>
            </a:r>
            <a:r>
              <a:rPr sz="2400" spc="-114" dirty="0">
                <a:latin typeface="Arial" panose="020B0604020202020204"/>
                <a:cs typeface="Arial" panose="020B0604020202020204"/>
              </a:rPr>
              <a:t>and </a:t>
            </a:r>
            <a:r>
              <a:rPr sz="2400" spc="-180" dirty="0">
                <a:latin typeface="Arial" panose="020B0604020202020204"/>
                <a:cs typeface="Arial" panose="020B0604020202020204"/>
              </a:rPr>
              <a:t>goes </a:t>
            </a:r>
            <a:r>
              <a:rPr sz="2400" spc="20" dirty="0">
                <a:latin typeface="Arial" panose="020B0604020202020204"/>
                <a:cs typeface="Arial" panose="020B0604020202020204"/>
              </a:rPr>
              <a:t>to </a:t>
            </a:r>
            <a:r>
              <a:rPr sz="2400" spc="-125" dirty="0">
                <a:latin typeface="Arial" panose="020B0604020202020204"/>
                <a:cs typeface="Arial" panose="020B0604020202020204"/>
              </a:rPr>
              <a:t>sleep</a:t>
            </a:r>
            <a:r>
              <a:rPr sz="2400" spc="-35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70" dirty="0">
                <a:latin typeface="Arial" panose="020B0604020202020204"/>
                <a:cs typeface="Arial" panose="020B0604020202020204"/>
              </a:rPr>
              <a:t>forever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584200" indent="-342900">
              <a:lnSpc>
                <a:spcPts val="3235"/>
              </a:lnSpc>
              <a:buChar char="•"/>
              <a:tabLst>
                <a:tab pos="583565" algn="l"/>
                <a:tab pos="584200" algn="l"/>
              </a:tabLst>
            </a:pPr>
            <a:r>
              <a:rPr sz="2700" spc="-195" dirty="0">
                <a:latin typeface="Arial" panose="020B0604020202020204"/>
                <a:cs typeface="Arial" panose="020B0604020202020204"/>
              </a:rPr>
              <a:t>Lock</a:t>
            </a:r>
            <a:r>
              <a:rPr sz="2700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90" dirty="0">
                <a:latin typeface="Arial" panose="020B0604020202020204"/>
                <a:cs typeface="Arial" panose="020B0604020202020204"/>
              </a:rPr>
              <a:t>must</a:t>
            </a:r>
            <a:r>
              <a:rPr sz="2700" spc="-15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125" dirty="0">
                <a:latin typeface="Arial" panose="020B0604020202020204"/>
                <a:cs typeface="Arial" panose="020B0604020202020204"/>
              </a:rPr>
              <a:t>be</a:t>
            </a:r>
            <a:r>
              <a:rPr sz="2700" spc="-15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80" dirty="0">
                <a:latin typeface="Arial" panose="020B0604020202020204"/>
                <a:cs typeface="Arial" panose="020B0604020202020204"/>
              </a:rPr>
              <a:t>held</a:t>
            </a:r>
            <a:r>
              <a:rPr sz="2700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90" dirty="0">
                <a:latin typeface="Arial" panose="020B0604020202020204"/>
                <a:cs typeface="Arial" panose="020B0604020202020204"/>
              </a:rPr>
              <a:t>when</a:t>
            </a:r>
            <a:r>
              <a:rPr sz="2700" spc="-17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105" dirty="0">
                <a:latin typeface="Arial" panose="020B0604020202020204"/>
                <a:cs typeface="Arial" panose="020B0604020202020204"/>
              </a:rPr>
              <a:t>calling</a:t>
            </a:r>
            <a:r>
              <a:rPr sz="2700" spc="-16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25" dirty="0">
                <a:latin typeface="Arial" panose="020B0604020202020204"/>
                <a:cs typeface="Arial" panose="020B0604020202020204"/>
              </a:rPr>
              <a:t>wait</a:t>
            </a:r>
            <a:r>
              <a:rPr sz="2700" spc="-15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125" dirty="0">
                <a:latin typeface="Arial" panose="020B0604020202020204"/>
                <a:cs typeface="Arial" panose="020B0604020202020204"/>
              </a:rPr>
              <a:t>and</a:t>
            </a:r>
            <a:r>
              <a:rPr sz="27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135" dirty="0">
                <a:latin typeface="Arial" panose="020B0604020202020204"/>
                <a:cs typeface="Arial" panose="020B0604020202020204"/>
              </a:rPr>
              <a:t>signal</a:t>
            </a:r>
            <a:r>
              <a:rPr sz="2700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10" dirty="0">
                <a:latin typeface="Arial" panose="020B0604020202020204"/>
                <a:cs typeface="Arial" panose="020B0604020202020204"/>
              </a:rPr>
              <a:t>with</a:t>
            </a:r>
            <a:r>
              <a:rPr sz="27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395" dirty="0">
                <a:latin typeface="Arial" panose="020B0604020202020204"/>
                <a:cs typeface="Arial" panose="020B0604020202020204"/>
              </a:rPr>
              <a:t>CV</a:t>
            </a:r>
            <a:endParaRPr sz="2700" dirty="0">
              <a:latin typeface="Arial" panose="020B0604020202020204"/>
              <a:cs typeface="Arial" panose="020B0604020202020204"/>
            </a:endParaRPr>
          </a:p>
          <a:p>
            <a:pPr marL="584200" marR="48260" indent="-342900">
              <a:lnSpc>
                <a:spcPts val="2590"/>
              </a:lnSpc>
              <a:spcBef>
                <a:spcPts val="630"/>
              </a:spcBef>
              <a:buChar char="•"/>
              <a:tabLst>
                <a:tab pos="583565" algn="l"/>
                <a:tab pos="584200" algn="l"/>
              </a:tabLst>
            </a:pPr>
            <a:r>
              <a:rPr sz="2700" spc="-195" dirty="0">
                <a:latin typeface="Arial" panose="020B0604020202020204"/>
                <a:cs typeface="Arial" panose="020B0604020202020204"/>
              </a:rPr>
              <a:t>The </a:t>
            </a:r>
            <a:r>
              <a:rPr sz="2700" spc="-25" dirty="0">
                <a:latin typeface="Arial" panose="020B0604020202020204"/>
                <a:cs typeface="Arial" panose="020B0604020202020204"/>
              </a:rPr>
              <a:t>wait </a:t>
            </a:r>
            <a:r>
              <a:rPr sz="2700" spc="-40" dirty="0">
                <a:latin typeface="Arial" panose="020B0604020202020204"/>
                <a:cs typeface="Arial" panose="020B0604020202020204"/>
              </a:rPr>
              <a:t>function </a:t>
            </a:r>
            <a:r>
              <a:rPr sz="2700" spc="-160" dirty="0">
                <a:latin typeface="Arial" panose="020B0604020202020204"/>
                <a:cs typeface="Arial" panose="020B0604020202020204"/>
              </a:rPr>
              <a:t>releases </a:t>
            </a:r>
            <a:r>
              <a:rPr sz="2700" spc="-35" dirty="0">
                <a:latin typeface="Arial" panose="020B0604020202020204"/>
                <a:cs typeface="Arial" panose="020B0604020202020204"/>
              </a:rPr>
              <a:t>the </a:t>
            </a:r>
            <a:r>
              <a:rPr sz="2700" spc="-100" dirty="0">
                <a:latin typeface="Arial" panose="020B0604020202020204"/>
                <a:cs typeface="Arial" panose="020B0604020202020204"/>
              </a:rPr>
              <a:t>lock </a:t>
            </a:r>
            <a:r>
              <a:rPr sz="2700" spc="-85" dirty="0">
                <a:latin typeface="Arial" panose="020B0604020202020204"/>
                <a:cs typeface="Arial" panose="020B0604020202020204"/>
              </a:rPr>
              <a:t>before </a:t>
            </a:r>
            <a:r>
              <a:rPr sz="2700" spc="-35" dirty="0">
                <a:latin typeface="Arial" panose="020B0604020202020204"/>
                <a:cs typeface="Arial" panose="020B0604020202020204"/>
              </a:rPr>
              <a:t>putting  </a:t>
            </a:r>
            <a:r>
              <a:rPr sz="2700" spc="-70" dirty="0">
                <a:latin typeface="Arial" panose="020B0604020202020204"/>
                <a:cs typeface="Arial" panose="020B0604020202020204"/>
              </a:rPr>
              <a:t>thread </a:t>
            </a:r>
            <a:r>
              <a:rPr sz="2700" spc="20" dirty="0">
                <a:latin typeface="Arial" panose="020B0604020202020204"/>
                <a:cs typeface="Arial" panose="020B0604020202020204"/>
              </a:rPr>
              <a:t>to </a:t>
            </a:r>
            <a:r>
              <a:rPr sz="2700" spc="-130" dirty="0">
                <a:latin typeface="Arial" panose="020B0604020202020204"/>
                <a:cs typeface="Arial" panose="020B0604020202020204"/>
              </a:rPr>
              <a:t>sleep, </a:t>
            </a:r>
            <a:r>
              <a:rPr sz="2700" spc="-190" dirty="0">
                <a:latin typeface="Arial" panose="020B0604020202020204"/>
                <a:cs typeface="Arial" panose="020B0604020202020204"/>
              </a:rPr>
              <a:t>so </a:t>
            </a:r>
            <a:r>
              <a:rPr sz="2700" spc="-100" dirty="0">
                <a:latin typeface="Arial" panose="020B0604020202020204"/>
                <a:cs typeface="Arial" panose="020B0604020202020204"/>
              </a:rPr>
              <a:t>lock </a:t>
            </a:r>
            <a:r>
              <a:rPr sz="2700" spc="-140" dirty="0">
                <a:latin typeface="Arial" panose="020B0604020202020204"/>
                <a:cs typeface="Arial" panose="020B0604020202020204"/>
              </a:rPr>
              <a:t>is </a:t>
            </a:r>
            <a:r>
              <a:rPr sz="2700" spc="-114" dirty="0">
                <a:latin typeface="Arial" panose="020B0604020202020204"/>
                <a:cs typeface="Arial" panose="020B0604020202020204"/>
              </a:rPr>
              <a:t>available </a:t>
            </a:r>
            <a:r>
              <a:rPr sz="2700" spc="-10" dirty="0">
                <a:latin typeface="Arial" panose="020B0604020202020204"/>
                <a:cs typeface="Arial" panose="020B0604020202020204"/>
              </a:rPr>
              <a:t>for</a:t>
            </a:r>
            <a:r>
              <a:rPr sz="2700" spc="-490" dirty="0">
                <a:latin typeface="Arial" panose="020B0604020202020204"/>
                <a:cs typeface="Arial" panose="020B0604020202020204"/>
              </a:rPr>
              <a:t> </a:t>
            </a:r>
            <a:r>
              <a:rPr sz="2700" spc="-125" dirty="0">
                <a:latin typeface="Arial" panose="020B0604020202020204"/>
                <a:cs typeface="Arial" panose="020B0604020202020204"/>
              </a:rPr>
              <a:t>signaling </a:t>
            </a:r>
            <a:r>
              <a:rPr sz="2700" spc="-70" dirty="0">
                <a:latin typeface="Arial" panose="020B0604020202020204"/>
                <a:cs typeface="Arial" panose="020B0604020202020204"/>
              </a:rPr>
              <a:t>thread</a:t>
            </a:r>
            <a:endParaRPr sz="27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8347" y="953833"/>
            <a:ext cx="8049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40" dirty="0"/>
              <a:t>Example: </a:t>
            </a:r>
            <a:r>
              <a:rPr sz="4000" spc="-175" dirty="0"/>
              <a:t>Producer/Consumer</a:t>
            </a:r>
            <a:r>
              <a:rPr sz="4000" spc="-235" dirty="0"/>
              <a:t> </a:t>
            </a:r>
            <a:r>
              <a:rPr sz="4000" spc="-110" dirty="0"/>
              <a:t>problem</a:t>
            </a:r>
            <a:endParaRPr sz="4000"/>
          </a:p>
        </p:txBody>
      </p:sp>
      <p:sp>
        <p:nvSpPr>
          <p:cNvPr id="8" name="object 8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93139" y="2409190"/>
            <a:ext cx="8027034" cy="42202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1568450" indent="-342900">
              <a:lnSpc>
                <a:spcPts val="3460"/>
              </a:lnSpc>
              <a:spcBef>
                <a:spcPts val="53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8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135" dirty="0">
                <a:latin typeface="Arial" panose="020B0604020202020204"/>
                <a:cs typeface="Arial" panose="020B0604020202020204"/>
              </a:rPr>
              <a:t>common </a:t>
            </a:r>
            <a:r>
              <a:rPr sz="3200" spc="-50" dirty="0">
                <a:latin typeface="Arial" panose="020B0604020202020204"/>
                <a:cs typeface="Arial" panose="020B0604020202020204"/>
              </a:rPr>
              <a:t>pattern </a:t>
            </a:r>
            <a:r>
              <a:rPr sz="3200" spc="-40" dirty="0">
                <a:latin typeface="Arial" panose="020B0604020202020204"/>
                <a:cs typeface="Arial" panose="020B0604020202020204"/>
              </a:rPr>
              <a:t>in</a:t>
            </a:r>
            <a:r>
              <a:rPr sz="3200" spc="-22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60" dirty="0">
                <a:latin typeface="Arial" panose="020B0604020202020204"/>
                <a:cs typeface="Arial" panose="020B0604020202020204"/>
              </a:rPr>
              <a:t>multi-threaded 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programs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90" dirty="0">
                <a:latin typeface="Arial" panose="020B0604020202020204"/>
                <a:cs typeface="Arial" panose="020B0604020202020204"/>
              </a:rPr>
              <a:t>Example: </a:t>
            </a:r>
            <a:r>
              <a:rPr sz="3200" spc="-40" dirty="0">
                <a:latin typeface="Arial" panose="020B0604020202020204"/>
                <a:cs typeface="Arial" panose="020B0604020202020204"/>
              </a:rPr>
              <a:t>in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60" dirty="0">
                <a:latin typeface="Arial" panose="020B0604020202020204"/>
                <a:cs typeface="Arial" panose="020B0604020202020204"/>
              </a:rPr>
              <a:t>multi-threaded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web </a:t>
            </a:r>
            <a:r>
              <a:rPr sz="3200" spc="-170" dirty="0">
                <a:latin typeface="Arial" panose="020B0604020202020204"/>
                <a:cs typeface="Arial" panose="020B0604020202020204"/>
              </a:rPr>
              <a:t>server,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one  </a:t>
            </a:r>
            <a:r>
              <a:rPr sz="3200" spc="-80" dirty="0">
                <a:latin typeface="Arial" panose="020B0604020202020204"/>
                <a:cs typeface="Arial" panose="020B0604020202020204"/>
              </a:rPr>
              <a:t>thread </a:t>
            </a:r>
            <a:r>
              <a:rPr sz="3200" spc="-175" dirty="0">
                <a:latin typeface="Arial" panose="020B0604020202020204"/>
                <a:cs typeface="Arial" panose="020B0604020202020204"/>
              </a:rPr>
              <a:t>accepts </a:t>
            </a:r>
            <a:r>
              <a:rPr sz="3200" spc="-145" dirty="0">
                <a:latin typeface="Arial" panose="020B0604020202020204"/>
                <a:cs typeface="Arial" panose="020B0604020202020204"/>
              </a:rPr>
              <a:t>requests </a:t>
            </a:r>
            <a:r>
              <a:rPr sz="3200" spc="-35" dirty="0">
                <a:latin typeface="Arial" panose="020B0604020202020204"/>
                <a:cs typeface="Arial" panose="020B0604020202020204"/>
              </a:rPr>
              <a:t>from </a:t>
            </a:r>
            <a:r>
              <a:rPr sz="3200" spc="-40" dirty="0">
                <a:latin typeface="Arial" panose="020B0604020202020204"/>
                <a:cs typeface="Arial" panose="020B0604020202020204"/>
              </a:rPr>
              <a:t>the </a:t>
            </a:r>
            <a:r>
              <a:rPr sz="3200" spc="-55" dirty="0">
                <a:latin typeface="Arial" panose="020B0604020202020204"/>
                <a:cs typeface="Arial" panose="020B0604020202020204"/>
              </a:rPr>
              <a:t>network</a:t>
            </a:r>
            <a:r>
              <a:rPr sz="3200" spc="-56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and  </a:t>
            </a:r>
            <a:r>
              <a:rPr sz="3200" spc="-95" dirty="0">
                <a:latin typeface="Arial" panose="020B0604020202020204"/>
                <a:cs typeface="Arial" panose="020B0604020202020204"/>
              </a:rPr>
              <a:t>puts </a:t>
            </a:r>
            <a:r>
              <a:rPr sz="3200" spc="-60" dirty="0">
                <a:latin typeface="Arial" panose="020B0604020202020204"/>
                <a:cs typeface="Arial" panose="020B0604020202020204"/>
              </a:rPr>
              <a:t>them </a:t>
            </a:r>
            <a:r>
              <a:rPr sz="3200" spc="-40" dirty="0">
                <a:latin typeface="Arial" panose="020B0604020202020204"/>
                <a:cs typeface="Arial" panose="020B0604020202020204"/>
              </a:rPr>
              <a:t>in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queue. </a:t>
            </a:r>
            <a:r>
              <a:rPr sz="3200" spc="-125" dirty="0">
                <a:latin typeface="Arial" panose="020B0604020202020204"/>
                <a:cs typeface="Arial" panose="020B0604020202020204"/>
              </a:rPr>
              <a:t>Worker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threads </a:t>
            </a:r>
            <a:r>
              <a:rPr sz="3200" spc="-105" dirty="0">
                <a:latin typeface="Arial" panose="020B0604020202020204"/>
                <a:cs typeface="Arial" panose="020B0604020202020204"/>
              </a:rPr>
              <a:t>get  </a:t>
            </a:r>
            <a:r>
              <a:rPr sz="3200" spc="-145" dirty="0">
                <a:latin typeface="Arial" panose="020B0604020202020204"/>
                <a:cs typeface="Arial" panose="020B0604020202020204"/>
              </a:rPr>
              <a:t>requests </a:t>
            </a:r>
            <a:r>
              <a:rPr sz="3200" spc="-35" dirty="0">
                <a:latin typeface="Arial" panose="020B0604020202020204"/>
                <a:cs typeface="Arial" panose="020B0604020202020204"/>
              </a:rPr>
              <a:t>from 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this </a:t>
            </a:r>
            <a:r>
              <a:rPr sz="3200" spc="-140" dirty="0">
                <a:latin typeface="Arial" panose="020B0604020202020204"/>
                <a:cs typeface="Arial" panose="020B0604020202020204"/>
              </a:rPr>
              <a:t>queue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and </a:t>
            </a:r>
            <a:r>
              <a:rPr sz="3200" spc="-195" dirty="0">
                <a:latin typeface="Arial" panose="020B0604020202020204"/>
                <a:cs typeface="Arial" panose="020B0604020202020204"/>
              </a:rPr>
              <a:t>process</a:t>
            </a:r>
            <a:r>
              <a:rPr sz="3200" spc="-46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them.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355600" marR="254635" indent="-342900">
              <a:lnSpc>
                <a:spcPts val="3460"/>
              </a:lnSpc>
              <a:spcBef>
                <a:spcPts val="75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55" dirty="0">
                <a:latin typeface="Arial" panose="020B0604020202020204"/>
                <a:cs typeface="Arial" panose="020B0604020202020204"/>
              </a:rPr>
              <a:t>Setup: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one </a:t>
            </a:r>
            <a:r>
              <a:rPr sz="3200" spc="-25" dirty="0">
                <a:latin typeface="Arial" panose="020B0604020202020204"/>
                <a:cs typeface="Arial" panose="020B0604020202020204"/>
              </a:rPr>
              <a:t>or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more </a:t>
            </a:r>
            <a:r>
              <a:rPr sz="3200" spc="-105" dirty="0">
                <a:latin typeface="Arial" panose="020B0604020202020204"/>
                <a:cs typeface="Arial" panose="020B0604020202020204"/>
              </a:rPr>
              <a:t>producer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threads,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one</a:t>
            </a:r>
            <a:r>
              <a:rPr sz="3200" spc="-59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25" dirty="0">
                <a:latin typeface="Arial" panose="020B0604020202020204"/>
                <a:cs typeface="Arial" panose="020B0604020202020204"/>
              </a:rPr>
              <a:t>or 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more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consumer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threads,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165" dirty="0">
                <a:latin typeface="Arial" panose="020B0604020202020204"/>
                <a:cs typeface="Arial" panose="020B0604020202020204"/>
              </a:rPr>
              <a:t>shared </a:t>
            </a:r>
            <a:r>
              <a:rPr sz="3200" spc="-55" dirty="0">
                <a:latin typeface="Arial" panose="020B0604020202020204"/>
                <a:cs typeface="Arial" panose="020B0604020202020204"/>
              </a:rPr>
              <a:t>buffer </a:t>
            </a:r>
            <a:r>
              <a:rPr sz="3200" spc="-10" dirty="0">
                <a:latin typeface="Arial" panose="020B0604020202020204"/>
                <a:cs typeface="Arial" panose="020B0604020202020204"/>
              </a:rPr>
              <a:t>of 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bounded</a:t>
            </a:r>
            <a:r>
              <a:rPr sz="3200" spc="-17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235" dirty="0">
                <a:latin typeface="Arial" panose="020B0604020202020204"/>
                <a:cs typeface="Arial" panose="020B0604020202020204"/>
              </a:rPr>
              <a:t>size</a:t>
            </a:r>
            <a:endParaRPr sz="3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3835" y="602107"/>
            <a:ext cx="7098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Producer/Consumer </a:t>
            </a:r>
            <a:r>
              <a:rPr spc="20" dirty="0"/>
              <a:t>with </a:t>
            </a:r>
            <a:r>
              <a:rPr spc="-215" dirty="0"/>
              <a:t>2</a:t>
            </a:r>
            <a:r>
              <a:rPr spc="-610" dirty="0"/>
              <a:t> </a:t>
            </a:r>
            <a:r>
              <a:rPr spc="-650" dirty="0"/>
              <a:t>CVs</a:t>
            </a:r>
            <a:endParaRPr spc="-650" dirty="0"/>
          </a:p>
        </p:txBody>
      </p:sp>
      <p:sp>
        <p:nvSpPr>
          <p:cNvPr id="3" name="object 3"/>
          <p:cNvSpPr/>
          <p:nvPr/>
        </p:nvSpPr>
        <p:spPr>
          <a:xfrm>
            <a:off x="1828800" y="1517905"/>
            <a:ext cx="6094476" cy="235305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28800" y="3886200"/>
            <a:ext cx="5951413" cy="3351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01896" y="5839967"/>
            <a:ext cx="32384" cy="22860"/>
          </a:xfrm>
          <a:custGeom>
            <a:avLst/>
            <a:gdLst/>
            <a:ahLst/>
            <a:cxnLst/>
            <a:rect l="l" t="t" r="r" b="b"/>
            <a:pathLst>
              <a:path w="32385" h="22860">
                <a:moveTo>
                  <a:pt x="25907" y="16763"/>
                </a:moveTo>
                <a:lnTo>
                  <a:pt x="22057" y="17726"/>
                </a:lnTo>
                <a:lnTo>
                  <a:pt x="21336" y="21335"/>
                </a:lnTo>
                <a:lnTo>
                  <a:pt x="27431" y="22859"/>
                </a:lnTo>
                <a:lnTo>
                  <a:pt x="25907" y="21335"/>
                </a:lnTo>
                <a:lnTo>
                  <a:pt x="24383" y="21335"/>
                </a:lnTo>
                <a:lnTo>
                  <a:pt x="25907" y="19811"/>
                </a:lnTo>
                <a:lnTo>
                  <a:pt x="25907" y="16763"/>
                </a:lnTo>
                <a:close/>
              </a:path>
              <a:path w="32385" h="22860">
                <a:moveTo>
                  <a:pt x="30479" y="16763"/>
                </a:moveTo>
                <a:lnTo>
                  <a:pt x="27431" y="16763"/>
                </a:lnTo>
                <a:lnTo>
                  <a:pt x="25907" y="18287"/>
                </a:lnTo>
                <a:lnTo>
                  <a:pt x="25907" y="21335"/>
                </a:lnTo>
                <a:lnTo>
                  <a:pt x="27431" y="22859"/>
                </a:lnTo>
                <a:lnTo>
                  <a:pt x="30479" y="16763"/>
                </a:lnTo>
                <a:close/>
              </a:path>
              <a:path w="32385" h="22860">
                <a:moveTo>
                  <a:pt x="30479" y="16763"/>
                </a:moveTo>
                <a:lnTo>
                  <a:pt x="27431" y="22859"/>
                </a:lnTo>
                <a:lnTo>
                  <a:pt x="30479" y="22859"/>
                </a:lnTo>
                <a:lnTo>
                  <a:pt x="32003" y="21335"/>
                </a:lnTo>
                <a:lnTo>
                  <a:pt x="32003" y="18287"/>
                </a:lnTo>
                <a:lnTo>
                  <a:pt x="30479" y="16763"/>
                </a:lnTo>
                <a:close/>
              </a:path>
              <a:path w="32385" h="22860">
                <a:moveTo>
                  <a:pt x="22057" y="17726"/>
                </a:moveTo>
                <a:lnTo>
                  <a:pt x="19812" y="18287"/>
                </a:lnTo>
                <a:lnTo>
                  <a:pt x="19812" y="19811"/>
                </a:lnTo>
                <a:lnTo>
                  <a:pt x="21336" y="21335"/>
                </a:lnTo>
                <a:lnTo>
                  <a:pt x="22057" y="17726"/>
                </a:lnTo>
                <a:close/>
              </a:path>
              <a:path w="32385" h="22860">
                <a:moveTo>
                  <a:pt x="25907" y="19811"/>
                </a:moveTo>
                <a:lnTo>
                  <a:pt x="24383" y="21335"/>
                </a:lnTo>
                <a:lnTo>
                  <a:pt x="25907" y="21335"/>
                </a:lnTo>
                <a:lnTo>
                  <a:pt x="25907" y="19811"/>
                </a:lnTo>
                <a:close/>
              </a:path>
              <a:path w="32385" h="22860">
                <a:moveTo>
                  <a:pt x="16763" y="12191"/>
                </a:moveTo>
                <a:lnTo>
                  <a:pt x="19812" y="18287"/>
                </a:lnTo>
                <a:lnTo>
                  <a:pt x="19812" y="15239"/>
                </a:lnTo>
                <a:lnTo>
                  <a:pt x="21336" y="13715"/>
                </a:lnTo>
                <a:lnTo>
                  <a:pt x="18287" y="13715"/>
                </a:lnTo>
                <a:lnTo>
                  <a:pt x="16763" y="12191"/>
                </a:lnTo>
                <a:close/>
              </a:path>
              <a:path w="32385" h="22860">
                <a:moveTo>
                  <a:pt x="22859" y="13715"/>
                </a:moveTo>
                <a:lnTo>
                  <a:pt x="21336" y="13715"/>
                </a:lnTo>
                <a:lnTo>
                  <a:pt x="19812" y="15239"/>
                </a:lnTo>
                <a:lnTo>
                  <a:pt x="19812" y="18287"/>
                </a:lnTo>
                <a:lnTo>
                  <a:pt x="22057" y="17726"/>
                </a:lnTo>
                <a:lnTo>
                  <a:pt x="22859" y="13715"/>
                </a:lnTo>
                <a:close/>
              </a:path>
              <a:path w="32385" h="22860">
                <a:moveTo>
                  <a:pt x="25399" y="14731"/>
                </a:moveTo>
                <a:lnTo>
                  <a:pt x="25907" y="15239"/>
                </a:lnTo>
                <a:lnTo>
                  <a:pt x="25907" y="18287"/>
                </a:lnTo>
                <a:lnTo>
                  <a:pt x="27431" y="16763"/>
                </a:lnTo>
                <a:lnTo>
                  <a:pt x="30479" y="16763"/>
                </a:lnTo>
                <a:lnTo>
                  <a:pt x="25399" y="14731"/>
                </a:lnTo>
                <a:close/>
              </a:path>
              <a:path w="32385" h="22860">
                <a:moveTo>
                  <a:pt x="22859" y="13715"/>
                </a:moveTo>
                <a:lnTo>
                  <a:pt x="22057" y="17726"/>
                </a:lnTo>
                <a:lnTo>
                  <a:pt x="25907" y="16763"/>
                </a:lnTo>
                <a:lnTo>
                  <a:pt x="25526" y="15239"/>
                </a:lnTo>
                <a:lnTo>
                  <a:pt x="22859" y="15239"/>
                </a:lnTo>
                <a:lnTo>
                  <a:pt x="23948" y="14151"/>
                </a:lnTo>
                <a:lnTo>
                  <a:pt x="22859" y="13715"/>
                </a:lnTo>
                <a:close/>
              </a:path>
              <a:path w="32385" h="22860">
                <a:moveTo>
                  <a:pt x="25399" y="14731"/>
                </a:moveTo>
                <a:lnTo>
                  <a:pt x="25907" y="16763"/>
                </a:lnTo>
                <a:lnTo>
                  <a:pt x="25907" y="15239"/>
                </a:lnTo>
                <a:lnTo>
                  <a:pt x="25399" y="14731"/>
                </a:lnTo>
                <a:close/>
              </a:path>
              <a:path w="32385" h="22860">
                <a:moveTo>
                  <a:pt x="16763" y="12191"/>
                </a:moveTo>
                <a:lnTo>
                  <a:pt x="16763" y="13715"/>
                </a:lnTo>
                <a:lnTo>
                  <a:pt x="18287" y="15239"/>
                </a:lnTo>
                <a:lnTo>
                  <a:pt x="16763" y="12191"/>
                </a:lnTo>
                <a:close/>
              </a:path>
              <a:path w="32385" h="22860">
                <a:moveTo>
                  <a:pt x="23948" y="14151"/>
                </a:moveTo>
                <a:lnTo>
                  <a:pt x="22859" y="15239"/>
                </a:lnTo>
                <a:lnTo>
                  <a:pt x="25526" y="15239"/>
                </a:lnTo>
                <a:lnTo>
                  <a:pt x="25399" y="14731"/>
                </a:lnTo>
                <a:lnTo>
                  <a:pt x="23948" y="14151"/>
                </a:lnTo>
                <a:close/>
              </a:path>
              <a:path w="32385" h="22860">
                <a:moveTo>
                  <a:pt x="24383" y="13715"/>
                </a:moveTo>
                <a:lnTo>
                  <a:pt x="23948" y="14151"/>
                </a:lnTo>
                <a:lnTo>
                  <a:pt x="25399" y="14731"/>
                </a:lnTo>
                <a:lnTo>
                  <a:pt x="24383" y="13715"/>
                </a:lnTo>
                <a:close/>
              </a:path>
              <a:path w="32385" h="22860">
                <a:moveTo>
                  <a:pt x="24383" y="10667"/>
                </a:moveTo>
                <a:lnTo>
                  <a:pt x="24383" y="13715"/>
                </a:lnTo>
                <a:lnTo>
                  <a:pt x="25399" y="14731"/>
                </a:lnTo>
                <a:lnTo>
                  <a:pt x="24383" y="10667"/>
                </a:lnTo>
                <a:close/>
              </a:path>
              <a:path w="32385" h="22860">
                <a:moveTo>
                  <a:pt x="24383" y="10667"/>
                </a:moveTo>
                <a:lnTo>
                  <a:pt x="20573" y="11429"/>
                </a:lnTo>
                <a:lnTo>
                  <a:pt x="18287" y="13715"/>
                </a:lnTo>
                <a:lnTo>
                  <a:pt x="22859" y="13715"/>
                </a:lnTo>
                <a:lnTo>
                  <a:pt x="23948" y="14151"/>
                </a:lnTo>
                <a:lnTo>
                  <a:pt x="24383" y="13715"/>
                </a:lnTo>
                <a:lnTo>
                  <a:pt x="24383" y="10667"/>
                </a:lnTo>
                <a:close/>
              </a:path>
              <a:path w="32385" h="22860">
                <a:moveTo>
                  <a:pt x="20150" y="11514"/>
                </a:moveTo>
                <a:lnTo>
                  <a:pt x="16763" y="12191"/>
                </a:lnTo>
                <a:lnTo>
                  <a:pt x="18287" y="13715"/>
                </a:lnTo>
                <a:lnTo>
                  <a:pt x="19811" y="12191"/>
                </a:lnTo>
                <a:lnTo>
                  <a:pt x="20150" y="11514"/>
                </a:lnTo>
                <a:close/>
              </a:path>
              <a:path w="32385" h="22860">
                <a:moveTo>
                  <a:pt x="13715" y="9143"/>
                </a:moveTo>
                <a:lnTo>
                  <a:pt x="15239" y="12191"/>
                </a:lnTo>
                <a:lnTo>
                  <a:pt x="16763" y="12191"/>
                </a:lnTo>
                <a:lnTo>
                  <a:pt x="13715" y="9143"/>
                </a:lnTo>
                <a:close/>
              </a:path>
              <a:path w="32385" h="22860">
                <a:moveTo>
                  <a:pt x="16763" y="9143"/>
                </a:moveTo>
                <a:lnTo>
                  <a:pt x="15239" y="10667"/>
                </a:lnTo>
                <a:lnTo>
                  <a:pt x="16763" y="12191"/>
                </a:lnTo>
                <a:lnTo>
                  <a:pt x="16763" y="9143"/>
                </a:lnTo>
                <a:close/>
              </a:path>
              <a:path w="32385" h="22860">
                <a:moveTo>
                  <a:pt x="19812" y="6095"/>
                </a:moveTo>
                <a:lnTo>
                  <a:pt x="16763" y="9143"/>
                </a:lnTo>
                <a:lnTo>
                  <a:pt x="16763" y="12191"/>
                </a:lnTo>
                <a:lnTo>
                  <a:pt x="20150" y="11514"/>
                </a:lnTo>
                <a:lnTo>
                  <a:pt x="20574" y="10667"/>
                </a:lnTo>
                <a:lnTo>
                  <a:pt x="18287" y="10667"/>
                </a:lnTo>
                <a:lnTo>
                  <a:pt x="19812" y="9143"/>
                </a:lnTo>
                <a:lnTo>
                  <a:pt x="19812" y="6095"/>
                </a:lnTo>
                <a:close/>
              </a:path>
              <a:path w="32385" h="22860">
                <a:moveTo>
                  <a:pt x="20573" y="11429"/>
                </a:moveTo>
                <a:lnTo>
                  <a:pt x="20150" y="11514"/>
                </a:lnTo>
                <a:lnTo>
                  <a:pt x="19812" y="12191"/>
                </a:lnTo>
                <a:lnTo>
                  <a:pt x="20573" y="11429"/>
                </a:lnTo>
                <a:close/>
              </a:path>
              <a:path w="32385" h="22860">
                <a:moveTo>
                  <a:pt x="21335" y="7619"/>
                </a:moveTo>
                <a:lnTo>
                  <a:pt x="21336" y="9143"/>
                </a:lnTo>
                <a:lnTo>
                  <a:pt x="20150" y="11514"/>
                </a:lnTo>
                <a:lnTo>
                  <a:pt x="20573" y="11429"/>
                </a:lnTo>
                <a:lnTo>
                  <a:pt x="22859" y="9143"/>
                </a:lnTo>
                <a:lnTo>
                  <a:pt x="21335" y="7619"/>
                </a:lnTo>
                <a:close/>
              </a:path>
              <a:path w="32385" h="22860">
                <a:moveTo>
                  <a:pt x="22859" y="7619"/>
                </a:moveTo>
                <a:lnTo>
                  <a:pt x="21335" y="7619"/>
                </a:lnTo>
                <a:lnTo>
                  <a:pt x="22859" y="9143"/>
                </a:lnTo>
                <a:lnTo>
                  <a:pt x="20573" y="11429"/>
                </a:lnTo>
                <a:lnTo>
                  <a:pt x="24383" y="10667"/>
                </a:lnTo>
                <a:lnTo>
                  <a:pt x="24383" y="9143"/>
                </a:lnTo>
                <a:lnTo>
                  <a:pt x="22859" y="7619"/>
                </a:lnTo>
                <a:close/>
              </a:path>
              <a:path w="32385" h="22860">
                <a:moveTo>
                  <a:pt x="0" y="6095"/>
                </a:moveTo>
                <a:lnTo>
                  <a:pt x="0" y="9143"/>
                </a:lnTo>
                <a:lnTo>
                  <a:pt x="1524" y="10667"/>
                </a:lnTo>
                <a:lnTo>
                  <a:pt x="6095" y="10667"/>
                </a:lnTo>
                <a:lnTo>
                  <a:pt x="9143" y="9143"/>
                </a:lnTo>
                <a:lnTo>
                  <a:pt x="7619" y="9143"/>
                </a:lnTo>
                <a:lnTo>
                  <a:pt x="3809" y="7619"/>
                </a:lnTo>
                <a:lnTo>
                  <a:pt x="3048" y="7619"/>
                </a:lnTo>
                <a:lnTo>
                  <a:pt x="2540" y="7111"/>
                </a:lnTo>
                <a:lnTo>
                  <a:pt x="0" y="6095"/>
                </a:lnTo>
                <a:close/>
              </a:path>
              <a:path w="32385" h="22860">
                <a:moveTo>
                  <a:pt x="12845" y="8273"/>
                </a:moveTo>
                <a:lnTo>
                  <a:pt x="12191" y="9143"/>
                </a:lnTo>
                <a:lnTo>
                  <a:pt x="13715" y="10667"/>
                </a:lnTo>
                <a:lnTo>
                  <a:pt x="14477" y="10667"/>
                </a:lnTo>
                <a:lnTo>
                  <a:pt x="13715" y="9143"/>
                </a:lnTo>
                <a:lnTo>
                  <a:pt x="12845" y="8273"/>
                </a:lnTo>
                <a:close/>
              </a:path>
              <a:path w="32385" h="22860">
                <a:moveTo>
                  <a:pt x="16763" y="6095"/>
                </a:moveTo>
                <a:lnTo>
                  <a:pt x="13715" y="9143"/>
                </a:lnTo>
                <a:lnTo>
                  <a:pt x="15239" y="10667"/>
                </a:lnTo>
                <a:lnTo>
                  <a:pt x="16382" y="9143"/>
                </a:lnTo>
                <a:lnTo>
                  <a:pt x="15239" y="9143"/>
                </a:lnTo>
                <a:lnTo>
                  <a:pt x="16763" y="7619"/>
                </a:lnTo>
                <a:lnTo>
                  <a:pt x="16763" y="6095"/>
                </a:lnTo>
                <a:close/>
              </a:path>
              <a:path w="32385" h="22860">
                <a:moveTo>
                  <a:pt x="18287" y="6603"/>
                </a:moveTo>
                <a:lnTo>
                  <a:pt x="15239" y="10667"/>
                </a:lnTo>
                <a:lnTo>
                  <a:pt x="18287" y="7619"/>
                </a:lnTo>
                <a:lnTo>
                  <a:pt x="18287" y="6603"/>
                </a:lnTo>
                <a:close/>
              </a:path>
              <a:path w="32385" h="22860">
                <a:moveTo>
                  <a:pt x="19812" y="6095"/>
                </a:moveTo>
                <a:lnTo>
                  <a:pt x="19812" y="9143"/>
                </a:lnTo>
                <a:lnTo>
                  <a:pt x="18287" y="10667"/>
                </a:lnTo>
                <a:lnTo>
                  <a:pt x="20574" y="10667"/>
                </a:lnTo>
                <a:lnTo>
                  <a:pt x="21336" y="9143"/>
                </a:lnTo>
                <a:lnTo>
                  <a:pt x="21336" y="7619"/>
                </a:lnTo>
                <a:lnTo>
                  <a:pt x="19812" y="6095"/>
                </a:lnTo>
                <a:close/>
              </a:path>
              <a:path w="32385" h="22860">
                <a:moveTo>
                  <a:pt x="1524" y="3047"/>
                </a:moveTo>
                <a:lnTo>
                  <a:pt x="1524" y="6095"/>
                </a:lnTo>
                <a:lnTo>
                  <a:pt x="2540" y="7111"/>
                </a:lnTo>
                <a:lnTo>
                  <a:pt x="7619" y="9143"/>
                </a:lnTo>
                <a:lnTo>
                  <a:pt x="8381" y="7619"/>
                </a:lnTo>
                <a:lnTo>
                  <a:pt x="4571" y="7619"/>
                </a:lnTo>
                <a:lnTo>
                  <a:pt x="3048" y="6095"/>
                </a:lnTo>
                <a:lnTo>
                  <a:pt x="3048" y="3657"/>
                </a:lnTo>
                <a:lnTo>
                  <a:pt x="1524" y="3047"/>
                </a:lnTo>
                <a:close/>
              </a:path>
              <a:path w="32385" h="22860">
                <a:moveTo>
                  <a:pt x="8635" y="7111"/>
                </a:moveTo>
                <a:lnTo>
                  <a:pt x="7619" y="9143"/>
                </a:lnTo>
                <a:lnTo>
                  <a:pt x="9143" y="9143"/>
                </a:lnTo>
                <a:lnTo>
                  <a:pt x="9143" y="7619"/>
                </a:lnTo>
                <a:lnTo>
                  <a:pt x="8635" y="7111"/>
                </a:lnTo>
                <a:close/>
              </a:path>
              <a:path w="32385" h="22860">
                <a:moveTo>
                  <a:pt x="9143" y="7619"/>
                </a:moveTo>
                <a:lnTo>
                  <a:pt x="10667" y="9143"/>
                </a:lnTo>
                <a:lnTo>
                  <a:pt x="12191" y="9143"/>
                </a:lnTo>
                <a:lnTo>
                  <a:pt x="9143" y="7619"/>
                </a:lnTo>
                <a:close/>
              </a:path>
              <a:path w="32385" h="22860">
                <a:moveTo>
                  <a:pt x="10667" y="6095"/>
                </a:moveTo>
                <a:lnTo>
                  <a:pt x="9143" y="7619"/>
                </a:lnTo>
                <a:lnTo>
                  <a:pt x="12191" y="9143"/>
                </a:lnTo>
                <a:lnTo>
                  <a:pt x="12191" y="7619"/>
                </a:lnTo>
                <a:lnTo>
                  <a:pt x="10667" y="7619"/>
                </a:lnTo>
                <a:lnTo>
                  <a:pt x="10667" y="6095"/>
                </a:lnTo>
                <a:close/>
              </a:path>
              <a:path w="32385" h="22860">
                <a:moveTo>
                  <a:pt x="12191" y="7619"/>
                </a:moveTo>
                <a:lnTo>
                  <a:pt x="12191" y="9143"/>
                </a:lnTo>
                <a:lnTo>
                  <a:pt x="12627" y="8055"/>
                </a:lnTo>
                <a:lnTo>
                  <a:pt x="12191" y="7619"/>
                </a:lnTo>
                <a:close/>
              </a:path>
              <a:path w="32385" h="22860">
                <a:moveTo>
                  <a:pt x="12627" y="8055"/>
                </a:moveTo>
                <a:lnTo>
                  <a:pt x="12191" y="9143"/>
                </a:lnTo>
                <a:lnTo>
                  <a:pt x="12845" y="8273"/>
                </a:lnTo>
                <a:lnTo>
                  <a:pt x="12627" y="8055"/>
                </a:lnTo>
                <a:close/>
              </a:path>
              <a:path w="32385" h="22860">
                <a:moveTo>
                  <a:pt x="13715" y="7111"/>
                </a:moveTo>
                <a:lnTo>
                  <a:pt x="12845" y="8273"/>
                </a:lnTo>
                <a:lnTo>
                  <a:pt x="13715" y="9143"/>
                </a:lnTo>
                <a:lnTo>
                  <a:pt x="13715" y="7111"/>
                </a:lnTo>
                <a:close/>
              </a:path>
              <a:path w="32385" h="22860">
                <a:moveTo>
                  <a:pt x="15239" y="6095"/>
                </a:moveTo>
                <a:lnTo>
                  <a:pt x="14020" y="6705"/>
                </a:lnTo>
                <a:lnTo>
                  <a:pt x="13715" y="7111"/>
                </a:lnTo>
                <a:lnTo>
                  <a:pt x="13715" y="9143"/>
                </a:lnTo>
                <a:lnTo>
                  <a:pt x="15239" y="6095"/>
                </a:lnTo>
                <a:close/>
              </a:path>
              <a:path w="32385" h="22860">
                <a:moveTo>
                  <a:pt x="16763" y="3047"/>
                </a:moveTo>
                <a:lnTo>
                  <a:pt x="13715" y="9143"/>
                </a:lnTo>
                <a:lnTo>
                  <a:pt x="16763" y="6095"/>
                </a:lnTo>
                <a:lnTo>
                  <a:pt x="16763" y="3047"/>
                </a:lnTo>
                <a:close/>
              </a:path>
              <a:path w="32385" h="22860">
                <a:moveTo>
                  <a:pt x="18287" y="4571"/>
                </a:moveTo>
                <a:lnTo>
                  <a:pt x="16763" y="6095"/>
                </a:lnTo>
                <a:lnTo>
                  <a:pt x="16763" y="7619"/>
                </a:lnTo>
                <a:lnTo>
                  <a:pt x="15239" y="9143"/>
                </a:lnTo>
                <a:lnTo>
                  <a:pt x="16382" y="9143"/>
                </a:lnTo>
                <a:lnTo>
                  <a:pt x="18211" y="6705"/>
                </a:lnTo>
                <a:lnTo>
                  <a:pt x="18287" y="4571"/>
                </a:lnTo>
                <a:close/>
              </a:path>
              <a:path w="32385" h="22860">
                <a:moveTo>
                  <a:pt x="13715" y="6857"/>
                </a:moveTo>
                <a:lnTo>
                  <a:pt x="12953" y="7238"/>
                </a:lnTo>
                <a:lnTo>
                  <a:pt x="12627" y="8055"/>
                </a:lnTo>
                <a:lnTo>
                  <a:pt x="12845" y="8273"/>
                </a:lnTo>
                <a:lnTo>
                  <a:pt x="13620" y="7238"/>
                </a:lnTo>
                <a:lnTo>
                  <a:pt x="13715" y="6857"/>
                </a:lnTo>
                <a:close/>
              </a:path>
              <a:path w="32385" h="22860">
                <a:moveTo>
                  <a:pt x="12953" y="7238"/>
                </a:moveTo>
                <a:lnTo>
                  <a:pt x="12191" y="7619"/>
                </a:lnTo>
                <a:lnTo>
                  <a:pt x="12627" y="8055"/>
                </a:lnTo>
                <a:lnTo>
                  <a:pt x="12953" y="7238"/>
                </a:lnTo>
                <a:close/>
              </a:path>
              <a:path w="32385" h="22860">
                <a:moveTo>
                  <a:pt x="2540" y="7111"/>
                </a:moveTo>
                <a:lnTo>
                  <a:pt x="3048" y="7619"/>
                </a:lnTo>
                <a:lnTo>
                  <a:pt x="3809" y="7619"/>
                </a:lnTo>
                <a:lnTo>
                  <a:pt x="2540" y="7111"/>
                </a:lnTo>
                <a:close/>
              </a:path>
              <a:path w="32385" h="22860">
                <a:moveTo>
                  <a:pt x="3048" y="3657"/>
                </a:moveTo>
                <a:lnTo>
                  <a:pt x="3048" y="6095"/>
                </a:lnTo>
                <a:lnTo>
                  <a:pt x="4571" y="7619"/>
                </a:lnTo>
                <a:lnTo>
                  <a:pt x="4571" y="4267"/>
                </a:lnTo>
                <a:lnTo>
                  <a:pt x="3048" y="3657"/>
                </a:lnTo>
                <a:close/>
              </a:path>
              <a:path w="32385" h="22860">
                <a:moveTo>
                  <a:pt x="4571" y="6095"/>
                </a:moveTo>
                <a:lnTo>
                  <a:pt x="4571" y="7619"/>
                </a:lnTo>
                <a:lnTo>
                  <a:pt x="6095" y="7619"/>
                </a:lnTo>
                <a:lnTo>
                  <a:pt x="4571" y="6095"/>
                </a:lnTo>
                <a:close/>
              </a:path>
              <a:path w="32385" h="22860">
                <a:moveTo>
                  <a:pt x="4571" y="4267"/>
                </a:moveTo>
                <a:lnTo>
                  <a:pt x="4571" y="6095"/>
                </a:lnTo>
                <a:lnTo>
                  <a:pt x="6095" y="7619"/>
                </a:lnTo>
                <a:lnTo>
                  <a:pt x="6095" y="4876"/>
                </a:lnTo>
                <a:lnTo>
                  <a:pt x="4571" y="4267"/>
                </a:lnTo>
                <a:close/>
              </a:path>
              <a:path w="32385" h="22860">
                <a:moveTo>
                  <a:pt x="6095" y="4876"/>
                </a:moveTo>
                <a:lnTo>
                  <a:pt x="6095" y="7619"/>
                </a:lnTo>
                <a:lnTo>
                  <a:pt x="7619" y="7619"/>
                </a:lnTo>
                <a:lnTo>
                  <a:pt x="8381" y="6857"/>
                </a:lnTo>
                <a:lnTo>
                  <a:pt x="7619" y="6095"/>
                </a:lnTo>
                <a:lnTo>
                  <a:pt x="7619" y="5486"/>
                </a:lnTo>
                <a:lnTo>
                  <a:pt x="6095" y="4876"/>
                </a:lnTo>
                <a:close/>
              </a:path>
              <a:path w="32385" h="22860">
                <a:moveTo>
                  <a:pt x="8381" y="6857"/>
                </a:moveTo>
                <a:lnTo>
                  <a:pt x="7619" y="7619"/>
                </a:lnTo>
                <a:lnTo>
                  <a:pt x="8381" y="7619"/>
                </a:lnTo>
                <a:lnTo>
                  <a:pt x="8635" y="7111"/>
                </a:lnTo>
                <a:lnTo>
                  <a:pt x="8381" y="6857"/>
                </a:lnTo>
                <a:close/>
              </a:path>
              <a:path w="32385" h="22860">
                <a:moveTo>
                  <a:pt x="9143" y="6095"/>
                </a:moveTo>
                <a:lnTo>
                  <a:pt x="8839" y="6705"/>
                </a:lnTo>
                <a:lnTo>
                  <a:pt x="8762" y="7238"/>
                </a:lnTo>
                <a:lnTo>
                  <a:pt x="9143" y="7619"/>
                </a:lnTo>
                <a:lnTo>
                  <a:pt x="9143" y="6095"/>
                </a:lnTo>
                <a:close/>
              </a:path>
              <a:path w="32385" h="22860">
                <a:moveTo>
                  <a:pt x="10667" y="1523"/>
                </a:moveTo>
                <a:lnTo>
                  <a:pt x="9143" y="3047"/>
                </a:lnTo>
                <a:lnTo>
                  <a:pt x="9143" y="7619"/>
                </a:lnTo>
                <a:lnTo>
                  <a:pt x="10667" y="3809"/>
                </a:lnTo>
                <a:lnTo>
                  <a:pt x="10667" y="1523"/>
                </a:lnTo>
                <a:close/>
              </a:path>
              <a:path w="32385" h="22860">
                <a:moveTo>
                  <a:pt x="10667" y="3809"/>
                </a:moveTo>
                <a:lnTo>
                  <a:pt x="9143" y="7619"/>
                </a:lnTo>
                <a:lnTo>
                  <a:pt x="10667" y="6095"/>
                </a:lnTo>
                <a:lnTo>
                  <a:pt x="10667" y="3809"/>
                </a:lnTo>
                <a:close/>
              </a:path>
              <a:path w="32385" h="22860">
                <a:moveTo>
                  <a:pt x="11756" y="1088"/>
                </a:moveTo>
                <a:lnTo>
                  <a:pt x="10728" y="3657"/>
                </a:lnTo>
                <a:lnTo>
                  <a:pt x="10667" y="7619"/>
                </a:lnTo>
                <a:lnTo>
                  <a:pt x="12191" y="6095"/>
                </a:lnTo>
                <a:lnTo>
                  <a:pt x="12191" y="1523"/>
                </a:lnTo>
                <a:lnTo>
                  <a:pt x="11756" y="1088"/>
                </a:lnTo>
                <a:close/>
              </a:path>
              <a:path w="32385" h="22860">
                <a:moveTo>
                  <a:pt x="12191" y="6095"/>
                </a:moveTo>
                <a:lnTo>
                  <a:pt x="10667" y="7619"/>
                </a:lnTo>
                <a:lnTo>
                  <a:pt x="12191" y="7619"/>
                </a:lnTo>
                <a:lnTo>
                  <a:pt x="12191" y="6095"/>
                </a:lnTo>
                <a:close/>
              </a:path>
              <a:path w="32385" h="22860">
                <a:moveTo>
                  <a:pt x="14630" y="3047"/>
                </a:moveTo>
                <a:lnTo>
                  <a:pt x="13715" y="3047"/>
                </a:lnTo>
                <a:lnTo>
                  <a:pt x="12191" y="4571"/>
                </a:lnTo>
                <a:lnTo>
                  <a:pt x="12191" y="7619"/>
                </a:lnTo>
                <a:lnTo>
                  <a:pt x="12953" y="7238"/>
                </a:lnTo>
                <a:lnTo>
                  <a:pt x="14630" y="3047"/>
                </a:lnTo>
                <a:close/>
              </a:path>
              <a:path w="32385" h="22860">
                <a:moveTo>
                  <a:pt x="19812" y="4571"/>
                </a:moveTo>
                <a:lnTo>
                  <a:pt x="18287" y="6603"/>
                </a:lnTo>
                <a:lnTo>
                  <a:pt x="18287" y="7619"/>
                </a:lnTo>
                <a:lnTo>
                  <a:pt x="19812" y="6095"/>
                </a:lnTo>
                <a:lnTo>
                  <a:pt x="19812" y="4571"/>
                </a:lnTo>
                <a:close/>
              </a:path>
              <a:path w="32385" h="22860">
                <a:moveTo>
                  <a:pt x="19812" y="4571"/>
                </a:moveTo>
                <a:lnTo>
                  <a:pt x="19812" y="6095"/>
                </a:lnTo>
                <a:lnTo>
                  <a:pt x="21335" y="7619"/>
                </a:lnTo>
                <a:lnTo>
                  <a:pt x="21336" y="6095"/>
                </a:lnTo>
                <a:lnTo>
                  <a:pt x="19812" y="4571"/>
                </a:lnTo>
                <a:close/>
              </a:path>
              <a:path w="32385" h="22860">
                <a:moveTo>
                  <a:pt x="15239" y="1523"/>
                </a:moveTo>
                <a:lnTo>
                  <a:pt x="12953" y="7238"/>
                </a:lnTo>
                <a:lnTo>
                  <a:pt x="13715" y="6857"/>
                </a:lnTo>
                <a:lnTo>
                  <a:pt x="13715" y="6095"/>
                </a:lnTo>
                <a:lnTo>
                  <a:pt x="15239" y="4571"/>
                </a:lnTo>
                <a:lnTo>
                  <a:pt x="15239" y="1523"/>
                </a:lnTo>
                <a:close/>
              </a:path>
              <a:path w="32385" h="22860">
                <a:moveTo>
                  <a:pt x="1524" y="3047"/>
                </a:moveTo>
                <a:lnTo>
                  <a:pt x="0" y="6095"/>
                </a:lnTo>
                <a:lnTo>
                  <a:pt x="2540" y="7111"/>
                </a:lnTo>
                <a:lnTo>
                  <a:pt x="1524" y="6095"/>
                </a:lnTo>
                <a:lnTo>
                  <a:pt x="1524" y="3047"/>
                </a:lnTo>
                <a:close/>
              </a:path>
              <a:path w="32385" h="22860">
                <a:moveTo>
                  <a:pt x="9143" y="6095"/>
                </a:moveTo>
                <a:lnTo>
                  <a:pt x="8381" y="6857"/>
                </a:lnTo>
                <a:lnTo>
                  <a:pt x="8635" y="7111"/>
                </a:lnTo>
                <a:lnTo>
                  <a:pt x="9143" y="6095"/>
                </a:lnTo>
                <a:close/>
              </a:path>
              <a:path w="32385" h="22860">
                <a:moveTo>
                  <a:pt x="14020" y="6705"/>
                </a:moveTo>
                <a:lnTo>
                  <a:pt x="13715" y="6857"/>
                </a:lnTo>
                <a:lnTo>
                  <a:pt x="13715" y="7111"/>
                </a:lnTo>
                <a:lnTo>
                  <a:pt x="14020" y="6705"/>
                </a:lnTo>
                <a:close/>
              </a:path>
              <a:path w="32385" h="22860">
                <a:moveTo>
                  <a:pt x="7619" y="5486"/>
                </a:moveTo>
                <a:lnTo>
                  <a:pt x="7619" y="6095"/>
                </a:lnTo>
                <a:lnTo>
                  <a:pt x="8381" y="6857"/>
                </a:lnTo>
                <a:lnTo>
                  <a:pt x="9143" y="6095"/>
                </a:lnTo>
                <a:lnTo>
                  <a:pt x="7619" y="5486"/>
                </a:lnTo>
                <a:close/>
              </a:path>
              <a:path w="32385" h="22860">
                <a:moveTo>
                  <a:pt x="15239" y="4571"/>
                </a:moveTo>
                <a:lnTo>
                  <a:pt x="13715" y="6095"/>
                </a:lnTo>
                <a:lnTo>
                  <a:pt x="13715" y="6857"/>
                </a:lnTo>
                <a:lnTo>
                  <a:pt x="14020" y="6705"/>
                </a:lnTo>
                <a:lnTo>
                  <a:pt x="15239" y="5079"/>
                </a:lnTo>
                <a:lnTo>
                  <a:pt x="15239" y="4571"/>
                </a:lnTo>
                <a:close/>
              </a:path>
              <a:path w="32385" h="22860">
                <a:moveTo>
                  <a:pt x="15239" y="5079"/>
                </a:moveTo>
                <a:lnTo>
                  <a:pt x="14020" y="6705"/>
                </a:lnTo>
                <a:lnTo>
                  <a:pt x="15239" y="6095"/>
                </a:lnTo>
                <a:lnTo>
                  <a:pt x="15239" y="5079"/>
                </a:lnTo>
                <a:close/>
              </a:path>
              <a:path w="32385" h="22860">
                <a:moveTo>
                  <a:pt x="18287" y="3047"/>
                </a:moveTo>
                <a:lnTo>
                  <a:pt x="16763" y="3047"/>
                </a:lnTo>
                <a:lnTo>
                  <a:pt x="18287" y="4571"/>
                </a:lnTo>
                <a:lnTo>
                  <a:pt x="18287" y="6603"/>
                </a:lnTo>
                <a:lnTo>
                  <a:pt x="19812" y="4571"/>
                </a:lnTo>
                <a:lnTo>
                  <a:pt x="18287" y="3047"/>
                </a:lnTo>
                <a:close/>
              </a:path>
              <a:path w="32385" h="22860">
                <a:moveTo>
                  <a:pt x="1524" y="3047"/>
                </a:moveTo>
                <a:lnTo>
                  <a:pt x="0" y="4571"/>
                </a:lnTo>
                <a:lnTo>
                  <a:pt x="0" y="6095"/>
                </a:lnTo>
                <a:lnTo>
                  <a:pt x="1524" y="3047"/>
                </a:lnTo>
                <a:close/>
              </a:path>
              <a:path w="32385" h="22860">
                <a:moveTo>
                  <a:pt x="7620" y="3809"/>
                </a:moveTo>
                <a:lnTo>
                  <a:pt x="7619" y="5486"/>
                </a:lnTo>
                <a:lnTo>
                  <a:pt x="9143" y="6095"/>
                </a:lnTo>
                <a:lnTo>
                  <a:pt x="9143" y="4571"/>
                </a:lnTo>
                <a:lnTo>
                  <a:pt x="7620" y="3809"/>
                </a:lnTo>
                <a:close/>
              </a:path>
              <a:path w="32385" h="22860">
                <a:moveTo>
                  <a:pt x="16763" y="3047"/>
                </a:moveTo>
                <a:lnTo>
                  <a:pt x="15239" y="5079"/>
                </a:lnTo>
                <a:lnTo>
                  <a:pt x="15239" y="6095"/>
                </a:lnTo>
                <a:lnTo>
                  <a:pt x="16763" y="3047"/>
                </a:lnTo>
                <a:close/>
              </a:path>
              <a:path w="32385" h="22860">
                <a:moveTo>
                  <a:pt x="16763" y="3047"/>
                </a:moveTo>
                <a:lnTo>
                  <a:pt x="16763" y="6095"/>
                </a:lnTo>
                <a:lnTo>
                  <a:pt x="18287" y="4571"/>
                </a:lnTo>
                <a:lnTo>
                  <a:pt x="16763" y="3047"/>
                </a:lnTo>
                <a:close/>
              </a:path>
              <a:path w="32385" h="22860">
                <a:moveTo>
                  <a:pt x="6095" y="3047"/>
                </a:moveTo>
                <a:lnTo>
                  <a:pt x="6095" y="4876"/>
                </a:lnTo>
                <a:lnTo>
                  <a:pt x="7619" y="5486"/>
                </a:lnTo>
                <a:lnTo>
                  <a:pt x="7619" y="3809"/>
                </a:lnTo>
                <a:lnTo>
                  <a:pt x="6095" y="3047"/>
                </a:lnTo>
                <a:close/>
              </a:path>
              <a:path w="32385" h="22860">
                <a:moveTo>
                  <a:pt x="15239" y="1523"/>
                </a:moveTo>
                <a:lnTo>
                  <a:pt x="15239" y="5079"/>
                </a:lnTo>
                <a:lnTo>
                  <a:pt x="16763" y="3047"/>
                </a:lnTo>
                <a:lnTo>
                  <a:pt x="15239" y="1523"/>
                </a:lnTo>
                <a:close/>
              </a:path>
              <a:path w="32385" h="22860">
                <a:moveTo>
                  <a:pt x="6095" y="0"/>
                </a:moveTo>
                <a:lnTo>
                  <a:pt x="4571" y="1523"/>
                </a:lnTo>
                <a:lnTo>
                  <a:pt x="4571" y="4267"/>
                </a:lnTo>
                <a:lnTo>
                  <a:pt x="6095" y="4876"/>
                </a:lnTo>
                <a:lnTo>
                  <a:pt x="6095" y="0"/>
                </a:lnTo>
                <a:close/>
              </a:path>
              <a:path w="32385" h="22860">
                <a:moveTo>
                  <a:pt x="8381" y="761"/>
                </a:moveTo>
                <a:lnTo>
                  <a:pt x="7619" y="1523"/>
                </a:lnTo>
                <a:lnTo>
                  <a:pt x="7620" y="3809"/>
                </a:lnTo>
                <a:lnTo>
                  <a:pt x="9143" y="4571"/>
                </a:lnTo>
                <a:lnTo>
                  <a:pt x="9143" y="1523"/>
                </a:lnTo>
                <a:lnTo>
                  <a:pt x="8381" y="761"/>
                </a:lnTo>
                <a:close/>
              </a:path>
              <a:path w="32385" h="22860">
                <a:moveTo>
                  <a:pt x="12191" y="0"/>
                </a:moveTo>
                <a:lnTo>
                  <a:pt x="11756" y="1088"/>
                </a:lnTo>
                <a:lnTo>
                  <a:pt x="12191" y="1523"/>
                </a:lnTo>
                <a:lnTo>
                  <a:pt x="12191" y="4571"/>
                </a:lnTo>
                <a:lnTo>
                  <a:pt x="13715" y="3047"/>
                </a:lnTo>
                <a:lnTo>
                  <a:pt x="14630" y="3047"/>
                </a:lnTo>
                <a:lnTo>
                  <a:pt x="15239" y="1523"/>
                </a:lnTo>
                <a:lnTo>
                  <a:pt x="12191" y="0"/>
                </a:lnTo>
                <a:close/>
              </a:path>
              <a:path w="32385" h="22860">
                <a:moveTo>
                  <a:pt x="4571" y="0"/>
                </a:moveTo>
                <a:lnTo>
                  <a:pt x="3048" y="1523"/>
                </a:lnTo>
                <a:lnTo>
                  <a:pt x="3048" y="3657"/>
                </a:lnTo>
                <a:lnTo>
                  <a:pt x="4571" y="4267"/>
                </a:lnTo>
                <a:lnTo>
                  <a:pt x="4571" y="0"/>
                </a:lnTo>
                <a:close/>
              </a:path>
              <a:path w="32385" h="22860">
                <a:moveTo>
                  <a:pt x="7619" y="0"/>
                </a:moveTo>
                <a:lnTo>
                  <a:pt x="6095" y="0"/>
                </a:lnTo>
                <a:lnTo>
                  <a:pt x="6095" y="3047"/>
                </a:lnTo>
                <a:lnTo>
                  <a:pt x="7620" y="3809"/>
                </a:lnTo>
                <a:lnTo>
                  <a:pt x="7619" y="1523"/>
                </a:lnTo>
                <a:lnTo>
                  <a:pt x="8381" y="761"/>
                </a:lnTo>
                <a:lnTo>
                  <a:pt x="7619" y="0"/>
                </a:lnTo>
                <a:close/>
              </a:path>
              <a:path w="32385" h="22860">
                <a:moveTo>
                  <a:pt x="10667" y="0"/>
                </a:moveTo>
                <a:lnTo>
                  <a:pt x="10667" y="3809"/>
                </a:lnTo>
                <a:lnTo>
                  <a:pt x="11756" y="1088"/>
                </a:lnTo>
                <a:lnTo>
                  <a:pt x="10667" y="0"/>
                </a:lnTo>
                <a:close/>
              </a:path>
              <a:path w="32385" h="22860">
                <a:moveTo>
                  <a:pt x="4571" y="0"/>
                </a:moveTo>
                <a:lnTo>
                  <a:pt x="3048" y="0"/>
                </a:lnTo>
                <a:lnTo>
                  <a:pt x="1524" y="1523"/>
                </a:lnTo>
                <a:lnTo>
                  <a:pt x="1524" y="3047"/>
                </a:lnTo>
                <a:lnTo>
                  <a:pt x="3048" y="3657"/>
                </a:lnTo>
                <a:lnTo>
                  <a:pt x="3048" y="1523"/>
                </a:lnTo>
                <a:lnTo>
                  <a:pt x="4571" y="0"/>
                </a:lnTo>
                <a:close/>
              </a:path>
              <a:path w="32385" h="22860">
                <a:moveTo>
                  <a:pt x="9143" y="0"/>
                </a:moveTo>
                <a:lnTo>
                  <a:pt x="9143" y="3047"/>
                </a:lnTo>
                <a:lnTo>
                  <a:pt x="10667" y="1523"/>
                </a:lnTo>
                <a:lnTo>
                  <a:pt x="9143" y="0"/>
                </a:lnTo>
                <a:close/>
              </a:path>
              <a:path w="32385" h="22860">
                <a:moveTo>
                  <a:pt x="6095" y="0"/>
                </a:moveTo>
                <a:lnTo>
                  <a:pt x="4571" y="0"/>
                </a:lnTo>
                <a:lnTo>
                  <a:pt x="4571" y="1523"/>
                </a:lnTo>
                <a:lnTo>
                  <a:pt x="6095" y="0"/>
                </a:lnTo>
                <a:close/>
              </a:path>
              <a:path w="32385" h="22860">
                <a:moveTo>
                  <a:pt x="9143" y="0"/>
                </a:moveTo>
                <a:lnTo>
                  <a:pt x="8381" y="761"/>
                </a:lnTo>
                <a:lnTo>
                  <a:pt x="9143" y="1523"/>
                </a:lnTo>
                <a:lnTo>
                  <a:pt x="9143" y="0"/>
                </a:lnTo>
                <a:close/>
              </a:path>
              <a:path w="32385" h="22860">
                <a:moveTo>
                  <a:pt x="10667" y="0"/>
                </a:moveTo>
                <a:lnTo>
                  <a:pt x="9143" y="0"/>
                </a:lnTo>
                <a:lnTo>
                  <a:pt x="10667" y="1523"/>
                </a:lnTo>
                <a:lnTo>
                  <a:pt x="10667" y="0"/>
                </a:lnTo>
                <a:close/>
              </a:path>
              <a:path w="32385" h="22860">
                <a:moveTo>
                  <a:pt x="12191" y="0"/>
                </a:moveTo>
                <a:lnTo>
                  <a:pt x="10667" y="0"/>
                </a:lnTo>
                <a:lnTo>
                  <a:pt x="11756" y="1088"/>
                </a:lnTo>
                <a:lnTo>
                  <a:pt x="12191" y="0"/>
                </a:lnTo>
                <a:close/>
              </a:path>
              <a:path w="32385" h="22860">
                <a:moveTo>
                  <a:pt x="9143" y="0"/>
                </a:moveTo>
                <a:lnTo>
                  <a:pt x="7619" y="0"/>
                </a:lnTo>
                <a:lnTo>
                  <a:pt x="8381" y="761"/>
                </a:lnTo>
                <a:lnTo>
                  <a:pt x="91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2002</Words>
  <Application>WPS Presentation</Application>
  <PresentationFormat>Custom</PresentationFormat>
  <Paragraphs>60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Another type of sychronization</vt:lpstr>
      <vt:lpstr>Condition Variables</vt:lpstr>
      <vt:lpstr>Example: parent waits for child</vt:lpstr>
      <vt:lpstr>Why check condition in while loop?</vt:lpstr>
      <vt:lpstr>Why use lock when calling wait?</vt:lpstr>
      <vt:lpstr>Example: Producer/Consumer problem</vt:lpstr>
      <vt:lpstr>Producer/Consumer with 2 CVs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lingam</dc:creator>
  <cp:lastModifiedBy>DELL</cp:lastModifiedBy>
  <cp:revision>7</cp:revision>
  <dcterms:created xsi:type="dcterms:W3CDTF">2019-02-24T13:22:00Z</dcterms:created>
  <dcterms:modified xsi:type="dcterms:W3CDTF">2023-06-19T00:29:28Z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2018-04-10T05:30:00Z</vt:filetime>
  </property>
  <property fmtid="{D5CDD505-2E9C-101B-9397-08002B2CF9AE}" pid="3" name="Creator">
    <vt:lpwstr>Nitro Pro 7  (7. 4. 1. 4)</vt:lpwstr>
  </property>
  <property fmtid="{D5CDD505-2E9C-101B-9397-08002B2CF9AE}" pid="4" name="LastSaved">
    <vt:filetime>2019-02-24T05:30:00Z</vt:filetime>
  </property>
  <property fmtid="{D5CDD505-2E9C-101B-9397-08002B2CF9AE}" pid="5" name="ICV">
    <vt:lpwstr>32E94D2A14AA4EBF89843AC60BE94A5B</vt:lpwstr>
  </property>
  <property fmtid="{D5CDD505-2E9C-101B-9397-08002B2CF9AE}" pid="6" name="KSOProductBuildVer">
    <vt:lpwstr>1033-11.2.0.11537</vt:lpwstr>
  </property>
</Properties>
</file>